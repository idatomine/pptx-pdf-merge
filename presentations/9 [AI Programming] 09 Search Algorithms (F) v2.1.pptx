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6" r:id="rId1"/>
  </p:sldMasterIdLst>
  <p:notesMasterIdLst>
    <p:notesMasterId r:id="rId49"/>
  </p:notesMasterIdLst>
  <p:handoutMasterIdLst>
    <p:handoutMasterId r:id="rId50"/>
  </p:handoutMasterIdLst>
  <p:sldIdLst>
    <p:sldId id="256" r:id="rId2"/>
    <p:sldId id="499" r:id="rId3"/>
    <p:sldId id="784" r:id="rId4"/>
    <p:sldId id="786" r:id="rId5"/>
    <p:sldId id="731" r:id="rId6"/>
    <p:sldId id="789" r:id="rId7"/>
    <p:sldId id="732" r:id="rId8"/>
    <p:sldId id="799" r:id="rId9"/>
    <p:sldId id="790" r:id="rId10"/>
    <p:sldId id="733" r:id="rId11"/>
    <p:sldId id="734" r:id="rId12"/>
    <p:sldId id="735" r:id="rId13"/>
    <p:sldId id="788" r:id="rId14"/>
    <p:sldId id="736" r:id="rId15"/>
    <p:sldId id="737" r:id="rId16"/>
    <p:sldId id="798" r:id="rId17"/>
    <p:sldId id="738" r:id="rId18"/>
    <p:sldId id="741" r:id="rId19"/>
    <p:sldId id="785" r:id="rId20"/>
    <p:sldId id="739" r:id="rId21"/>
    <p:sldId id="740" r:id="rId22"/>
    <p:sldId id="742" r:id="rId23"/>
    <p:sldId id="751" r:id="rId24"/>
    <p:sldId id="743" r:id="rId25"/>
    <p:sldId id="783" r:id="rId26"/>
    <p:sldId id="744" r:id="rId27"/>
    <p:sldId id="745" r:id="rId28"/>
    <p:sldId id="746" r:id="rId29"/>
    <p:sldId id="748" r:id="rId30"/>
    <p:sldId id="749" r:id="rId31"/>
    <p:sldId id="797" r:id="rId32"/>
    <p:sldId id="791" r:id="rId33"/>
    <p:sldId id="792" r:id="rId34"/>
    <p:sldId id="793" r:id="rId35"/>
    <p:sldId id="794" r:id="rId36"/>
    <p:sldId id="795" r:id="rId37"/>
    <p:sldId id="796" r:id="rId38"/>
    <p:sldId id="770" r:id="rId39"/>
    <p:sldId id="787" r:id="rId40"/>
    <p:sldId id="773" r:id="rId41"/>
    <p:sldId id="774" r:id="rId42"/>
    <p:sldId id="777" r:id="rId43"/>
    <p:sldId id="780" r:id="rId44"/>
    <p:sldId id="781" r:id="rId45"/>
    <p:sldId id="782" r:id="rId46"/>
    <p:sldId id="778" r:id="rId47"/>
    <p:sldId id="779" r:id="rId48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  <a:srgbClr val="800080"/>
    <a:srgbClr val="99CCFF"/>
    <a:srgbClr val="D7ADD9"/>
    <a:srgbClr val="990033"/>
    <a:srgbClr val="A50021"/>
    <a:srgbClr val="FFC000"/>
    <a:srgbClr val="7882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0DF289-EEE6-413D-837F-58419E8E7D4C}" v="300" dt="2025-11-24T05:33:56.42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86" autoAdjust="0"/>
    <p:restoredTop sz="94672" autoAdjust="0"/>
  </p:normalViewPr>
  <p:slideViewPr>
    <p:cSldViewPr>
      <p:cViewPr varScale="1">
        <p:scale>
          <a:sx n="97" d="100"/>
          <a:sy n="97" d="100"/>
        </p:scale>
        <p:origin x="68" y="6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20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handoutMaster" Target="handoutMasters/handoutMaster1.xml"/><Relationship Id="rId55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an Pratama" userId="ba5a381f79e67128" providerId="LiveId" clId="{1B3D42E5-558C-46C9-A1CA-A9EF05FAD6B9}"/>
    <pc:docChg chg="undo redo custSel modSld sldOrd">
      <pc:chgData name="Rian Pratama" userId="ba5a381f79e67128" providerId="LiveId" clId="{1B3D42E5-558C-46C9-A1CA-A9EF05FAD6B9}" dt="2025-11-24T05:35:13.676" v="1387" actId="20578"/>
      <pc:docMkLst>
        <pc:docMk/>
      </pc:docMkLst>
      <pc:sldChg chg="delSp modSp mod">
        <pc:chgData name="Rian Pratama" userId="ba5a381f79e67128" providerId="LiveId" clId="{1B3D42E5-558C-46C9-A1CA-A9EF05FAD6B9}" dt="2025-11-21T05:41:28.064" v="5" actId="20577"/>
        <pc:sldMkLst>
          <pc:docMk/>
          <pc:sldMk cId="0" sldId="499"/>
        </pc:sldMkLst>
        <pc:spChg chg="mod">
          <ac:chgData name="Rian Pratama" userId="ba5a381f79e67128" providerId="LiveId" clId="{1B3D42E5-558C-46C9-A1CA-A9EF05FAD6B9}" dt="2025-11-21T05:41:28.064" v="5" actId="20577"/>
          <ac:spMkLst>
            <pc:docMk/>
            <pc:sldMk cId="0" sldId="499"/>
            <ac:spMk id="7170" creationId="{9BE6BF8B-87EB-2751-FC5F-9F7E59FA4A23}"/>
          </ac:spMkLst>
        </pc:spChg>
      </pc:sldChg>
      <pc:sldChg chg="modSp">
        <pc:chgData name="Rian Pratama" userId="ba5a381f79e67128" providerId="LiveId" clId="{1B3D42E5-558C-46C9-A1CA-A9EF05FAD6B9}" dt="2025-11-21T08:10:42.924" v="10" actId="6549"/>
        <pc:sldMkLst>
          <pc:docMk/>
          <pc:sldMk cId="0" sldId="731"/>
        </pc:sldMkLst>
        <pc:spChg chg="mod">
          <ac:chgData name="Rian Pratama" userId="ba5a381f79e67128" providerId="LiveId" clId="{1B3D42E5-558C-46C9-A1CA-A9EF05FAD6B9}" dt="2025-11-21T08:10:42.924" v="10" actId="6549"/>
          <ac:spMkLst>
            <pc:docMk/>
            <pc:sldMk cId="0" sldId="731"/>
            <ac:spMk id="29698" creationId="{C89E331A-49CE-4B03-8EE4-E67BBC4F41FE}"/>
          </ac:spMkLst>
        </pc:spChg>
      </pc:sldChg>
      <pc:sldChg chg="modSp">
        <pc:chgData name="Rian Pratama" userId="ba5a381f79e67128" providerId="LiveId" clId="{1B3D42E5-558C-46C9-A1CA-A9EF05FAD6B9}" dt="2025-11-24T01:20:57.304" v="54" actId="1076"/>
        <pc:sldMkLst>
          <pc:docMk/>
          <pc:sldMk cId="0" sldId="732"/>
        </pc:sldMkLst>
        <pc:spChg chg="mod">
          <ac:chgData name="Rian Pratama" userId="ba5a381f79e67128" providerId="LiveId" clId="{1B3D42E5-558C-46C9-A1CA-A9EF05FAD6B9}" dt="2025-11-24T01:20:57.304" v="54" actId="1076"/>
          <ac:spMkLst>
            <pc:docMk/>
            <pc:sldMk cId="0" sldId="732"/>
            <ac:spMk id="11" creationId="{87C4D112-D3F1-499D-ADE7-AB6175F42532}"/>
          </ac:spMkLst>
        </pc:spChg>
        <pc:spChg chg="mod">
          <ac:chgData name="Rian Pratama" userId="ba5a381f79e67128" providerId="LiveId" clId="{1B3D42E5-558C-46C9-A1CA-A9EF05FAD6B9}" dt="2025-11-24T01:20:57.304" v="54" actId="1076"/>
          <ac:spMkLst>
            <pc:docMk/>
            <pc:sldMk cId="0" sldId="732"/>
            <ac:spMk id="13" creationId="{B2CD133B-4B4B-4B2C-B76B-564ADADCF7B9}"/>
          </ac:spMkLst>
        </pc:spChg>
        <pc:spChg chg="mod">
          <ac:chgData name="Rian Pratama" userId="ba5a381f79e67128" providerId="LiveId" clId="{1B3D42E5-558C-46C9-A1CA-A9EF05FAD6B9}" dt="2025-11-24T01:20:57.304" v="54" actId="1076"/>
          <ac:spMkLst>
            <pc:docMk/>
            <pc:sldMk cId="0" sldId="732"/>
            <ac:spMk id="14" creationId="{3671062F-E16A-4E2A-8E10-68D1EBDABA5D}"/>
          </ac:spMkLst>
        </pc:spChg>
        <pc:spChg chg="mod">
          <ac:chgData name="Rian Pratama" userId="ba5a381f79e67128" providerId="LiveId" clId="{1B3D42E5-558C-46C9-A1CA-A9EF05FAD6B9}" dt="2025-11-24T01:20:57.304" v="54" actId="1076"/>
          <ac:spMkLst>
            <pc:docMk/>
            <pc:sldMk cId="0" sldId="732"/>
            <ac:spMk id="15" creationId="{F604775A-323B-4AAB-B86C-96B92F127A54}"/>
          </ac:spMkLst>
        </pc:spChg>
        <pc:spChg chg="mod">
          <ac:chgData name="Rian Pratama" userId="ba5a381f79e67128" providerId="LiveId" clId="{1B3D42E5-558C-46C9-A1CA-A9EF05FAD6B9}" dt="2025-11-24T01:20:57.304" v="54" actId="1076"/>
          <ac:spMkLst>
            <pc:docMk/>
            <pc:sldMk cId="0" sldId="732"/>
            <ac:spMk id="17" creationId="{16C726BA-94AF-4EEE-A698-7ABA2B1CA418}"/>
          </ac:spMkLst>
        </pc:spChg>
        <pc:spChg chg="mod">
          <ac:chgData name="Rian Pratama" userId="ba5a381f79e67128" providerId="LiveId" clId="{1B3D42E5-558C-46C9-A1CA-A9EF05FAD6B9}" dt="2025-11-24T01:20:57.304" v="54" actId="1076"/>
          <ac:spMkLst>
            <pc:docMk/>
            <pc:sldMk cId="0" sldId="732"/>
            <ac:spMk id="19" creationId="{3017274F-C9D8-4969-B2EA-7CB0F74787B7}"/>
          </ac:spMkLst>
        </pc:spChg>
        <pc:spChg chg="mod">
          <ac:chgData name="Rian Pratama" userId="ba5a381f79e67128" providerId="LiveId" clId="{1B3D42E5-558C-46C9-A1CA-A9EF05FAD6B9}" dt="2025-11-24T01:20:57.304" v="54" actId="1076"/>
          <ac:spMkLst>
            <pc:docMk/>
            <pc:sldMk cId="0" sldId="732"/>
            <ac:spMk id="20" creationId="{B3754FF0-12DD-4BC8-97C8-6785BF4AC70F}"/>
          </ac:spMkLst>
        </pc:spChg>
        <pc:spChg chg="mod">
          <ac:chgData name="Rian Pratama" userId="ba5a381f79e67128" providerId="LiveId" clId="{1B3D42E5-558C-46C9-A1CA-A9EF05FAD6B9}" dt="2025-11-24T01:20:49.650" v="53" actId="1076"/>
          <ac:spMkLst>
            <pc:docMk/>
            <pc:sldMk cId="0" sldId="732"/>
            <ac:spMk id="22" creationId="{B9B9F21D-8BA8-4D5D-BB0B-A47EE9259513}"/>
          </ac:spMkLst>
        </pc:spChg>
        <pc:spChg chg="mod">
          <ac:chgData name="Rian Pratama" userId="ba5a381f79e67128" providerId="LiveId" clId="{1B3D42E5-558C-46C9-A1CA-A9EF05FAD6B9}" dt="2025-11-24T01:20:57.304" v="54" actId="1076"/>
          <ac:spMkLst>
            <pc:docMk/>
            <pc:sldMk cId="0" sldId="732"/>
            <ac:spMk id="23" creationId="{D28AEEC4-D133-4195-9EC6-BAA17E0171F8}"/>
          </ac:spMkLst>
        </pc:spChg>
        <pc:spChg chg="mod">
          <ac:chgData name="Rian Pratama" userId="ba5a381f79e67128" providerId="LiveId" clId="{1B3D42E5-558C-46C9-A1CA-A9EF05FAD6B9}" dt="2025-11-24T01:20:57.304" v="54" actId="1076"/>
          <ac:spMkLst>
            <pc:docMk/>
            <pc:sldMk cId="0" sldId="732"/>
            <ac:spMk id="24" creationId="{FC3ABAA1-C88B-4D07-B55F-F5D614D8325A}"/>
          </ac:spMkLst>
        </pc:spChg>
        <pc:spChg chg="mod">
          <ac:chgData name="Rian Pratama" userId="ba5a381f79e67128" providerId="LiveId" clId="{1B3D42E5-558C-46C9-A1CA-A9EF05FAD6B9}" dt="2025-11-24T01:20:57.304" v="54" actId="1076"/>
          <ac:spMkLst>
            <pc:docMk/>
            <pc:sldMk cId="0" sldId="732"/>
            <ac:spMk id="25" creationId="{89AAA48B-EE97-47CB-A24F-AC17B700D29C}"/>
          </ac:spMkLst>
        </pc:spChg>
        <pc:spChg chg="mod">
          <ac:chgData name="Rian Pratama" userId="ba5a381f79e67128" providerId="LiveId" clId="{1B3D42E5-558C-46C9-A1CA-A9EF05FAD6B9}" dt="2025-11-24T01:20:41.745" v="51" actId="404"/>
          <ac:spMkLst>
            <pc:docMk/>
            <pc:sldMk cId="0" sldId="732"/>
            <ac:spMk id="30722" creationId="{C6AC0736-5E06-43EB-8226-F64DF141FB37}"/>
          </ac:spMkLst>
        </pc:spChg>
      </pc:sldChg>
      <pc:sldChg chg="modSp mod">
        <pc:chgData name="Rian Pratama" userId="ba5a381f79e67128" providerId="LiveId" clId="{1B3D42E5-558C-46C9-A1CA-A9EF05FAD6B9}" dt="2025-11-24T01:25:22.365" v="103" actId="115"/>
        <pc:sldMkLst>
          <pc:docMk/>
          <pc:sldMk cId="0" sldId="733"/>
        </pc:sldMkLst>
        <pc:spChg chg="mod">
          <ac:chgData name="Rian Pratama" userId="ba5a381f79e67128" providerId="LiveId" clId="{1B3D42E5-558C-46C9-A1CA-A9EF05FAD6B9}" dt="2025-11-24T01:24:51.807" v="100" actId="113"/>
          <ac:spMkLst>
            <pc:docMk/>
            <pc:sldMk cId="0" sldId="733"/>
            <ac:spMk id="3" creationId="{76E3AAEC-0E91-4D36-8411-76EC62DF3B53}"/>
          </ac:spMkLst>
        </pc:spChg>
        <pc:spChg chg="mod">
          <ac:chgData name="Rian Pratama" userId="ba5a381f79e67128" providerId="LiveId" clId="{1B3D42E5-558C-46C9-A1CA-A9EF05FAD6B9}" dt="2025-11-24T01:25:22.365" v="103" actId="115"/>
          <ac:spMkLst>
            <pc:docMk/>
            <pc:sldMk cId="0" sldId="733"/>
            <ac:spMk id="14" creationId="{C53BEB22-C1DB-4743-8385-7D7224A4062F}"/>
          </ac:spMkLst>
        </pc:spChg>
      </pc:sldChg>
      <pc:sldChg chg="modSp mod">
        <pc:chgData name="Rian Pratama" userId="ba5a381f79e67128" providerId="LiveId" clId="{1B3D42E5-558C-46C9-A1CA-A9EF05FAD6B9}" dt="2025-11-24T01:32:32.891" v="202" actId="1076"/>
        <pc:sldMkLst>
          <pc:docMk/>
          <pc:sldMk cId="0" sldId="734"/>
        </pc:sldMkLst>
        <pc:spChg chg="mod">
          <ac:chgData name="Rian Pratama" userId="ba5a381f79e67128" providerId="LiveId" clId="{1B3D42E5-558C-46C9-A1CA-A9EF05FAD6B9}" dt="2025-11-24T01:27:16.579" v="106"/>
          <ac:spMkLst>
            <pc:docMk/>
            <pc:sldMk cId="0" sldId="734"/>
            <ac:spMk id="6" creationId="{9CA99421-1491-44F7-8B0D-8641D319F23E}"/>
          </ac:spMkLst>
        </pc:spChg>
        <pc:spChg chg="mod">
          <ac:chgData name="Rian Pratama" userId="ba5a381f79e67128" providerId="LiveId" clId="{1B3D42E5-558C-46C9-A1CA-A9EF05FAD6B9}" dt="2025-11-24T01:32:14.668" v="201" actId="20577"/>
          <ac:spMkLst>
            <pc:docMk/>
            <pc:sldMk cId="0" sldId="734"/>
            <ac:spMk id="7" creationId="{1069141B-5C82-4E39-964A-B03F57D3FF15}"/>
          </ac:spMkLst>
        </pc:spChg>
        <pc:spChg chg="mod">
          <ac:chgData name="Rian Pratama" userId="ba5a381f79e67128" providerId="LiveId" clId="{1B3D42E5-558C-46C9-A1CA-A9EF05FAD6B9}" dt="2025-11-24T01:29:24.187" v="118"/>
          <ac:spMkLst>
            <pc:docMk/>
            <pc:sldMk cId="0" sldId="734"/>
            <ac:spMk id="8" creationId="{5A507EDB-B0D3-427A-AC85-27959E1E0639}"/>
          </ac:spMkLst>
        </pc:spChg>
        <pc:spChg chg="mod">
          <ac:chgData name="Rian Pratama" userId="ba5a381f79e67128" providerId="LiveId" clId="{1B3D42E5-558C-46C9-A1CA-A9EF05FAD6B9}" dt="2025-11-24T01:32:32.891" v="202" actId="1076"/>
          <ac:spMkLst>
            <pc:docMk/>
            <pc:sldMk cId="0" sldId="734"/>
            <ac:spMk id="9" creationId="{E93AF546-4C01-42F3-B855-1EC7D3D51C27}"/>
          </ac:spMkLst>
        </pc:spChg>
        <pc:spChg chg="mod">
          <ac:chgData name="Rian Pratama" userId="ba5a381f79e67128" providerId="LiveId" clId="{1B3D42E5-558C-46C9-A1CA-A9EF05FAD6B9}" dt="2025-11-24T01:27:52.531" v="109" actId="20577"/>
          <ac:spMkLst>
            <pc:docMk/>
            <pc:sldMk cId="0" sldId="734"/>
            <ac:spMk id="10" creationId="{F3BA03E2-AA09-422C-9C5B-2074EDBD50BD}"/>
          </ac:spMkLst>
        </pc:spChg>
        <pc:spChg chg="mod">
          <ac:chgData name="Rian Pratama" userId="ba5a381f79e67128" providerId="LiveId" clId="{1B3D42E5-558C-46C9-A1CA-A9EF05FAD6B9}" dt="2025-11-24T01:29:42.539" v="121"/>
          <ac:spMkLst>
            <pc:docMk/>
            <pc:sldMk cId="0" sldId="734"/>
            <ac:spMk id="11" creationId="{82568A85-5854-4DA0-BAE4-32DAC0BB2A1C}"/>
          </ac:spMkLst>
        </pc:spChg>
        <pc:spChg chg="mod">
          <ac:chgData name="Rian Pratama" userId="ba5a381f79e67128" providerId="LiveId" clId="{1B3D42E5-558C-46C9-A1CA-A9EF05FAD6B9}" dt="2025-11-24T01:31:16.131" v="164" actId="404"/>
          <ac:spMkLst>
            <pc:docMk/>
            <pc:sldMk cId="0" sldId="734"/>
            <ac:spMk id="13" creationId="{1E4C4300-F5E1-43C4-86BB-4D955EF06FA7}"/>
          </ac:spMkLst>
        </pc:spChg>
        <pc:spChg chg="mod">
          <ac:chgData name="Rian Pratama" userId="ba5a381f79e67128" providerId="LiveId" clId="{1B3D42E5-558C-46C9-A1CA-A9EF05FAD6B9}" dt="2025-11-24T01:29:48.575" v="122" actId="20577"/>
          <ac:spMkLst>
            <pc:docMk/>
            <pc:sldMk cId="0" sldId="734"/>
            <ac:spMk id="14" creationId="{B86A960B-FA63-4A0C-A893-FCEC3706CFF8}"/>
          </ac:spMkLst>
        </pc:spChg>
      </pc:sldChg>
      <pc:sldChg chg="modSp mod modAnim">
        <pc:chgData name="Rian Pratama" userId="ba5a381f79e67128" providerId="LiveId" clId="{1B3D42E5-558C-46C9-A1CA-A9EF05FAD6B9}" dt="2025-11-24T01:34:09.161" v="227"/>
        <pc:sldMkLst>
          <pc:docMk/>
          <pc:sldMk cId="0" sldId="735"/>
        </pc:sldMkLst>
        <pc:spChg chg="mod">
          <ac:chgData name="Rian Pratama" userId="ba5a381f79e67128" providerId="LiveId" clId="{1B3D42E5-558C-46C9-A1CA-A9EF05FAD6B9}" dt="2025-11-24T01:33:53.326" v="225" actId="14100"/>
          <ac:spMkLst>
            <pc:docMk/>
            <pc:sldMk cId="0" sldId="735"/>
            <ac:spMk id="3" creationId="{CC8A987B-7A4B-EB6E-4954-91B200EFDD83}"/>
          </ac:spMkLst>
        </pc:spChg>
        <pc:spChg chg="mod">
          <ac:chgData name="Rian Pratama" userId="ba5a381f79e67128" providerId="LiveId" clId="{1B3D42E5-558C-46C9-A1CA-A9EF05FAD6B9}" dt="2025-11-24T01:34:09.161" v="227"/>
          <ac:spMkLst>
            <pc:docMk/>
            <pc:sldMk cId="0" sldId="735"/>
            <ac:spMk id="33794" creationId="{035F59CF-0CEF-4874-9F99-C12D32405017}"/>
          </ac:spMkLst>
        </pc:spChg>
      </pc:sldChg>
      <pc:sldChg chg="addSp modSp modAnim">
        <pc:chgData name="Rian Pratama" userId="ba5a381f79e67128" providerId="LiveId" clId="{1B3D42E5-558C-46C9-A1CA-A9EF05FAD6B9}" dt="2025-11-24T01:40:20.036" v="304" actId="404"/>
        <pc:sldMkLst>
          <pc:docMk/>
          <pc:sldMk cId="0" sldId="736"/>
        </pc:sldMkLst>
        <pc:spChg chg="add">
          <ac:chgData name="Rian Pratama" userId="ba5a381f79e67128" providerId="LiveId" clId="{1B3D42E5-558C-46C9-A1CA-A9EF05FAD6B9}" dt="2025-11-24T01:38:26.151" v="239"/>
          <ac:spMkLst>
            <pc:docMk/>
            <pc:sldMk cId="0" sldId="736"/>
            <ac:spMk id="2" creationId="{EA2F7D37-0BA4-0A52-F6C2-04ED50086662}"/>
          </ac:spMkLst>
        </pc:spChg>
        <pc:spChg chg="mod">
          <ac:chgData name="Rian Pratama" userId="ba5a381f79e67128" providerId="LiveId" clId="{1B3D42E5-558C-46C9-A1CA-A9EF05FAD6B9}" dt="2025-11-24T01:40:20.036" v="304" actId="404"/>
          <ac:spMkLst>
            <pc:docMk/>
            <pc:sldMk cId="0" sldId="736"/>
            <ac:spMk id="34818" creationId="{CC451C03-5FB5-4355-BF3D-8999003B75CD}"/>
          </ac:spMkLst>
        </pc:spChg>
      </pc:sldChg>
      <pc:sldChg chg="addSp modSp mod">
        <pc:chgData name="Rian Pratama" userId="ba5a381f79e67128" providerId="LiveId" clId="{1B3D42E5-558C-46C9-A1CA-A9EF05FAD6B9}" dt="2025-11-24T01:53:42.687" v="733" actId="1076"/>
        <pc:sldMkLst>
          <pc:docMk/>
          <pc:sldMk cId="0" sldId="737"/>
        </pc:sldMkLst>
        <pc:spChg chg="mod">
          <ac:chgData name="Rian Pratama" userId="ba5a381f79e67128" providerId="LiveId" clId="{1B3D42E5-558C-46C9-A1CA-A9EF05FAD6B9}" dt="2025-11-24T01:52:25.528" v="697" actId="1076"/>
          <ac:spMkLst>
            <pc:docMk/>
            <pc:sldMk cId="0" sldId="737"/>
            <ac:spMk id="4" creationId="{4F94BD87-0383-2F3E-93AB-E3CB446FE1F0}"/>
          </ac:spMkLst>
        </pc:spChg>
        <pc:spChg chg="add">
          <ac:chgData name="Rian Pratama" userId="ba5a381f79e67128" providerId="LiveId" clId="{1B3D42E5-558C-46C9-A1CA-A9EF05FAD6B9}" dt="2025-11-24T01:51:55.804" v="692"/>
          <ac:spMkLst>
            <pc:docMk/>
            <pc:sldMk cId="0" sldId="737"/>
            <ac:spMk id="6" creationId="{711A2F0D-2897-2DB0-CC94-4D7F929DEEE2}"/>
          </ac:spMkLst>
        </pc:spChg>
        <pc:spChg chg="mod">
          <ac:chgData name="Rian Pratama" userId="ba5a381f79e67128" providerId="LiveId" clId="{1B3D42E5-558C-46C9-A1CA-A9EF05FAD6B9}" dt="2025-11-24T01:53:40.452" v="731" actId="6549"/>
          <ac:spMkLst>
            <pc:docMk/>
            <pc:sldMk cId="0" sldId="737"/>
            <ac:spMk id="13" creationId="{69C5AD64-6F76-459F-B48E-0633D1B5701B}"/>
          </ac:spMkLst>
        </pc:spChg>
        <pc:spChg chg="mod">
          <ac:chgData name="Rian Pratama" userId="ba5a381f79e67128" providerId="LiveId" clId="{1B3D42E5-558C-46C9-A1CA-A9EF05FAD6B9}" dt="2025-11-24T01:53:29.550" v="730" actId="20577"/>
          <ac:spMkLst>
            <pc:docMk/>
            <pc:sldMk cId="0" sldId="737"/>
            <ac:spMk id="20" creationId="{04F83FD8-7475-481F-BD94-39CB31A5CD51}"/>
          </ac:spMkLst>
        </pc:spChg>
        <pc:spChg chg="mod">
          <ac:chgData name="Rian Pratama" userId="ba5a381f79e67128" providerId="LiveId" clId="{1B3D42E5-558C-46C9-A1CA-A9EF05FAD6B9}" dt="2025-11-24T01:52:22.243" v="696" actId="404"/>
          <ac:spMkLst>
            <pc:docMk/>
            <pc:sldMk cId="0" sldId="737"/>
            <ac:spMk id="22" creationId="{E94A6AC8-6DB0-4FE5-8AFC-9CFC86562C4D}"/>
          </ac:spMkLst>
        </pc:spChg>
        <pc:spChg chg="mod">
          <ac:chgData name="Rian Pratama" userId="ba5a381f79e67128" providerId="LiveId" clId="{1B3D42E5-558C-46C9-A1CA-A9EF05FAD6B9}" dt="2025-11-24T01:53:42.687" v="733" actId="1076"/>
          <ac:spMkLst>
            <pc:docMk/>
            <pc:sldMk cId="0" sldId="737"/>
            <ac:spMk id="35845" creationId="{A082385A-D264-42C9-830D-ADF1D214427A}"/>
          </ac:spMkLst>
        </pc:spChg>
      </pc:sldChg>
      <pc:sldChg chg="modSp mod">
        <pc:chgData name="Rian Pratama" userId="ba5a381f79e67128" providerId="LiveId" clId="{1B3D42E5-558C-46C9-A1CA-A9EF05FAD6B9}" dt="2025-11-24T02:00:48.084" v="788"/>
        <pc:sldMkLst>
          <pc:docMk/>
          <pc:sldMk cId="0" sldId="738"/>
        </pc:sldMkLst>
        <pc:spChg chg="mod">
          <ac:chgData name="Rian Pratama" userId="ba5a381f79e67128" providerId="LiveId" clId="{1B3D42E5-558C-46C9-A1CA-A9EF05FAD6B9}" dt="2025-11-24T01:58:46.346" v="743" actId="20577"/>
          <ac:spMkLst>
            <pc:docMk/>
            <pc:sldMk cId="0" sldId="738"/>
            <ac:spMk id="23" creationId="{71F4FE35-B31A-4973-BC9A-0104AAF30E32}"/>
          </ac:spMkLst>
        </pc:spChg>
        <pc:spChg chg="mod">
          <ac:chgData name="Rian Pratama" userId="ba5a381f79e67128" providerId="LiveId" clId="{1B3D42E5-558C-46C9-A1CA-A9EF05FAD6B9}" dt="2025-11-24T02:00:48.084" v="788"/>
          <ac:spMkLst>
            <pc:docMk/>
            <pc:sldMk cId="0" sldId="738"/>
            <ac:spMk id="24" creationId="{8D2A15C7-E428-4B4B-8597-25069A91A475}"/>
          </ac:spMkLst>
        </pc:spChg>
        <pc:spChg chg="mod">
          <ac:chgData name="Rian Pratama" userId="ba5a381f79e67128" providerId="LiveId" clId="{1B3D42E5-558C-46C9-A1CA-A9EF05FAD6B9}" dt="2025-11-24T01:59:45.433" v="784" actId="20577"/>
          <ac:spMkLst>
            <pc:docMk/>
            <pc:sldMk cId="0" sldId="738"/>
            <ac:spMk id="36866" creationId="{5AA75F90-7C29-4997-AB6E-7B68D089C1C7}"/>
          </ac:spMkLst>
        </pc:spChg>
      </pc:sldChg>
      <pc:sldChg chg="modSp mod">
        <pc:chgData name="Rian Pratama" userId="ba5a381f79e67128" providerId="LiveId" clId="{1B3D42E5-558C-46C9-A1CA-A9EF05FAD6B9}" dt="2025-11-24T02:05:26.491" v="819" actId="20577"/>
        <pc:sldMkLst>
          <pc:docMk/>
          <pc:sldMk cId="0" sldId="739"/>
        </pc:sldMkLst>
        <pc:spChg chg="mod">
          <ac:chgData name="Rian Pratama" userId="ba5a381f79e67128" providerId="LiveId" clId="{1B3D42E5-558C-46C9-A1CA-A9EF05FAD6B9}" dt="2025-11-24T02:04:41.930" v="815" actId="14100"/>
          <ac:spMkLst>
            <pc:docMk/>
            <pc:sldMk cId="0" sldId="739"/>
            <ac:spMk id="3" creationId="{334A760D-6996-873C-DCF0-91F64C66BD1C}"/>
          </ac:spMkLst>
        </pc:spChg>
        <pc:spChg chg="mod">
          <ac:chgData name="Rian Pratama" userId="ba5a381f79e67128" providerId="LiveId" clId="{1B3D42E5-558C-46C9-A1CA-A9EF05FAD6B9}" dt="2025-11-24T02:04:43.766" v="816" actId="1076"/>
          <ac:spMkLst>
            <pc:docMk/>
            <pc:sldMk cId="0" sldId="739"/>
            <ac:spMk id="6" creationId="{4309EF67-DD35-813B-02B3-85FFFFDEBDC9}"/>
          </ac:spMkLst>
        </pc:spChg>
        <pc:spChg chg="mod">
          <ac:chgData name="Rian Pratama" userId="ba5a381f79e67128" providerId="LiveId" clId="{1B3D42E5-558C-46C9-A1CA-A9EF05FAD6B9}" dt="2025-11-24T02:05:26.491" v="819" actId="20577"/>
          <ac:spMkLst>
            <pc:docMk/>
            <pc:sldMk cId="0" sldId="739"/>
            <ac:spMk id="9218" creationId="{82A0682D-3B69-CEA9-01D3-3D370D652530}"/>
          </ac:spMkLst>
        </pc:spChg>
      </pc:sldChg>
      <pc:sldChg chg="modSp">
        <pc:chgData name="Rian Pratama" userId="ba5a381f79e67128" providerId="LiveId" clId="{1B3D42E5-558C-46C9-A1CA-A9EF05FAD6B9}" dt="2025-11-24T02:02:33.946" v="809" actId="404"/>
        <pc:sldMkLst>
          <pc:docMk/>
          <pc:sldMk cId="0" sldId="741"/>
        </pc:sldMkLst>
        <pc:spChg chg="mod">
          <ac:chgData name="Rian Pratama" userId="ba5a381f79e67128" providerId="LiveId" clId="{1B3D42E5-558C-46C9-A1CA-A9EF05FAD6B9}" dt="2025-11-24T02:02:33.946" v="809" actId="404"/>
          <ac:spMkLst>
            <pc:docMk/>
            <pc:sldMk cId="0" sldId="741"/>
            <ac:spMk id="37890" creationId="{4ECAAFB4-83B4-4DF9-8F00-ECEF712A7FB3}"/>
          </ac:spMkLst>
        </pc:spChg>
      </pc:sldChg>
      <pc:sldChg chg="modSp mod">
        <pc:chgData name="Rian Pratama" userId="ba5a381f79e67128" providerId="LiveId" clId="{1B3D42E5-558C-46C9-A1CA-A9EF05FAD6B9}" dt="2025-11-24T03:13:15.491" v="994" actId="113"/>
        <pc:sldMkLst>
          <pc:docMk/>
          <pc:sldMk cId="0" sldId="742"/>
        </pc:sldMkLst>
        <pc:spChg chg="mod">
          <ac:chgData name="Rian Pratama" userId="ba5a381f79e67128" providerId="LiveId" clId="{1B3D42E5-558C-46C9-A1CA-A9EF05FAD6B9}" dt="2025-11-24T03:09:09.827" v="841" actId="20577"/>
          <ac:spMkLst>
            <pc:docMk/>
            <pc:sldMk cId="0" sldId="742"/>
            <ac:spMk id="6" creationId="{3895C804-34F3-4BA0-B9C8-089D4AADAC29}"/>
          </ac:spMkLst>
        </pc:spChg>
        <pc:spChg chg="mod">
          <ac:chgData name="Rian Pratama" userId="ba5a381f79e67128" providerId="LiveId" clId="{1B3D42E5-558C-46C9-A1CA-A9EF05FAD6B9}" dt="2025-11-24T03:13:15.491" v="994" actId="113"/>
          <ac:spMkLst>
            <pc:docMk/>
            <pc:sldMk cId="0" sldId="742"/>
            <ac:spMk id="139266" creationId="{97008D1B-5CAF-CE0C-27C2-2237333F2427}"/>
          </ac:spMkLst>
        </pc:spChg>
      </pc:sldChg>
      <pc:sldChg chg="modSp mod">
        <pc:chgData name="Rian Pratama" userId="ba5a381f79e67128" providerId="LiveId" clId="{1B3D42E5-558C-46C9-A1CA-A9EF05FAD6B9}" dt="2025-11-24T03:27:47.618" v="1069" actId="207"/>
        <pc:sldMkLst>
          <pc:docMk/>
          <pc:sldMk cId="0" sldId="743"/>
        </pc:sldMkLst>
        <pc:spChg chg="mod">
          <ac:chgData name="Rian Pratama" userId="ba5a381f79e67128" providerId="LiveId" clId="{1B3D42E5-558C-46C9-A1CA-A9EF05FAD6B9}" dt="2025-11-24T03:27:47.618" v="1069" actId="207"/>
          <ac:spMkLst>
            <pc:docMk/>
            <pc:sldMk cId="0" sldId="743"/>
            <ac:spMk id="17410" creationId="{3DBEE90A-A74E-59B7-5C6A-3D780BA38DC8}"/>
          </ac:spMkLst>
        </pc:spChg>
      </pc:sldChg>
      <pc:sldChg chg="modSp mod">
        <pc:chgData name="Rian Pratama" userId="ba5a381f79e67128" providerId="LiveId" clId="{1B3D42E5-558C-46C9-A1CA-A9EF05FAD6B9}" dt="2025-11-24T03:39:31.706" v="1076" actId="948"/>
        <pc:sldMkLst>
          <pc:docMk/>
          <pc:sldMk cId="0" sldId="744"/>
        </pc:sldMkLst>
        <pc:spChg chg="mod">
          <ac:chgData name="Rian Pratama" userId="ba5a381f79e67128" providerId="LiveId" clId="{1B3D42E5-558C-46C9-A1CA-A9EF05FAD6B9}" dt="2025-11-24T03:39:31.706" v="1076" actId="948"/>
          <ac:spMkLst>
            <pc:docMk/>
            <pc:sldMk cId="0" sldId="744"/>
            <ac:spMk id="21506" creationId="{D830A432-4D55-239E-3F5E-2E795D1B236C}"/>
          </ac:spMkLst>
        </pc:spChg>
      </pc:sldChg>
      <pc:sldChg chg="modSp mod">
        <pc:chgData name="Rian Pratama" userId="ba5a381f79e67128" providerId="LiveId" clId="{1B3D42E5-558C-46C9-A1CA-A9EF05FAD6B9}" dt="2025-11-24T05:34:01.235" v="1383" actId="948"/>
        <pc:sldMkLst>
          <pc:docMk/>
          <pc:sldMk cId="0" sldId="745"/>
        </pc:sldMkLst>
        <pc:spChg chg="mod">
          <ac:chgData name="Rian Pratama" userId="ba5a381f79e67128" providerId="LiveId" clId="{1B3D42E5-558C-46C9-A1CA-A9EF05FAD6B9}" dt="2025-11-24T05:34:01.235" v="1383" actId="948"/>
          <ac:spMkLst>
            <pc:docMk/>
            <pc:sldMk cId="0" sldId="745"/>
            <ac:spMk id="23554" creationId="{DDD569BF-76CF-5ED0-A607-A8E642656944}"/>
          </ac:spMkLst>
        </pc:spChg>
      </pc:sldChg>
      <pc:sldChg chg="modSp mod">
        <pc:chgData name="Rian Pratama" userId="ba5a381f79e67128" providerId="LiveId" clId="{1B3D42E5-558C-46C9-A1CA-A9EF05FAD6B9}" dt="2025-11-24T05:34:07.291" v="1384" actId="948"/>
        <pc:sldMkLst>
          <pc:docMk/>
          <pc:sldMk cId="0" sldId="746"/>
        </pc:sldMkLst>
        <pc:spChg chg="mod">
          <ac:chgData name="Rian Pratama" userId="ba5a381f79e67128" providerId="LiveId" clId="{1B3D42E5-558C-46C9-A1CA-A9EF05FAD6B9}" dt="2025-11-24T05:34:07.291" v="1384" actId="948"/>
          <ac:spMkLst>
            <pc:docMk/>
            <pc:sldMk cId="0" sldId="746"/>
            <ac:spMk id="25602" creationId="{9C060DD4-D239-C4CF-F6EB-9305AE94DCF2}"/>
          </ac:spMkLst>
        </pc:spChg>
      </pc:sldChg>
      <pc:sldChg chg="addSp modSp mod">
        <pc:chgData name="Rian Pratama" userId="ba5a381f79e67128" providerId="LiveId" clId="{1B3D42E5-558C-46C9-A1CA-A9EF05FAD6B9}" dt="2025-11-24T03:15:21.539" v="1026" actId="113"/>
        <pc:sldMkLst>
          <pc:docMk/>
          <pc:sldMk cId="0" sldId="751"/>
        </pc:sldMkLst>
        <pc:spChg chg="add">
          <ac:chgData name="Rian Pratama" userId="ba5a381f79e67128" providerId="LiveId" clId="{1B3D42E5-558C-46C9-A1CA-A9EF05FAD6B9}" dt="2025-11-24T03:14:43.575" v="1010"/>
          <ac:spMkLst>
            <pc:docMk/>
            <pc:sldMk cId="0" sldId="751"/>
            <ac:spMk id="2" creationId="{8A794ADA-AA9E-D426-10B2-D78DA99540B5}"/>
          </ac:spMkLst>
        </pc:spChg>
        <pc:spChg chg="mod">
          <ac:chgData name="Rian Pratama" userId="ba5a381f79e67128" providerId="LiveId" clId="{1B3D42E5-558C-46C9-A1CA-A9EF05FAD6B9}" dt="2025-11-24T03:15:21.539" v="1026" actId="113"/>
          <ac:spMkLst>
            <pc:docMk/>
            <pc:sldMk cId="0" sldId="751"/>
            <ac:spMk id="15362" creationId="{271E5E77-0150-1E8A-B58F-879B6AA705F0}"/>
          </ac:spMkLst>
        </pc:spChg>
      </pc:sldChg>
      <pc:sldChg chg="modSp mod">
        <pc:chgData name="Rian Pratama" userId="ba5a381f79e67128" providerId="LiveId" clId="{1B3D42E5-558C-46C9-A1CA-A9EF05FAD6B9}" dt="2025-11-24T04:43:58.841" v="1333" actId="948"/>
        <pc:sldMkLst>
          <pc:docMk/>
          <pc:sldMk cId="0" sldId="770"/>
        </pc:sldMkLst>
        <pc:spChg chg="mod">
          <ac:chgData name="Rian Pratama" userId="ba5a381f79e67128" providerId="LiveId" clId="{1B3D42E5-558C-46C9-A1CA-A9EF05FAD6B9}" dt="2025-11-24T04:43:58.841" v="1333" actId="948"/>
          <ac:spMkLst>
            <pc:docMk/>
            <pc:sldMk cId="0" sldId="770"/>
            <ac:spMk id="153602" creationId="{842F99C3-1552-57A9-D6D5-342169202956}"/>
          </ac:spMkLst>
        </pc:spChg>
      </pc:sldChg>
      <pc:sldChg chg="modSp mod">
        <pc:chgData name="Rian Pratama" userId="ba5a381f79e67128" providerId="LiveId" clId="{1B3D42E5-558C-46C9-A1CA-A9EF05FAD6B9}" dt="2025-11-24T04:45:17.149" v="1382" actId="113"/>
        <pc:sldMkLst>
          <pc:docMk/>
          <pc:sldMk cId="0" sldId="777"/>
        </pc:sldMkLst>
        <pc:spChg chg="mod">
          <ac:chgData name="Rian Pratama" userId="ba5a381f79e67128" providerId="LiveId" clId="{1B3D42E5-558C-46C9-A1CA-A9EF05FAD6B9}" dt="2025-11-24T04:45:17.149" v="1382" actId="113"/>
          <ac:spMkLst>
            <pc:docMk/>
            <pc:sldMk cId="0" sldId="777"/>
            <ac:spMk id="37890" creationId="{7E5ABECC-9F14-4EC9-4A4A-17DD8E01E995}"/>
          </ac:spMkLst>
        </pc:spChg>
      </pc:sldChg>
      <pc:sldChg chg="ord">
        <pc:chgData name="Rian Pratama" userId="ba5a381f79e67128" providerId="LiveId" clId="{1B3D42E5-558C-46C9-A1CA-A9EF05FAD6B9}" dt="2025-11-24T05:35:13.676" v="1387" actId="20578"/>
        <pc:sldMkLst>
          <pc:docMk/>
          <pc:sldMk cId="0" sldId="778"/>
        </pc:sldMkLst>
      </pc:sldChg>
      <pc:sldChg chg="ord">
        <pc:chgData name="Rian Pratama" userId="ba5a381f79e67128" providerId="LiveId" clId="{1B3D42E5-558C-46C9-A1CA-A9EF05FAD6B9}" dt="2025-11-24T05:35:13.676" v="1387" actId="20578"/>
        <pc:sldMkLst>
          <pc:docMk/>
          <pc:sldMk cId="0" sldId="779"/>
        </pc:sldMkLst>
      </pc:sldChg>
      <pc:sldChg chg="modSp mod">
        <pc:chgData name="Rian Pratama" userId="ba5a381f79e67128" providerId="LiveId" clId="{1B3D42E5-558C-46C9-A1CA-A9EF05FAD6B9}" dt="2025-11-24T02:02:00.384" v="804" actId="20577"/>
        <pc:sldMkLst>
          <pc:docMk/>
          <pc:sldMk cId="3486395249" sldId="785"/>
        </pc:sldMkLst>
        <pc:spChg chg="mod">
          <ac:chgData name="Rian Pratama" userId="ba5a381f79e67128" providerId="LiveId" clId="{1B3D42E5-558C-46C9-A1CA-A9EF05FAD6B9}" dt="2025-11-24T02:02:00.384" v="804" actId="20577"/>
          <ac:spMkLst>
            <pc:docMk/>
            <pc:sldMk cId="3486395249" sldId="785"/>
            <ac:spMk id="6" creationId="{FCC81538-D466-4F51-AB69-61B55AA12612}"/>
          </ac:spMkLst>
        </pc:spChg>
      </pc:sldChg>
      <pc:sldChg chg="modSp mod">
        <pc:chgData name="Rian Pratama" userId="ba5a381f79e67128" providerId="LiveId" clId="{1B3D42E5-558C-46C9-A1CA-A9EF05FAD6B9}" dt="2025-11-24T01:18:48.889" v="26"/>
        <pc:sldMkLst>
          <pc:docMk/>
          <pc:sldMk cId="188434683" sldId="786"/>
        </pc:sldMkLst>
        <pc:spChg chg="mod">
          <ac:chgData name="Rian Pratama" userId="ba5a381f79e67128" providerId="LiveId" clId="{1B3D42E5-558C-46C9-A1CA-A9EF05FAD6B9}" dt="2025-11-24T01:18:48.889" v="26"/>
          <ac:spMkLst>
            <pc:docMk/>
            <pc:sldMk cId="188434683" sldId="786"/>
            <ac:spMk id="29698" creationId="{C89E331A-49CE-4B03-8EE4-E67BBC4F41FE}"/>
          </ac:spMkLst>
        </pc:spChg>
      </pc:sldChg>
      <pc:sldChg chg="modSp mod">
        <pc:chgData name="Rian Pratama" userId="ba5a381f79e67128" providerId="LiveId" clId="{1B3D42E5-558C-46C9-A1CA-A9EF05FAD6B9}" dt="2025-11-24T01:38:01.294" v="237" actId="1076"/>
        <pc:sldMkLst>
          <pc:docMk/>
          <pc:sldMk cId="2421108979" sldId="788"/>
        </pc:sldMkLst>
        <pc:spChg chg="mod">
          <ac:chgData name="Rian Pratama" userId="ba5a381f79e67128" providerId="LiveId" clId="{1B3D42E5-558C-46C9-A1CA-A9EF05FAD6B9}" dt="2025-11-24T01:35:52.558" v="234" actId="404"/>
          <ac:spMkLst>
            <pc:docMk/>
            <pc:sldMk cId="2421108979" sldId="788"/>
            <ac:spMk id="9" creationId="{02DE1422-E93E-4710-9CCF-E501E3C7BEBF}"/>
          </ac:spMkLst>
        </pc:spChg>
        <pc:spChg chg="mod">
          <ac:chgData name="Rian Pratama" userId="ba5a381f79e67128" providerId="LiveId" clId="{1B3D42E5-558C-46C9-A1CA-A9EF05FAD6B9}" dt="2025-11-24T01:35:01.360" v="230" actId="404"/>
          <ac:spMkLst>
            <pc:docMk/>
            <pc:sldMk cId="2421108979" sldId="788"/>
            <ac:spMk id="10" creationId="{88F7DB81-6D12-4A6A-8915-93758180C7E5}"/>
          </ac:spMkLst>
        </pc:spChg>
        <pc:spChg chg="mod">
          <ac:chgData name="Rian Pratama" userId="ba5a381f79e67128" providerId="LiveId" clId="{1B3D42E5-558C-46C9-A1CA-A9EF05FAD6B9}" dt="2025-11-24T01:38:01.294" v="237" actId="1076"/>
          <ac:spMkLst>
            <pc:docMk/>
            <pc:sldMk cId="2421108979" sldId="788"/>
            <ac:spMk id="17" creationId="{261BD6B4-1169-4F77-BBFD-2A245072EA56}"/>
          </ac:spMkLst>
        </pc:spChg>
        <pc:spChg chg="mod">
          <ac:chgData name="Rian Pratama" userId="ba5a381f79e67128" providerId="LiveId" clId="{1B3D42E5-558C-46C9-A1CA-A9EF05FAD6B9}" dt="2025-11-24T01:36:36.599" v="236" actId="404"/>
          <ac:spMkLst>
            <pc:docMk/>
            <pc:sldMk cId="2421108979" sldId="788"/>
            <ac:spMk id="33794" creationId="{035F59CF-0CEF-4874-9F99-C12D32405017}"/>
          </ac:spMkLst>
        </pc:spChg>
      </pc:sldChg>
      <pc:sldChg chg="modSp mod modAnim">
        <pc:chgData name="Rian Pratama" userId="ba5a381f79e67128" providerId="LiveId" clId="{1B3D42E5-558C-46C9-A1CA-A9EF05FAD6B9}" dt="2025-11-24T01:19:40.888" v="43" actId="20577"/>
        <pc:sldMkLst>
          <pc:docMk/>
          <pc:sldMk cId="1158792184" sldId="789"/>
        </pc:sldMkLst>
        <pc:spChg chg="mod">
          <ac:chgData name="Rian Pratama" userId="ba5a381f79e67128" providerId="LiveId" clId="{1B3D42E5-558C-46C9-A1CA-A9EF05FAD6B9}" dt="2025-11-21T08:12:49.628" v="22" actId="1076"/>
          <ac:spMkLst>
            <pc:docMk/>
            <pc:sldMk cId="1158792184" sldId="789"/>
            <ac:spMk id="9" creationId="{C43C11E7-217D-431C-A4ED-6CD1D13835DA}"/>
          </ac:spMkLst>
        </pc:spChg>
        <pc:spChg chg="mod">
          <ac:chgData name="Rian Pratama" userId="ba5a381f79e67128" providerId="LiveId" clId="{1B3D42E5-558C-46C9-A1CA-A9EF05FAD6B9}" dt="2025-11-24T01:19:40.888" v="43" actId="20577"/>
          <ac:spMkLst>
            <pc:docMk/>
            <pc:sldMk cId="1158792184" sldId="789"/>
            <ac:spMk id="11" creationId="{7D25201B-2282-4946-BDAF-2438BAA3E8D3}"/>
          </ac:spMkLst>
        </pc:spChg>
        <pc:spChg chg="mod">
          <ac:chgData name="Rian Pratama" userId="ba5a381f79e67128" providerId="LiveId" clId="{1B3D42E5-558C-46C9-A1CA-A9EF05FAD6B9}" dt="2025-11-21T08:12:39.485" v="21" actId="20577"/>
          <ac:spMkLst>
            <pc:docMk/>
            <pc:sldMk cId="1158792184" sldId="789"/>
            <ac:spMk id="29698" creationId="{C89E331A-49CE-4B03-8EE4-E67BBC4F41FE}"/>
          </ac:spMkLst>
        </pc:spChg>
      </pc:sldChg>
      <pc:sldChg chg="modSp">
        <pc:chgData name="Rian Pratama" userId="ba5a381f79e67128" providerId="LiveId" clId="{1B3D42E5-558C-46C9-A1CA-A9EF05FAD6B9}" dt="2025-11-24T01:23:36.262" v="90"/>
        <pc:sldMkLst>
          <pc:docMk/>
          <pc:sldMk cId="3742660841" sldId="790"/>
        </pc:sldMkLst>
        <pc:spChg chg="mod">
          <ac:chgData name="Rian Pratama" userId="ba5a381f79e67128" providerId="LiveId" clId="{1B3D42E5-558C-46C9-A1CA-A9EF05FAD6B9}" dt="2025-11-24T01:23:36.262" v="90"/>
          <ac:spMkLst>
            <pc:docMk/>
            <pc:sldMk cId="3742660841" sldId="790"/>
            <ac:spMk id="30722" creationId="{C6AC0736-5E06-43EB-8226-F64DF141FB37}"/>
          </ac:spMkLst>
        </pc:spChg>
      </pc:sldChg>
      <pc:sldChg chg="modSp mod">
        <pc:chgData name="Rian Pratama" userId="ba5a381f79e67128" providerId="LiveId" clId="{1B3D42E5-558C-46C9-A1CA-A9EF05FAD6B9}" dt="2025-11-24T04:26:05.123" v="1267" actId="14100"/>
        <pc:sldMkLst>
          <pc:docMk/>
          <pc:sldMk cId="573917625" sldId="791"/>
        </pc:sldMkLst>
        <pc:spChg chg="mod">
          <ac:chgData name="Rian Pratama" userId="ba5a381f79e67128" providerId="LiveId" clId="{1B3D42E5-558C-46C9-A1CA-A9EF05FAD6B9}" dt="2025-11-24T04:25:27.189" v="1260"/>
          <ac:spMkLst>
            <pc:docMk/>
            <pc:sldMk cId="573917625" sldId="791"/>
            <ac:spMk id="10" creationId="{6573F2BF-3443-48D4-95B3-A2EC45D598B9}"/>
          </ac:spMkLst>
        </pc:spChg>
        <pc:spChg chg="mod">
          <ac:chgData name="Rian Pratama" userId="ba5a381f79e67128" providerId="LiveId" clId="{1B3D42E5-558C-46C9-A1CA-A9EF05FAD6B9}" dt="2025-11-24T04:25:55.964" v="1265" actId="14100"/>
          <ac:spMkLst>
            <pc:docMk/>
            <pc:sldMk cId="573917625" sldId="791"/>
            <ac:spMk id="11" creationId="{DFA50A8E-24AF-4F5A-AD13-D3DBC092C7C2}"/>
          </ac:spMkLst>
        </pc:spChg>
        <pc:spChg chg="mod">
          <ac:chgData name="Rian Pratama" userId="ba5a381f79e67128" providerId="LiveId" clId="{1B3D42E5-558C-46C9-A1CA-A9EF05FAD6B9}" dt="2025-11-24T04:25:53.026" v="1264" actId="14100"/>
          <ac:spMkLst>
            <pc:docMk/>
            <pc:sldMk cId="573917625" sldId="791"/>
            <ac:spMk id="12" creationId="{179DEAAA-6E12-45B1-8DE5-DED6D533B591}"/>
          </ac:spMkLst>
        </pc:spChg>
        <pc:spChg chg="mod">
          <ac:chgData name="Rian Pratama" userId="ba5a381f79e67128" providerId="LiveId" clId="{1B3D42E5-558C-46C9-A1CA-A9EF05FAD6B9}" dt="2025-11-24T04:26:05.123" v="1267" actId="14100"/>
          <ac:spMkLst>
            <pc:docMk/>
            <pc:sldMk cId="573917625" sldId="791"/>
            <ac:spMk id="13" creationId="{52355876-529F-44EE-A088-C8E7360C8C08}"/>
          </ac:spMkLst>
        </pc:spChg>
      </pc:sldChg>
      <pc:sldChg chg="modSp mod">
        <pc:chgData name="Rian Pratama" userId="ba5a381f79e67128" providerId="LiveId" clId="{1B3D42E5-558C-46C9-A1CA-A9EF05FAD6B9}" dt="2025-11-24T04:28:04.423" v="1276" actId="14100"/>
        <pc:sldMkLst>
          <pc:docMk/>
          <pc:sldMk cId="3393840512" sldId="792"/>
        </pc:sldMkLst>
        <pc:spChg chg="mod">
          <ac:chgData name="Rian Pratama" userId="ba5a381f79e67128" providerId="LiveId" clId="{1B3D42E5-558C-46C9-A1CA-A9EF05FAD6B9}" dt="2025-11-24T04:28:04.423" v="1276" actId="14100"/>
          <ac:spMkLst>
            <pc:docMk/>
            <pc:sldMk cId="3393840512" sldId="792"/>
            <ac:spMk id="8" creationId="{E2EC85EC-AC95-4201-9596-81D9AD9DF3F2}"/>
          </ac:spMkLst>
        </pc:spChg>
        <pc:spChg chg="mod">
          <ac:chgData name="Rian Pratama" userId="ba5a381f79e67128" providerId="LiveId" clId="{1B3D42E5-558C-46C9-A1CA-A9EF05FAD6B9}" dt="2025-11-24T04:26:48.196" v="1272" actId="13926"/>
          <ac:spMkLst>
            <pc:docMk/>
            <pc:sldMk cId="3393840512" sldId="792"/>
            <ac:spMk id="10" creationId="{BEA2C03A-92DC-4207-88AC-94CC61C933E2}"/>
          </ac:spMkLst>
        </pc:spChg>
        <pc:spChg chg="mod">
          <ac:chgData name="Rian Pratama" userId="ba5a381f79e67128" providerId="LiveId" clId="{1B3D42E5-558C-46C9-A1CA-A9EF05FAD6B9}" dt="2025-11-24T04:26:37.174" v="1269" actId="14100"/>
          <ac:spMkLst>
            <pc:docMk/>
            <pc:sldMk cId="3393840512" sldId="792"/>
            <ac:spMk id="11" creationId="{1AB0EA50-C1C5-42A1-8B78-86C5C0E9391A}"/>
          </ac:spMkLst>
        </pc:spChg>
      </pc:sldChg>
      <pc:sldChg chg="modSp mod">
        <pc:chgData name="Rian Pratama" userId="ba5a381f79e67128" providerId="LiveId" clId="{1B3D42E5-558C-46C9-A1CA-A9EF05FAD6B9}" dt="2025-11-24T04:29:40.218" v="1286" actId="14100"/>
        <pc:sldMkLst>
          <pc:docMk/>
          <pc:sldMk cId="2739387502" sldId="793"/>
        </pc:sldMkLst>
        <pc:spChg chg="mod">
          <ac:chgData name="Rian Pratama" userId="ba5a381f79e67128" providerId="LiveId" clId="{1B3D42E5-558C-46C9-A1CA-A9EF05FAD6B9}" dt="2025-11-24T04:29:07.023" v="1280" actId="14100"/>
          <ac:spMkLst>
            <pc:docMk/>
            <pc:sldMk cId="2739387502" sldId="793"/>
            <ac:spMk id="8" creationId="{EAD8ED4F-5820-47E6-991F-CF13AEBD3433}"/>
          </ac:spMkLst>
        </pc:spChg>
        <pc:spChg chg="mod">
          <ac:chgData name="Rian Pratama" userId="ba5a381f79e67128" providerId="LiveId" clId="{1B3D42E5-558C-46C9-A1CA-A9EF05FAD6B9}" dt="2025-11-24T04:29:25.981" v="1283" actId="14100"/>
          <ac:spMkLst>
            <pc:docMk/>
            <pc:sldMk cId="2739387502" sldId="793"/>
            <ac:spMk id="9" creationId="{8469992A-C698-4B0E-BAA6-EC88452D6F4B}"/>
          </ac:spMkLst>
        </pc:spChg>
        <pc:spChg chg="mod">
          <ac:chgData name="Rian Pratama" userId="ba5a381f79e67128" providerId="LiveId" clId="{1B3D42E5-558C-46C9-A1CA-A9EF05FAD6B9}" dt="2025-11-24T04:29:40.218" v="1286" actId="14100"/>
          <ac:spMkLst>
            <pc:docMk/>
            <pc:sldMk cId="2739387502" sldId="793"/>
            <ac:spMk id="10" creationId="{9F57E1CB-F3E8-41B9-86A9-6450545A2857}"/>
          </ac:spMkLst>
        </pc:spChg>
      </pc:sldChg>
      <pc:sldChg chg="modSp mod">
        <pc:chgData name="Rian Pratama" userId="ba5a381f79e67128" providerId="LiveId" clId="{1B3D42E5-558C-46C9-A1CA-A9EF05FAD6B9}" dt="2025-11-24T04:30:18.294" v="1290" actId="14100"/>
        <pc:sldMkLst>
          <pc:docMk/>
          <pc:sldMk cId="3858633164" sldId="794"/>
        </pc:sldMkLst>
        <pc:spChg chg="mod">
          <ac:chgData name="Rian Pratama" userId="ba5a381f79e67128" providerId="LiveId" clId="{1B3D42E5-558C-46C9-A1CA-A9EF05FAD6B9}" dt="2025-11-24T04:30:00.931" v="1287"/>
          <ac:spMkLst>
            <pc:docMk/>
            <pc:sldMk cId="3858633164" sldId="794"/>
            <ac:spMk id="6" creationId="{7A2FE990-2681-ED2E-9814-598DF9E413CC}"/>
          </ac:spMkLst>
        </pc:spChg>
        <pc:spChg chg="mod">
          <ac:chgData name="Rian Pratama" userId="ba5a381f79e67128" providerId="LiveId" clId="{1B3D42E5-558C-46C9-A1CA-A9EF05FAD6B9}" dt="2025-11-24T04:30:18.294" v="1290" actId="14100"/>
          <ac:spMkLst>
            <pc:docMk/>
            <pc:sldMk cId="3858633164" sldId="794"/>
            <ac:spMk id="12" creationId="{36E366E4-EAAA-4564-BC48-F6AD2317D355}"/>
          </ac:spMkLst>
        </pc:spChg>
      </pc:sldChg>
      <pc:sldChg chg="modSp mod">
        <pc:chgData name="Rian Pratama" userId="ba5a381f79e67128" providerId="LiveId" clId="{1B3D42E5-558C-46C9-A1CA-A9EF05FAD6B9}" dt="2025-11-24T04:31:15.111" v="1299" actId="1076"/>
        <pc:sldMkLst>
          <pc:docMk/>
          <pc:sldMk cId="941840932" sldId="795"/>
        </pc:sldMkLst>
        <pc:spChg chg="mod">
          <ac:chgData name="Rian Pratama" userId="ba5a381f79e67128" providerId="LiveId" clId="{1B3D42E5-558C-46C9-A1CA-A9EF05FAD6B9}" dt="2025-11-24T04:31:12.617" v="1298" actId="113"/>
          <ac:spMkLst>
            <pc:docMk/>
            <pc:sldMk cId="941840932" sldId="795"/>
            <ac:spMk id="3" creationId="{072640BC-6216-4DE9-8339-A8099A7F7154}"/>
          </ac:spMkLst>
        </pc:spChg>
        <pc:picChg chg="mod">
          <ac:chgData name="Rian Pratama" userId="ba5a381f79e67128" providerId="LiveId" clId="{1B3D42E5-558C-46C9-A1CA-A9EF05FAD6B9}" dt="2025-11-24T04:31:15.111" v="1299" actId="1076"/>
          <ac:picMkLst>
            <pc:docMk/>
            <pc:sldMk cId="941840932" sldId="795"/>
            <ac:picMk id="7" creationId="{1CFDEAFB-8CB8-4099-AB1F-19F91A81B164}"/>
          </ac:picMkLst>
        </pc:picChg>
      </pc:sldChg>
      <pc:sldChg chg="modSp mod">
        <pc:chgData name="Rian Pratama" userId="ba5a381f79e67128" providerId="LiveId" clId="{1B3D42E5-558C-46C9-A1CA-A9EF05FAD6B9}" dt="2025-11-24T04:43:02.555" v="1323"/>
        <pc:sldMkLst>
          <pc:docMk/>
          <pc:sldMk cId="813707777" sldId="796"/>
        </pc:sldMkLst>
        <pc:spChg chg="mod">
          <ac:chgData name="Rian Pratama" userId="ba5a381f79e67128" providerId="LiveId" clId="{1B3D42E5-558C-46C9-A1CA-A9EF05FAD6B9}" dt="2025-11-24T04:40:50.816" v="1301" actId="14100"/>
          <ac:spMkLst>
            <pc:docMk/>
            <pc:sldMk cId="813707777" sldId="796"/>
            <ac:spMk id="8" creationId="{0F024A68-99BD-439F-A465-7BC4A32C8931}"/>
          </ac:spMkLst>
        </pc:spChg>
        <pc:spChg chg="mod">
          <ac:chgData name="Rian Pratama" userId="ba5a381f79e67128" providerId="LiveId" clId="{1B3D42E5-558C-46C9-A1CA-A9EF05FAD6B9}" dt="2025-11-24T04:41:04.625" v="1306" actId="113"/>
          <ac:spMkLst>
            <pc:docMk/>
            <pc:sldMk cId="813707777" sldId="796"/>
            <ac:spMk id="10" creationId="{E9F3F0A9-E581-4C59-BF1E-CB2B4117B641}"/>
          </ac:spMkLst>
        </pc:spChg>
        <pc:spChg chg="mod">
          <ac:chgData name="Rian Pratama" userId="ba5a381f79e67128" providerId="LiveId" clId="{1B3D42E5-558C-46C9-A1CA-A9EF05FAD6B9}" dt="2025-11-24T04:42:20.233" v="1318" actId="14100"/>
          <ac:spMkLst>
            <pc:docMk/>
            <pc:sldMk cId="813707777" sldId="796"/>
            <ac:spMk id="11" creationId="{0FEEFD63-4621-49EA-BCCB-4697F8BEC9C2}"/>
          </ac:spMkLst>
        </pc:spChg>
        <pc:spChg chg="mod">
          <ac:chgData name="Rian Pratama" userId="ba5a381f79e67128" providerId="LiveId" clId="{1B3D42E5-558C-46C9-A1CA-A9EF05FAD6B9}" dt="2025-11-24T04:41:53.837" v="1312" actId="113"/>
          <ac:spMkLst>
            <pc:docMk/>
            <pc:sldMk cId="813707777" sldId="796"/>
            <ac:spMk id="12" creationId="{5D378326-69FA-4ED2-A5CA-8F4AC8298BDC}"/>
          </ac:spMkLst>
        </pc:spChg>
        <pc:spChg chg="mod">
          <ac:chgData name="Rian Pratama" userId="ba5a381f79e67128" providerId="LiveId" clId="{1B3D42E5-558C-46C9-A1CA-A9EF05FAD6B9}" dt="2025-11-24T04:43:02.555" v="1323"/>
          <ac:spMkLst>
            <pc:docMk/>
            <pc:sldMk cId="813707777" sldId="796"/>
            <ac:spMk id="13" creationId="{BBDE45C6-486D-4A29-8EB2-B98D6AD24457}"/>
          </ac:spMkLst>
        </pc:spChg>
      </pc:sldChg>
      <pc:sldChg chg="modSp mod">
        <pc:chgData name="Rian Pratama" userId="ba5a381f79e67128" providerId="LiveId" clId="{1B3D42E5-558C-46C9-A1CA-A9EF05FAD6B9}" dt="2025-11-24T04:24:46.779" v="1259" actId="14100"/>
        <pc:sldMkLst>
          <pc:docMk/>
          <pc:sldMk cId="802820097" sldId="797"/>
        </pc:sldMkLst>
        <pc:spChg chg="mod">
          <ac:chgData name="Rian Pratama" userId="ba5a381f79e67128" providerId="LiveId" clId="{1B3D42E5-558C-46C9-A1CA-A9EF05FAD6B9}" dt="2025-11-24T04:24:46.779" v="1259" actId="14100"/>
          <ac:spMkLst>
            <pc:docMk/>
            <pc:sldMk cId="802820097" sldId="797"/>
            <ac:spMk id="7" creationId="{0D4C263A-03EF-4F5E-B847-D4B614DC1E04}"/>
          </ac:spMkLst>
        </pc:spChg>
        <pc:spChg chg="mod">
          <ac:chgData name="Rian Pratama" userId="ba5a381f79e67128" providerId="LiveId" clId="{1B3D42E5-558C-46C9-A1CA-A9EF05FAD6B9}" dt="2025-11-24T04:22:46.281" v="1204" actId="20577"/>
          <ac:spMkLst>
            <pc:docMk/>
            <pc:sldMk cId="802820097" sldId="797"/>
            <ac:spMk id="8" creationId="{F9ECED31-1F4A-4579-96C6-2DDD45401DA5}"/>
          </ac:spMkLst>
        </pc:spChg>
        <pc:spChg chg="mod">
          <ac:chgData name="Rian Pratama" userId="ba5a381f79e67128" providerId="LiveId" clId="{1B3D42E5-558C-46C9-A1CA-A9EF05FAD6B9}" dt="2025-11-24T04:23:20.215" v="1230" actId="20577"/>
          <ac:spMkLst>
            <pc:docMk/>
            <pc:sldMk cId="802820097" sldId="797"/>
            <ac:spMk id="9" creationId="{B7FD27B5-80DC-4DBC-B7EC-8F580519E34D}"/>
          </ac:spMkLst>
        </pc:spChg>
        <pc:spChg chg="mod">
          <ac:chgData name="Rian Pratama" userId="ba5a381f79e67128" providerId="LiveId" clId="{1B3D42E5-558C-46C9-A1CA-A9EF05FAD6B9}" dt="2025-11-24T04:24:08.714" v="1244" actId="2711"/>
          <ac:spMkLst>
            <pc:docMk/>
            <pc:sldMk cId="802820097" sldId="797"/>
            <ac:spMk id="10" creationId="{CE7A56CA-3C0E-496D-8A36-6C0D4E058F09}"/>
          </ac:spMkLst>
        </pc:spChg>
        <pc:spChg chg="mod">
          <ac:chgData name="Rian Pratama" userId="ba5a381f79e67128" providerId="LiveId" clId="{1B3D42E5-558C-46C9-A1CA-A9EF05FAD6B9}" dt="2025-11-24T04:24:21.248" v="1246"/>
          <ac:spMkLst>
            <pc:docMk/>
            <pc:sldMk cId="802820097" sldId="797"/>
            <ac:spMk id="11" creationId="{79EB992A-9907-43BD-8F5A-14C6B098BD58}"/>
          </ac:spMkLst>
        </pc:spChg>
      </pc:sldChg>
      <pc:sldChg chg="modSp mod">
        <pc:chgData name="Rian Pratama" userId="ba5a381f79e67128" providerId="LiveId" clId="{1B3D42E5-558C-46C9-A1CA-A9EF05FAD6B9}" dt="2025-11-24T01:54:38.309" v="741" actId="948"/>
        <pc:sldMkLst>
          <pc:docMk/>
          <pc:sldMk cId="2325198604" sldId="798"/>
        </pc:sldMkLst>
        <pc:spChg chg="mod">
          <ac:chgData name="Rian Pratama" userId="ba5a381f79e67128" providerId="LiveId" clId="{1B3D42E5-558C-46C9-A1CA-A9EF05FAD6B9}" dt="2025-11-24T01:54:38.309" v="741" actId="948"/>
          <ac:spMkLst>
            <pc:docMk/>
            <pc:sldMk cId="2325198604" sldId="798"/>
            <ac:spMk id="36866" creationId="{5AA75F90-7C29-4997-AB6E-7B68D089C1C7}"/>
          </ac:spMkLst>
        </pc:spChg>
      </pc:sldChg>
      <pc:sldChg chg="modSp mod">
        <pc:chgData name="Rian Pratama" userId="ba5a381f79e67128" providerId="LiveId" clId="{1B3D42E5-558C-46C9-A1CA-A9EF05FAD6B9}" dt="2025-11-24T01:21:46.487" v="62" actId="14100"/>
        <pc:sldMkLst>
          <pc:docMk/>
          <pc:sldMk cId="1582573038" sldId="799"/>
        </pc:sldMkLst>
        <pc:spChg chg="mod">
          <ac:chgData name="Rian Pratama" userId="ba5a381f79e67128" providerId="LiveId" clId="{1B3D42E5-558C-46C9-A1CA-A9EF05FAD6B9}" dt="2025-11-24T01:21:46.487" v="62" actId="14100"/>
          <ac:spMkLst>
            <pc:docMk/>
            <pc:sldMk cId="1582573038" sldId="799"/>
            <ac:spMk id="8" creationId="{49B2FC91-6438-70A7-8C47-FDDF36607236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Rectangle 2">
            <a:extLst>
              <a:ext uri="{FF2B5EF4-FFF2-40B4-BE49-F238E27FC236}">
                <a16:creationId xmlns:a16="http://schemas.microsoft.com/office/drawing/2014/main" id="{DD1534A8-F3D8-D51E-9BFB-BEAF3EFECA5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12995" name="Rectangle 3">
            <a:extLst>
              <a:ext uri="{FF2B5EF4-FFF2-40B4-BE49-F238E27FC236}">
                <a16:creationId xmlns:a16="http://schemas.microsoft.com/office/drawing/2014/main" id="{64ECDF9E-5AD7-CBD9-B8F1-E7F412AA909F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12996" name="Rectangle 4">
            <a:extLst>
              <a:ext uri="{FF2B5EF4-FFF2-40B4-BE49-F238E27FC236}">
                <a16:creationId xmlns:a16="http://schemas.microsoft.com/office/drawing/2014/main" id="{611BDADD-333A-9EE6-C920-5037A40F6A27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12997" name="Rectangle 5">
            <a:extLst>
              <a:ext uri="{FF2B5EF4-FFF2-40B4-BE49-F238E27FC236}">
                <a16:creationId xmlns:a16="http://schemas.microsoft.com/office/drawing/2014/main" id="{A79A0298-156C-D68C-6B30-E646C20011C0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fld id="{95F3D099-D689-43D9-91B7-FC2E58BFD371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:a16="http://schemas.microsoft.com/office/drawing/2014/main" id="{3DB22DF9-7CE1-9CBC-E9B4-9B3ABA3DC7A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id="{9E2F4C8F-F8C3-DF50-3CA2-D41109B2E862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A8981116-9970-757B-3C2A-A2FB5CFB498D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65" name="Rectangle 5">
            <a:extLst>
              <a:ext uri="{FF2B5EF4-FFF2-40B4-BE49-F238E27FC236}">
                <a16:creationId xmlns:a16="http://schemas.microsoft.com/office/drawing/2014/main" id="{8795FB03-0806-E868-1EB6-635D819CC0EB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92166" name="Rectangle 6">
            <a:extLst>
              <a:ext uri="{FF2B5EF4-FFF2-40B4-BE49-F238E27FC236}">
                <a16:creationId xmlns:a16="http://schemas.microsoft.com/office/drawing/2014/main" id="{60886658-50CD-FF73-C07B-8527535CF41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2167" name="Rectangle 7">
            <a:extLst>
              <a:ext uri="{FF2B5EF4-FFF2-40B4-BE49-F238E27FC236}">
                <a16:creationId xmlns:a16="http://schemas.microsoft.com/office/drawing/2014/main" id="{187CA825-1B0C-CEB0-5F6B-78E9E2A6E5A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fld id="{AC26ADEF-B476-49CE-997B-11FB88C7313F}" type="slidenum">
              <a:rPr lang="ko-KR" altLang="en-US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슬라이드 이미지 개체 틀 1">
            <a:extLst>
              <a:ext uri="{FF2B5EF4-FFF2-40B4-BE49-F238E27FC236}">
                <a16:creationId xmlns:a16="http://schemas.microsoft.com/office/drawing/2014/main" id="{97B4BF10-A403-EA34-5E61-1E12B6C68B1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147" name="슬라이드 노트 개체 틀 2">
            <a:extLst>
              <a:ext uri="{FF2B5EF4-FFF2-40B4-BE49-F238E27FC236}">
                <a16:creationId xmlns:a16="http://schemas.microsoft.com/office/drawing/2014/main" id="{7BCF8262-89C6-E5E2-A9B7-4A38D2EAD1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148" name="슬라이드 번호 개체 틀 3">
            <a:extLst>
              <a:ext uri="{FF2B5EF4-FFF2-40B4-BE49-F238E27FC236}">
                <a16:creationId xmlns:a16="http://schemas.microsoft.com/office/drawing/2014/main" id="{28A40AFB-5879-576B-DB99-AEA3E263FC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3099947B-1C29-408A-93BD-C03324CF01EB}" type="slidenum">
              <a:rPr lang="ko-KR" altLang="en-US"/>
              <a:pPr/>
              <a:t>1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슬라이드 이미지 개체 틀 1">
            <a:extLst>
              <a:ext uri="{FF2B5EF4-FFF2-40B4-BE49-F238E27FC236}">
                <a16:creationId xmlns:a16="http://schemas.microsoft.com/office/drawing/2014/main" id="{A40DE86F-C17F-E338-56BF-40B24875F71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5" name="슬라이드 노트 개체 틀 2">
            <a:extLst>
              <a:ext uri="{FF2B5EF4-FFF2-40B4-BE49-F238E27FC236}">
                <a16:creationId xmlns:a16="http://schemas.microsoft.com/office/drawing/2014/main" id="{51B242FB-BE64-FA07-BDAF-1CED66121A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8196" name="슬라이드 번호 개체 틀 3">
            <a:extLst>
              <a:ext uri="{FF2B5EF4-FFF2-40B4-BE49-F238E27FC236}">
                <a16:creationId xmlns:a16="http://schemas.microsoft.com/office/drawing/2014/main" id="{D5AD62DF-178C-2A82-A925-27725C19B8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E27807D0-5B8B-41AC-AC7F-89E2CDEC5055}" type="slidenum">
              <a:rPr lang="ko-KR" altLang="en-US"/>
              <a:pPr/>
              <a:t>2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슬라이드 이미지 개체 틀 1">
            <a:extLst>
              <a:ext uri="{FF2B5EF4-FFF2-40B4-BE49-F238E27FC236}">
                <a16:creationId xmlns:a16="http://schemas.microsoft.com/office/drawing/2014/main" id="{932B2E50-3DE1-B217-A7D0-B7A749C5630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243" name="슬라이드 노트 개체 틀 2">
            <a:extLst>
              <a:ext uri="{FF2B5EF4-FFF2-40B4-BE49-F238E27FC236}">
                <a16:creationId xmlns:a16="http://schemas.microsoft.com/office/drawing/2014/main" id="{FCA1EB96-2370-4DFF-3582-B175D4BF03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0244" name="슬라이드 번호 개체 틀 3">
            <a:extLst>
              <a:ext uri="{FF2B5EF4-FFF2-40B4-BE49-F238E27FC236}">
                <a16:creationId xmlns:a16="http://schemas.microsoft.com/office/drawing/2014/main" id="{D8677FC8-E2D6-6734-F4EB-8FCC80DDA8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5F0253CC-4992-49B8-A909-567F2200EB4A}" type="slidenum">
              <a:rPr lang="ko-KR" altLang="en-US"/>
              <a:pPr/>
              <a:t>20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슬라이드 이미지 개체 틀 1">
            <a:extLst>
              <a:ext uri="{FF2B5EF4-FFF2-40B4-BE49-F238E27FC236}">
                <a16:creationId xmlns:a16="http://schemas.microsoft.com/office/drawing/2014/main" id="{96E92B05-C9C5-3192-81C8-F2052CA1F07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291" name="슬라이드 노트 개체 틀 2">
            <a:extLst>
              <a:ext uri="{FF2B5EF4-FFF2-40B4-BE49-F238E27FC236}">
                <a16:creationId xmlns:a16="http://schemas.microsoft.com/office/drawing/2014/main" id="{8F158559-C715-F8C7-714F-2B13E0E235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2292" name="슬라이드 번호 개체 틀 3">
            <a:extLst>
              <a:ext uri="{FF2B5EF4-FFF2-40B4-BE49-F238E27FC236}">
                <a16:creationId xmlns:a16="http://schemas.microsoft.com/office/drawing/2014/main" id="{21C5DA76-DA16-31A7-0B57-FC1E99BC50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1CAD488D-7716-4DA9-8F57-DEC2AAB3E009}" type="slidenum">
              <a:rPr lang="ko-KR" altLang="en-US"/>
              <a:pPr/>
              <a:t>21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118FC956-B158-52FA-7BE7-06460C6A115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9AFA81DF-29A9-D7A3-8856-B1C6B119D2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176A2A11-5208-76F6-8E4C-619C39A78D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54763CEF-33F3-42B9-AAE9-7F2BB1388A97}" type="slidenum">
              <a:rPr lang="ko-KR" altLang="en-US"/>
              <a:pPr/>
              <a:t>22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이미지 개체 틀 1">
            <a:extLst>
              <a:ext uri="{FF2B5EF4-FFF2-40B4-BE49-F238E27FC236}">
                <a16:creationId xmlns:a16="http://schemas.microsoft.com/office/drawing/2014/main" id="{544B4448-D5CF-6DA0-FCB1-1D2DF4F9829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슬라이드 노트 개체 틀 2">
            <a:extLst>
              <a:ext uri="{FF2B5EF4-FFF2-40B4-BE49-F238E27FC236}">
                <a16:creationId xmlns:a16="http://schemas.microsoft.com/office/drawing/2014/main" id="{82F0ED18-AC31-F7D2-813B-E867282589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6388" name="슬라이드 번호 개체 틀 3">
            <a:extLst>
              <a:ext uri="{FF2B5EF4-FFF2-40B4-BE49-F238E27FC236}">
                <a16:creationId xmlns:a16="http://schemas.microsoft.com/office/drawing/2014/main" id="{54D31BAD-EEA3-6B07-54C9-84E95E7AE2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8BF7D5B5-2229-4A54-8D66-928CFC552FD4}" type="slidenum">
              <a:rPr lang="ko-KR" altLang="en-US"/>
              <a:pPr/>
              <a:t>23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슬라이드 이미지 개체 틀 1">
            <a:extLst>
              <a:ext uri="{FF2B5EF4-FFF2-40B4-BE49-F238E27FC236}">
                <a16:creationId xmlns:a16="http://schemas.microsoft.com/office/drawing/2014/main" id="{BE4165D4-F78A-CE34-FE48-183691F03D3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435" name="슬라이드 노트 개체 틀 2">
            <a:extLst>
              <a:ext uri="{FF2B5EF4-FFF2-40B4-BE49-F238E27FC236}">
                <a16:creationId xmlns:a16="http://schemas.microsoft.com/office/drawing/2014/main" id="{7170E79B-E170-6CA1-78DE-93FBD8224D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8436" name="슬라이드 번호 개체 틀 3">
            <a:extLst>
              <a:ext uri="{FF2B5EF4-FFF2-40B4-BE49-F238E27FC236}">
                <a16:creationId xmlns:a16="http://schemas.microsoft.com/office/drawing/2014/main" id="{86E38022-E84E-F484-86DA-D5879A78FE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52FE3E2B-B976-4E84-8330-9C4DA30A47D8}" type="slidenum">
              <a:rPr lang="ko-KR" altLang="en-US"/>
              <a:pPr/>
              <a:t>24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슬라이드 이미지 개체 틀 1">
            <a:extLst>
              <a:ext uri="{FF2B5EF4-FFF2-40B4-BE49-F238E27FC236}">
                <a16:creationId xmlns:a16="http://schemas.microsoft.com/office/drawing/2014/main" id="{20015760-792E-82F7-85D4-D43523E43DD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3" name="슬라이드 노트 개체 틀 2">
            <a:extLst>
              <a:ext uri="{FF2B5EF4-FFF2-40B4-BE49-F238E27FC236}">
                <a16:creationId xmlns:a16="http://schemas.microsoft.com/office/drawing/2014/main" id="{6B518479-4416-8484-5E94-0EA531550C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0484" name="슬라이드 번호 개체 틀 3">
            <a:extLst>
              <a:ext uri="{FF2B5EF4-FFF2-40B4-BE49-F238E27FC236}">
                <a16:creationId xmlns:a16="http://schemas.microsoft.com/office/drawing/2014/main" id="{AFC2E5FB-EEF5-FB35-8983-EB0BCB651E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F2610A8D-43D4-4B00-896F-A32EDEB69554}" type="slidenum">
              <a:rPr lang="ko-KR" altLang="en-US"/>
              <a:pPr/>
              <a:t>25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슬라이드 이미지 개체 틀 1">
            <a:extLst>
              <a:ext uri="{FF2B5EF4-FFF2-40B4-BE49-F238E27FC236}">
                <a16:creationId xmlns:a16="http://schemas.microsoft.com/office/drawing/2014/main" id="{3C42C133-C80F-B282-C5DF-6351DB3705D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531" name="슬라이드 노트 개체 틀 2">
            <a:extLst>
              <a:ext uri="{FF2B5EF4-FFF2-40B4-BE49-F238E27FC236}">
                <a16:creationId xmlns:a16="http://schemas.microsoft.com/office/drawing/2014/main" id="{0F7BD1E4-4F7D-5A92-AFCE-801CA5479E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2532" name="슬라이드 번호 개체 틀 3">
            <a:extLst>
              <a:ext uri="{FF2B5EF4-FFF2-40B4-BE49-F238E27FC236}">
                <a16:creationId xmlns:a16="http://schemas.microsoft.com/office/drawing/2014/main" id="{7EEBF37D-3B88-ABD0-E9FE-BFABADDC0C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525AB863-E44E-4205-A785-9866B0AC6BF0}" type="slidenum">
              <a:rPr lang="ko-KR" altLang="en-US"/>
              <a:pPr/>
              <a:t>26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슬라이드 이미지 개체 틀 1">
            <a:extLst>
              <a:ext uri="{FF2B5EF4-FFF2-40B4-BE49-F238E27FC236}">
                <a16:creationId xmlns:a16="http://schemas.microsoft.com/office/drawing/2014/main" id="{5C44EFE4-AFC2-0B2B-AAB1-FED844484E4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4579" name="슬라이드 노트 개체 틀 2">
            <a:extLst>
              <a:ext uri="{FF2B5EF4-FFF2-40B4-BE49-F238E27FC236}">
                <a16:creationId xmlns:a16="http://schemas.microsoft.com/office/drawing/2014/main" id="{B1D37CEE-A535-08B5-25DA-AB99CEA9A5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4580" name="슬라이드 번호 개체 틀 3">
            <a:extLst>
              <a:ext uri="{FF2B5EF4-FFF2-40B4-BE49-F238E27FC236}">
                <a16:creationId xmlns:a16="http://schemas.microsoft.com/office/drawing/2014/main" id="{5BA03011-4BDD-42ED-2110-196615D5D6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2964673A-0750-4371-8BE0-858FF0462EAA}" type="slidenum">
              <a:rPr lang="ko-KR" altLang="en-US"/>
              <a:pPr/>
              <a:t>27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슬라이드 이미지 개체 틀 1">
            <a:extLst>
              <a:ext uri="{FF2B5EF4-FFF2-40B4-BE49-F238E27FC236}">
                <a16:creationId xmlns:a16="http://schemas.microsoft.com/office/drawing/2014/main" id="{38B697C9-0A00-521C-FF3C-417923179C8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6627" name="슬라이드 노트 개체 틀 2">
            <a:extLst>
              <a:ext uri="{FF2B5EF4-FFF2-40B4-BE49-F238E27FC236}">
                <a16:creationId xmlns:a16="http://schemas.microsoft.com/office/drawing/2014/main" id="{443061C7-EE7B-F1AE-8B62-5D03763755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6628" name="슬라이드 번호 개체 틀 3">
            <a:extLst>
              <a:ext uri="{FF2B5EF4-FFF2-40B4-BE49-F238E27FC236}">
                <a16:creationId xmlns:a16="http://schemas.microsoft.com/office/drawing/2014/main" id="{70280628-1B74-5B2B-F693-8C5FB79C9C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CA661FE6-3032-4682-ADE6-30E7CFEA3F46}" type="slidenum">
              <a:rPr lang="ko-KR" altLang="en-US"/>
              <a:pPr/>
              <a:t>28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슬라이드 이미지 개체 틀 1">
            <a:extLst>
              <a:ext uri="{FF2B5EF4-FFF2-40B4-BE49-F238E27FC236}">
                <a16:creationId xmlns:a16="http://schemas.microsoft.com/office/drawing/2014/main" id="{A94F1C6D-FCF5-1BC9-BE16-05C842503B2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8675" name="슬라이드 노트 개체 틀 2">
            <a:extLst>
              <a:ext uri="{FF2B5EF4-FFF2-40B4-BE49-F238E27FC236}">
                <a16:creationId xmlns:a16="http://schemas.microsoft.com/office/drawing/2014/main" id="{3C204725-4398-083F-0190-694980F6CC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8676" name="슬라이드 번호 개체 틀 3">
            <a:extLst>
              <a:ext uri="{FF2B5EF4-FFF2-40B4-BE49-F238E27FC236}">
                <a16:creationId xmlns:a16="http://schemas.microsoft.com/office/drawing/2014/main" id="{63F8EE6E-A89B-FBA2-AA9C-A15924F954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8F4DCF3C-D761-4C93-831D-10D6532F0A74}" type="slidenum">
              <a:rPr lang="ko-KR" altLang="en-US"/>
              <a:pPr/>
              <a:t>29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슬라이드 이미지 개체 틀 1">
            <a:extLst>
              <a:ext uri="{FF2B5EF4-FFF2-40B4-BE49-F238E27FC236}">
                <a16:creationId xmlns:a16="http://schemas.microsoft.com/office/drawing/2014/main" id="{F08442A5-A935-42A2-1012-2C31F68343F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0723" name="슬라이드 노트 개체 틀 2">
            <a:extLst>
              <a:ext uri="{FF2B5EF4-FFF2-40B4-BE49-F238E27FC236}">
                <a16:creationId xmlns:a16="http://schemas.microsoft.com/office/drawing/2014/main" id="{4CB04C7C-AD33-3DAC-D224-D437A06C65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30724" name="슬라이드 번호 개체 틀 3">
            <a:extLst>
              <a:ext uri="{FF2B5EF4-FFF2-40B4-BE49-F238E27FC236}">
                <a16:creationId xmlns:a16="http://schemas.microsoft.com/office/drawing/2014/main" id="{6E87C39E-1F8A-373C-1785-84A5E21094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65287FF8-E08B-4ED8-8558-EA2A6492384D}" type="slidenum">
              <a:rPr lang="ko-KR" altLang="en-US"/>
              <a:pPr/>
              <a:t>30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슬라이드 이미지 개체 틀 1">
            <a:extLst>
              <a:ext uri="{FF2B5EF4-FFF2-40B4-BE49-F238E27FC236}">
                <a16:creationId xmlns:a16="http://schemas.microsoft.com/office/drawing/2014/main" id="{09EC78C4-E7F0-6452-1F0B-0ABCCE81629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2771" name="슬라이드 노트 개체 틀 2">
            <a:extLst>
              <a:ext uri="{FF2B5EF4-FFF2-40B4-BE49-F238E27FC236}">
                <a16:creationId xmlns:a16="http://schemas.microsoft.com/office/drawing/2014/main" id="{1DF1A101-FF64-654A-3CDF-59C50D6E70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32772" name="슬라이드 번호 개체 틀 3">
            <a:extLst>
              <a:ext uri="{FF2B5EF4-FFF2-40B4-BE49-F238E27FC236}">
                <a16:creationId xmlns:a16="http://schemas.microsoft.com/office/drawing/2014/main" id="{35A6962F-E365-6A15-68DD-FE37FABFD7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C7B3AA95-A65F-402C-96AA-6C3605848788}" type="slidenum">
              <a:rPr lang="ko-KR" altLang="en-US"/>
              <a:pPr/>
              <a:t>38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슬라이드 이미지 개체 틀 1">
            <a:extLst>
              <a:ext uri="{FF2B5EF4-FFF2-40B4-BE49-F238E27FC236}">
                <a16:creationId xmlns:a16="http://schemas.microsoft.com/office/drawing/2014/main" id="{09EC78C4-E7F0-6452-1F0B-0ABCCE81629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2771" name="슬라이드 노트 개체 틀 2">
            <a:extLst>
              <a:ext uri="{FF2B5EF4-FFF2-40B4-BE49-F238E27FC236}">
                <a16:creationId xmlns:a16="http://schemas.microsoft.com/office/drawing/2014/main" id="{1DF1A101-FF64-654A-3CDF-59C50D6E70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32772" name="슬라이드 번호 개체 틀 3">
            <a:extLst>
              <a:ext uri="{FF2B5EF4-FFF2-40B4-BE49-F238E27FC236}">
                <a16:creationId xmlns:a16="http://schemas.microsoft.com/office/drawing/2014/main" id="{35A6962F-E365-6A15-68DD-FE37FABFD7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C7B3AA95-A65F-402C-96AA-6C3605848788}" type="slidenum">
              <a:rPr lang="ko-KR" altLang="en-US"/>
              <a:pPr/>
              <a:t>39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8416765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:a16="http://schemas.microsoft.com/office/drawing/2014/main" id="{A56E75A4-72FB-5197-BA20-418CCEB3FCF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4819" name="슬라이드 노트 개체 틀 2">
            <a:extLst>
              <a:ext uri="{FF2B5EF4-FFF2-40B4-BE49-F238E27FC236}">
                <a16:creationId xmlns:a16="http://schemas.microsoft.com/office/drawing/2014/main" id="{E81FFFA0-3A80-CAC0-6482-193E4991E5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:a16="http://schemas.microsoft.com/office/drawing/2014/main" id="{40777919-AFF1-07F0-68FF-C7ED2EA1E1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8C881320-0B83-4218-8243-B4597199D813}" type="slidenum">
              <a:rPr lang="ko-KR" altLang="en-US"/>
              <a:pPr/>
              <a:t>40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슬라이드 이미지 개체 틀 1">
            <a:extLst>
              <a:ext uri="{FF2B5EF4-FFF2-40B4-BE49-F238E27FC236}">
                <a16:creationId xmlns:a16="http://schemas.microsoft.com/office/drawing/2014/main" id="{74A9655C-EC71-CC34-44B9-C1ABB44A437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6867" name="슬라이드 노트 개체 틀 2">
            <a:extLst>
              <a:ext uri="{FF2B5EF4-FFF2-40B4-BE49-F238E27FC236}">
                <a16:creationId xmlns:a16="http://schemas.microsoft.com/office/drawing/2014/main" id="{DCD6B1CB-5E26-BD7B-265A-44EC2B07E8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36868" name="슬라이드 번호 개체 틀 3">
            <a:extLst>
              <a:ext uri="{FF2B5EF4-FFF2-40B4-BE49-F238E27FC236}">
                <a16:creationId xmlns:a16="http://schemas.microsoft.com/office/drawing/2014/main" id="{1F0E7FBE-7369-E2EA-A56C-0D0545D7FE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2712C4A3-1715-4936-8152-9CE848EE51B0}" type="slidenum">
              <a:rPr lang="ko-KR" altLang="en-US"/>
              <a:pPr/>
              <a:t>41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슬라이드 이미지 개체 틀 1">
            <a:extLst>
              <a:ext uri="{FF2B5EF4-FFF2-40B4-BE49-F238E27FC236}">
                <a16:creationId xmlns:a16="http://schemas.microsoft.com/office/drawing/2014/main" id="{52757EDB-9CEE-364C-24AD-1CA7B4BDAB2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8915" name="슬라이드 노트 개체 틀 2">
            <a:extLst>
              <a:ext uri="{FF2B5EF4-FFF2-40B4-BE49-F238E27FC236}">
                <a16:creationId xmlns:a16="http://schemas.microsoft.com/office/drawing/2014/main" id="{1884824A-2423-59C2-EFBB-348F4A4567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38916" name="슬라이드 번호 개체 틀 3">
            <a:extLst>
              <a:ext uri="{FF2B5EF4-FFF2-40B4-BE49-F238E27FC236}">
                <a16:creationId xmlns:a16="http://schemas.microsoft.com/office/drawing/2014/main" id="{960C1D4D-3E08-FD9D-A143-B901479AC6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9ED133DD-42DC-4986-968D-16833B00E30B}" type="slidenum">
              <a:rPr lang="ko-KR" altLang="en-US"/>
              <a:pPr/>
              <a:t>42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슬라이드 이미지 개체 틀 1">
            <a:extLst>
              <a:ext uri="{FF2B5EF4-FFF2-40B4-BE49-F238E27FC236}">
                <a16:creationId xmlns:a16="http://schemas.microsoft.com/office/drawing/2014/main" id="{8B545785-F367-6984-046E-1F5BA269C97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0963" name="슬라이드 노트 개체 틀 2">
            <a:extLst>
              <a:ext uri="{FF2B5EF4-FFF2-40B4-BE49-F238E27FC236}">
                <a16:creationId xmlns:a16="http://schemas.microsoft.com/office/drawing/2014/main" id="{14F28099-9496-DA6D-3036-8705B666F8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40964" name="슬라이드 번호 개체 틀 3">
            <a:extLst>
              <a:ext uri="{FF2B5EF4-FFF2-40B4-BE49-F238E27FC236}">
                <a16:creationId xmlns:a16="http://schemas.microsoft.com/office/drawing/2014/main" id="{81B6DDBF-BC5E-F493-EDC7-7DF761799E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14A1C0DA-1004-4E6E-B96E-0E9A7D0556B2}" type="slidenum">
              <a:rPr lang="ko-KR" altLang="en-US"/>
              <a:pPr/>
              <a:t>43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슬라이드 이미지 개체 틀 1">
            <a:extLst>
              <a:ext uri="{FF2B5EF4-FFF2-40B4-BE49-F238E27FC236}">
                <a16:creationId xmlns:a16="http://schemas.microsoft.com/office/drawing/2014/main" id="{924C926D-2E5C-E518-FFCA-A80E9921249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3011" name="슬라이드 노트 개체 틀 2">
            <a:extLst>
              <a:ext uri="{FF2B5EF4-FFF2-40B4-BE49-F238E27FC236}">
                <a16:creationId xmlns:a16="http://schemas.microsoft.com/office/drawing/2014/main" id="{28355285-8711-4D9D-BDCB-A0814320ED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43012" name="슬라이드 번호 개체 틀 3">
            <a:extLst>
              <a:ext uri="{FF2B5EF4-FFF2-40B4-BE49-F238E27FC236}">
                <a16:creationId xmlns:a16="http://schemas.microsoft.com/office/drawing/2014/main" id="{0B41166F-02C8-4EB8-D5B4-6FF0EE1A72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7C620E0E-600B-4B92-9710-6D15C0348395}" type="slidenum">
              <a:rPr lang="ko-KR" altLang="en-US"/>
              <a:pPr/>
              <a:t>44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슬라이드 이미지 개체 틀 1">
            <a:extLst>
              <a:ext uri="{FF2B5EF4-FFF2-40B4-BE49-F238E27FC236}">
                <a16:creationId xmlns:a16="http://schemas.microsoft.com/office/drawing/2014/main" id="{DA494BA4-7D34-AD47-6D87-CDF421D20C0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5059" name="슬라이드 노트 개체 틀 2">
            <a:extLst>
              <a:ext uri="{FF2B5EF4-FFF2-40B4-BE49-F238E27FC236}">
                <a16:creationId xmlns:a16="http://schemas.microsoft.com/office/drawing/2014/main" id="{E7BC6C79-C21B-E876-7377-7394972E27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45060" name="슬라이드 번호 개체 틀 3">
            <a:extLst>
              <a:ext uri="{FF2B5EF4-FFF2-40B4-BE49-F238E27FC236}">
                <a16:creationId xmlns:a16="http://schemas.microsoft.com/office/drawing/2014/main" id="{6DE05F0A-00E7-B711-9A90-6A4D8D5AAB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DE68B2AD-9DCE-4052-8ADE-DF83E4947B91}" type="slidenum">
              <a:rPr lang="ko-KR" altLang="en-US"/>
              <a:pPr/>
              <a:t>45</a:t>
            </a:fld>
            <a:endParaRPr lang="en-US" altLang="ko-K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lnSpc>
                <a:spcPct val="120000"/>
              </a:lnSpc>
              <a:defRPr sz="360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lnSpc>
                <a:spcPct val="120000"/>
              </a:lnSpc>
              <a:buNone/>
              <a:defRPr sz="28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4AD429-831C-803A-6C60-48C654A0B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BB4974A-E04D-64E4-A422-05D427AF7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Search Algorithms: Object-Oriented Implementation (Part F)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D6C5F6-EB43-EF3C-5554-3A933B65C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F043597-F301-4A28-A791-7958C5558DFA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07176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  <a:noFill/>
          <a:ln cmpd="sng">
            <a:noFill/>
          </a:ln>
        </p:spPr>
        <p:txBody>
          <a:bodyPr/>
          <a:lstStyle>
            <a:lvl1pPr>
              <a:defRPr sz="280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256584"/>
          </a:xfrm>
        </p:spPr>
        <p:txBody>
          <a:bodyPr/>
          <a:lstStyle>
            <a:lvl1pPr marL="288000" indent="-288000">
              <a:lnSpc>
                <a:spcPct val="120000"/>
              </a:lnSpc>
              <a:defRPr sz="2000">
                <a:latin typeface="Arial" pitchFamily="34" charset="0"/>
                <a:cs typeface="Arial" pitchFamily="34" charset="0"/>
              </a:defRPr>
            </a:lvl1pPr>
            <a:lvl2pPr marL="612000">
              <a:lnSpc>
                <a:spcPct val="120000"/>
              </a:lnSpc>
              <a:defRPr sz="2000">
                <a:latin typeface="Arial" pitchFamily="34" charset="0"/>
                <a:cs typeface="Arial" pitchFamily="34" charset="0"/>
              </a:defRPr>
            </a:lvl2pPr>
            <a:lvl3pPr marL="900000" indent="-288000">
              <a:lnSpc>
                <a:spcPct val="120000"/>
              </a:lnSpc>
              <a:buFont typeface="Arial" pitchFamily="34" charset="0"/>
              <a:buChar char="○"/>
              <a:defRPr sz="2000">
                <a:latin typeface="Arial" pitchFamily="34" charset="0"/>
                <a:cs typeface="Arial" pitchFamily="34" charset="0"/>
              </a:defRPr>
            </a:lvl3pPr>
            <a:lvl4pPr marL="1080000">
              <a:lnSpc>
                <a:spcPct val="120000"/>
              </a:lnSpc>
              <a:buFont typeface="Wingdings" pitchFamily="2" charset="2"/>
              <a:buChar char="ü"/>
              <a:defRPr sz="1800">
                <a:latin typeface="Arial" pitchFamily="34" charset="0"/>
                <a:cs typeface="Arial" pitchFamily="34" charset="0"/>
              </a:defRPr>
            </a:lvl4pPr>
            <a:lvl5pPr marL="1332000">
              <a:lnSpc>
                <a:spcPct val="120000"/>
              </a:lnSpc>
              <a:defRPr sz="1800"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바닥글 개체 틀 4">
            <a:extLst>
              <a:ext uri="{FF2B5EF4-FFF2-40B4-BE49-F238E27FC236}">
                <a16:creationId xmlns:a16="http://schemas.microsoft.com/office/drawing/2014/main" id="{AF18C644-4A95-E4DC-F6CF-13EC576D861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051050" y="6356350"/>
            <a:ext cx="5041900" cy="365125"/>
          </a:xfrm>
        </p:spPr>
        <p:txBody>
          <a:bodyPr/>
          <a:lstStyle>
            <a:lvl1pPr>
              <a:defRPr>
                <a:latin typeface="Book Antiqua" pitchFamily="18" charset="0"/>
              </a:defRPr>
            </a:lvl1pPr>
          </a:lstStyle>
          <a:p>
            <a:pPr>
              <a:defRPr/>
            </a:pPr>
            <a:r>
              <a:rPr lang="en-US" altLang="ko-KR"/>
              <a:t>Search Algorithms: Object-Oriented Implementation (Part F)</a:t>
            </a:r>
            <a:endParaRPr lang="ko-KR" altLang="ko-KR"/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8CD254A0-F50D-D3C2-14D6-A316224AA8D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596188" y="6356350"/>
            <a:ext cx="1090612" cy="365125"/>
          </a:xfrm>
        </p:spPr>
        <p:txBody>
          <a:bodyPr/>
          <a:lstStyle>
            <a:lvl1pPr>
              <a:defRPr>
                <a:latin typeface="Book Antiqua" panose="02040602050305030304" pitchFamily="18" charset="0"/>
              </a:defRPr>
            </a:lvl1pPr>
          </a:lstStyle>
          <a:p>
            <a:fld id="{A6C35E29-B6D6-4447-8916-568A2E635AC2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7924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8DA011-4CC8-2B22-F25F-F2172F3B9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BA9A5D3-B154-B24E-5021-81FA79507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Search Algorithms: Object-Oriented Implementation (Part F)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5E747A-9DB6-92BC-50DF-4C17D6411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4DCF62-EC44-41A2-BF10-AA426521A524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17682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7E65B42F-0508-0A81-053F-9DF815216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7208EE82-3FE6-4C5D-378A-90BBB0999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Search Algorithms: Object-Oriented Implementation (Part F)</a:t>
            </a:r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BBC51882-1555-5EC0-A847-98A17B06E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2F6F6B7-2AC6-4BF8-BF7C-32FFAC6A0755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428727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>
            <a:extLst>
              <a:ext uri="{FF2B5EF4-FFF2-40B4-BE49-F238E27FC236}">
                <a16:creationId xmlns:a16="http://schemas.microsoft.com/office/drawing/2014/main" id="{AE4B0B86-04B4-FD93-123A-A13C5DFB6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바닥글 개체 틀 4">
            <a:extLst>
              <a:ext uri="{FF2B5EF4-FFF2-40B4-BE49-F238E27FC236}">
                <a16:creationId xmlns:a16="http://schemas.microsoft.com/office/drawing/2014/main" id="{E2BA38FC-B63A-89F8-6BCF-4D1AC6BE4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Search Algorithms: Object-Oriented Implementation (Part F)</a:t>
            </a:r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3E180B95-E888-B19D-B128-30571533A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25E8EBE-98E2-47AD-9C8D-6A3466436987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464560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>
            <a:extLst>
              <a:ext uri="{FF2B5EF4-FFF2-40B4-BE49-F238E27FC236}">
                <a16:creationId xmlns:a16="http://schemas.microsoft.com/office/drawing/2014/main" id="{42F9BD4C-47DB-C727-9A54-01DE3E85A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바닥글 개체 틀 4">
            <a:extLst>
              <a:ext uri="{FF2B5EF4-FFF2-40B4-BE49-F238E27FC236}">
                <a16:creationId xmlns:a16="http://schemas.microsoft.com/office/drawing/2014/main" id="{698D176E-94D6-E0F8-EE9A-EE7E2DEFE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Search Algorithms: Object-Oriented Implementation (Part F)</a:t>
            </a:r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C8F38455-E38D-3679-5426-7F0198686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D8E5F28-8A3E-4408-9E35-B3E1254EA4AB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740548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E7E20B20-9484-81C6-6332-FBECD7DF1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바닥글 개체 틀 4">
            <a:extLst>
              <a:ext uri="{FF2B5EF4-FFF2-40B4-BE49-F238E27FC236}">
                <a16:creationId xmlns:a16="http://schemas.microsoft.com/office/drawing/2014/main" id="{1265AB89-A6BF-ECEE-F686-23D7EE972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Search Algorithms: Object-Oriented Implementation (Part F)</a:t>
            </a:r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EF827C40-ED9C-A8D3-C254-083A27A5F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5EA1CA9-1FC5-41F5-B324-1587BCF8AF6E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110194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F2A76414-EA31-0B87-6DCA-EB8DA9913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CE95A557-126D-3346-D5BA-832D72658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Search Algorithms: Object-Oriented Implementation (Part F)</a:t>
            </a:r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8858F71F-D830-156F-2FB9-C5F7004B2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02EACF-88C6-4B27-BBDE-C5C91151F783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114901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B57BC4F1-3E81-FBF2-E9EF-918D6F29A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C478EE49-7782-5248-AA3A-0A2C0AEB5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Search Algorithms: Object-Oriented Implementation (Part F)</a:t>
            </a:r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41AFE7ED-1C49-08DE-75B3-E166D1283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CB6AD1-DE3F-4ECA-81FE-AD32636CD20F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893112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AFCE19-9163-5B3B-372A-AA9D94FC1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762A98F-716F-79B8-1F71-86C1B7A20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Search Algorithms: Object-Oriented Implementation (Part F)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DC253E-DA5C-CB83-DA6C-52A0DBFD2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0957214-A016-4897-B520-8EAA41D65D5E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70835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C00CB57-17F3-FB38-0829-53D4B61D4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4E4D88-3F83-6B44-AF7C-4B78EFBE8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Search Algorithms: Object-Oriented Implementation (Part F)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406A33-9982-42AD-1794-CB9EF45CE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3D115DB-D8AA-46E4-95B2-88F2ADC49B27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00227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>
            <a:extLst>
              <a:ext uri="{FF2B5EF4-FFF2-40B4-BE49-F238E27FC236}">
                <a16:creationId xmlns:a16="http://schemas.microsoft.com/office/drawing/2014/main" id="{FD083584-610A-7DBA-9C2F-6E1704F3CCD9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7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>
            <a:extLst>
              <a:ext uri="{FF2B5EF4-FFF2-40B4-BE49-F238E27FC236}">
                <a16:creationId xmlns:a16="http://schemas.microsoft.com/office/drawing/2014/main" id="{8C23007E-F28E-8E26-807D-C7A48E2AD47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196975"/>
            <a:ext cx="8229600" cy="4929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E81739-5DEC-2567-AE40-692DC167C8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latinLnBrk="1" hangingPunct="1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3762CBD-7510-A3A6-E7E2-E6A7505463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latinLnBrk="1" hangingPunct="1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ko-KR"/>
              <a:t>Search Algorithms: Object-Oriented Implementation (Part F)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A72058B-99CF-EF10-AF5B-BE95261B9B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>
                <a:solidFill>
                  <a:srgbClr val="898989"/>
                </a:solidFill>
              </a:defRPr>
            </a:lvl1pPr>
          </a:lstStyle>
          <a:p>
            <a:fld id="{78B87347-5E87-4839-9627-D649004396CC}" type="slidenum">
              <a:rPr lang="ko-KR" altLang="en-US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788" r:id="rId1"/>
    <p:sldLayoutId id="2147485798" r:id="rId2"/>
    <p:sldLayoutId id="2147485789" r:id="rId3"/>
    <p:sldLayoutId id="2147485790" r:id="rId4"/>
    <p:sldLayoutId id="2147485791" r:id="rId5"/>
    <p:sldLayoutId id="2147485792" r:id="rId6"/>
    <p:sldLayoutId id="2147485793" r:id="rId7"/>
    <p:sldLayoutId id="2147485794" r:id="rId8"/>
    <p:sldLayoutId id="2147485795" r:id="rId9"/>
    <p:sldLayoutId id="2147485796" r:id="rId10"/>
    <p:sldLayoutId id="2147485797" r:id="rId11"/>
  </p:sldLayoutIdLst>
  <p:hf hd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3200" kern="120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cs typeface="Arial" charset="0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cs typeface="Arial" charset="0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cs typeface="Arial" charset="0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cs typeface="Arial" charset="0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9pPr>
    </p:titleStyle>
    <p:bodyStyle>
      <a:lvl1pPr marL="342900" indent="-3429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7.w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w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jpeg"/><Relationship Id="rId4" Type="http://schemas.openxmlformats.org/officeDocument/2006/relationships/image" Target="../media/image24.w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wmf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9C92144B-5E9D-CC2A-00BF-356821C88ED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95288" y="1844675"/>
            <a:ext cx="8353425" cy="2016125"/>
          </a:xfrm>
        </p:spPr>
        <p:txBody>
          <a:bodyPr/>
          <a:lstStyle/>
          <a:p>
            <a:pPr eaLnBrk="1" hangingPunct="1"/>
            <a:r>
              <a:rPr lang="en-US" altLang="ko-KR">
                <a:solidFill>
                  <a:srgbClr val="7882AA"/>
                </a:solidFill>
              </a:rPr>
              <a:t>Search Algorithms: Object-Oriented Implementation (Part F)</a:t>
            </a:r>
            <a:endParaRPr lang="ko-KR" altLang="en-US">
              <a:solidFill>
                <a:srgbClr val="7882AA"/>
              </a:solidFill>
            </a:endParaRP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89117757-56BD-224B-B1C3-4F5DE6B0F9F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071563" y="4149725"/>
            <a:ext cx="7143750" cy="1366838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endParaRPr lang="en-US" altLang="ko-KR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">
            <a:extLst>
              <a:ext uri="{FF2B5EF4-FFF2-40B4-BE49-F238E27FC236}">
                <a16:creationId xmlns:a16="http://schemas.microsoft.com/office/drawing/2014/main" id="{9BE6BF8B-87EB-2751-FC5F-9F7E59FA4A23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>
          <a:xfrm>
            <a:off x="457200" y="981075"/>
            <a:ext cx="8229600" cy="5256213"/>
          </a:xfrm>
        </p:spPr>
        <p:txBody>
          <a:bodyPr/>
          <a:lstStyle/>
          <a:p>
            <a:pPr marL="287338" indent="-287338"/>
            <a:r>
              <a:rPr lang="en-US" altLang="ko-KR" sz="2400" dirty="0">
                <a:solidFill>
                  <a:srgbClr val="99CCFF"/>
                </a:solidFill>
              </a:rPr>
              <a:t>Conventional vs. AI Algorithms</a:t>
            </a:r>
          </a:p>
          <a:p>
            <a:pPr marL="287338" indent="-287338"/>
            <a:r>
              <a:rPr lang="en-US" altLang="ko-KR" sz="2400" dirty="0">
                <a:solidFill>
                  <a:srgbClr val="99CCFF"/>
                </a:solidFill>
              </a:rPr>
              <a:t>Local Search Algorithms</a:t>
            </a:r>
          </a:p>
          <a:p>
            <a:pPr marL="287338" indent="-287338"/>
            <a:r>
              <a:rPr lang="en-US" altLang="ko-KR" sz="2400" dirty="0">
                <a:solidFill>
                  <a:srgbClr val="99CCFF"/>
                </a:solidFill>
              </a:rPr>
              <a:t>Implementing Hill-Climbing Algorithms</a:t>
            </a:r>
          </a:p>
          <a:p>
            <a:pPr marL="287338" indent="-287338"/>
            <a:r>
              <a:rPr lang="en-US" altLang="ko-KR" sz="2400" dirty="0">
                <a:solidFill>
                  <a:srgbClr val="99CCFF"/>
                </a:solidFill>
              </a:rPr>
              <a:t>Defining ‘Problem’ Class</a:t>
            </a:r>
          </a:p>
          <a:p>
            <a:pPr marL="287338" indent="-287338"/>
            <a:r>
              <a:rPr lang="en-US" altLang="ko-KR" sz="2400" dirty="0">
                <a:solidFill>
                  <a:srgbClr val="99CCFF"/>
                </a:solidFill>
              </a:rPr>
              <a:t>Adding Gradient Descent</a:t>
            </a:r>
          </a:p>
          <a:p>
            <a:pPr marL="287338" indent="-287338"/>
            <a:r>
              <a:rPr lang="en-US" altLang="ko-KR" sz="2400" dirty="0">
                <a:solidFill>
                  <a:srgbClr val="99CCFF"/>
                </a:solidFill>
              </a:rPr>
              <a:t>Defining ‘</a:t>
            </a:r>
            <a:r>
              <a:rPr lang="en-US" altLang="ko-KR" sz="2400" dirty="0" err="1">
                <a:solidFill>
                  <a:srgbClr val="99CCFF"/>
                </a:solidFill>
              </a:rPr>
              <a:t>HillClimbing</a:t>
            </a:r>
            <a:r>
              <a:rPr lang="en-US" altLang="ko-KR" sz="2400" dirty="0">
                <a:solidFill>
                  <a:srgbClr val="99CCFF"/>
                </a:solidFill>
              </a:rPr>
              <a:t>’ Class</a:t>
            </a:r>
          </a:p>
          <a:p>
            <a:pPr marL="287338" indent="-287338"/>
            <a:r>
              <a:rPr lang="en-US" altLang="ko-KR" sz="2400" dirty="0">
                <a:solidFill>
                  <a:srgbClr val="99CCFF"/>
                </a:solidFill>
              </a:rPr>
              <a:t>Adding More Algorithms and Classes</a:t>
            </a:r>
          </a:p>
          <a:p>
            <a:pPr marL="287338" indent="-287338"/>
            <a:r>
              <a:rPr lang="en-US" altLang="ko-KR" sz="2400" dirty="0">
                <a:solidFill>
                  <a:srgbClr val="0033CC"/>
                </a:solidFill>
              </a:rPr>
              <a:t>Genetic Algorithm</a:t>
            </a:r>
            <a:endParaRPr lang="en-US" altLang="ko-KR" sz="2400" dirty="0">
              <a:solidFill>
                <a:srgbClr val="99CCFF"/>
              </a:solidFill>
            </a:endParaRPr>
          </a:p>
          <a:p>
            <a:pPr marL="287338" indent="-287338"/>
            <a:r>
              <a:rPr lang="en-US" altLang="ko-KR" sz="2400" dirty="0">
                <a:solidFill>
                  <a:srgbClr val="0033CC"/>
                </a:solidFill>
              </a:rPr>
              <a:t>Adding Genetic Algorithm</a:t>
            </a:r>
          </a:p>
          <a:p>
            <a:pPr marL="287338" indent="-287338"/>
            <a:r>
              <a:rPr lang="en-US" altLang="ko-KR" sz="2400" dirty="0">
                <a:solidFill>
                  <a:srgbClr val="0033CC"/>
                </a:solidFill>
              </a:rPr>
              <a:t>Experiments</a:t>
            </a: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FD98790E-2850-09CF-61E6-1693B6B304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r>
              <a:rPr lang="en-US" altLang="ko-KR">
                <a:solidFill>
                  <a:srgbClr val="7882AA"/>
                </a:solidFill>
              </a:rPr>
              <a:t>Contents</a:t>
            </a:r>
          </a:p>
        </p:txBody>
      </p:sp>
      <p:sp>
        <p:nvSpPr>
          <p:cNvPr id="18434" name="바닥글 개체 틀 4">
            <a:extLst>
              <a:ext uri="{FF2B5EF4-FFF2-40B4-BE49-F238E27FC236}">
                <a16:creationId xmlns:a16="http://schemas.microsoft.com/office/drawing/2014/main" id="{77CB1C9D-DBE8-9BC9-9118-1EF2185FABC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/>
              <a:t>Search Algorithms: Object-Oriented Implementation (Part F)</a:t>
            </a:r>
            <a:endParaRPr lang="ko-KR" altLang="ko-KR" dirty="0"/>
          </a:p>
        </p:txBody>
      </p:sp>
      <p:sp>
        <p:nvSpPr>
          <p:cNvPr id="7173" name="슬라이드 번호 개체 틀 1">
            <a:extLst>
              <a:ext uri="{FF2B5EF4-FFF2-40B4-BE49-F238E27FC236}">
                <a16:creationId xmlns:a16="http://schemas.microsoft.com/office/drawing/2014/main" id="{8FF1F7A0-1A1D-45A7-6A3D-D29765F4474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A1BF25DE-A45F-429D-A5DB-115BCA1A3F90}" type="slidenum">
              <a:rPr lang="ko-KR" altLang="en-US" sz="1200">
                <a:solidFill>
                  <a:srgbClr val="898989"/>
                </a:solidFill>
                <a:latin typeface="Book Antiqua" panose="02040602050305030304" pitchFamily="18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</a:t>
            </a:fld>
            <a:endParaRPr lang="en-US" altLang="ko-KR" sz="1200">
              <a:solidFill>
                <a:srgbClr val="898989"/>
              </a:solidFill>
              <a:latin typeface="Book Antiqua" panose="0204060205030503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FCC81538-D466-4F51-AB69-61B55AA12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dirty="0"/>
              <a:t>Genetic Algorithm  (GA)</a:t>
            </a:r>
            <a:endParaRPr lang="ko-KR" altLang="en-US" sz="360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29CCB2B0-4CF3-4ADC-B4EB-6B58F4D5AF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유전 알고리즘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5F87F51-8BBB-469E-A889-D411EDE94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Search Algorithms: Object-Oriented Implementation (Part F)</a:t>
            </a:r>
            <a:endParaRPr lang="ko-KR" altLang="ko-KR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7C3352E-BFDE-4A1A-8398-0DAA28718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35E29-B6D6-4447-8916-568A2E635AC2}" type="slidenum">
              <a:rPr lang="ko-KR" altLang="en-US" smtClean="0"/>
              <a:pPr/>
              <a:t>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971158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3">
            <a:extLst>
              <a:ext uri="{FF2B5EF4-FFF2-40B4-BE49-F238E27FC236}">
                <a16:creationId xmlns:a16="http://schemas.microsoft.com/office/drawing/2014/main" id="{C89E331A-49CE-4B03-8EE4-E67BBC4F41FE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>
          <a:xfrm>
            <a:off x="457200" y="981075"/>
            <a:ext cx="8229600" cy="5256213"/>
          </a:xfrm>
        </p:spPr>
        <p:txBody>
          <a:bodyPr/>
          <a:lstStyle/>
          <a:p>
            <a:pPr marL="287188" algn="just" latinLnBrk="0"/>
            <a:r>
              <a:rPr lang="en-US" altLang="ko-KR" sz="18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Genetic Algorithm, GA(</a:t>
            </a:r>
            <a:r>
              <a:rPr lang="ko-KR" altLang="en-US" sz="18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유전</a:t>
            </a:r>
            <a:r>
              <a:rPr lang="en-US" altLang="ko-KR" sz="18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</a:t>
            </a:r>
            <a:r>
              <a:rPr lang="ko-KR" altLang="en-US" sz="18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알고리즘</a:t>
            </a:r>
            <a:r>
              <a:rPr lang="en-US" altLang="ko-KR" sz="18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)</a:t>
            </a:r>
          </a:p>
          <a:p>
            <a:pPr marL="611188" lvl="1" algn="just" latinLnBrk="0"/>
            <a:r>
              <a:rPr lang="en-US" sz="1600" dirty="0"/>
              <a:t>A </a:t>
            </a:r>
            <a:r>
              <a:rPr lang="en-US" sz="1600" b="1" dirty="0"/>
              <a:t>computational model</a:t>
            </a:r>
            <a:r>
              <a:rPr lang="en-US" sz="1600" dirty="0"/>
              <a:t> based on the </a:t>
            </a:r>
            <a:r>
              <a:rPr lang="en-US" sz="1600" b="1" dirty="0"/>
              <a:t>evolutionary process</a:t>
            </a:r>
            <a:r>
              <a:rPr lang="en-US" sz="1600" dirty="0"/>
              <a:t> and </a:t>
            </a:r>
            <a:r>
              <a:rPr lang="en-US" sz="1600" b="1" dirty="0"/>
              <a:t>genetic laws</a:t>
            </a:r>
            <a:r>
              <a:rPr lang="en-US" sz="1600" dirty="0"/>
              <a:t> of the natural world, developed by </a:t>
            </a:r>
            <a:r>
              <a:rPr lang="en-US" sz="1600" b="1" dirty="0"/>
              <a:t>John Holland</a:t>
            </a:r>
            <a:r>
              <a:rPr lang="en-US" sz="1600" dirty="0"/>
              <a:t> in </a:t>
            </a:r>
            <a:r>
              <a:rPr lang="en-US" sz="1600" b="1" dirty="0"/>
              <a:t>1975</a:t>
            </a:r>
            <a:r>
              <a:rPr lang="en-US" sz="1600" dirty="0"/>
              <a:t> as a </a:t>
            </a:r>
            <a:r>
              <a:rPr lang="en-US" sz="1600" b="1" dirty="0"/>
              <a:t>Global Optimization Method</a:t>
            </a:r>
            <a:r>
              <a:rPr lang="en-US" sz="1600" dirty="0"/>
              <a:t>.</a:t>
            </a:r>
            <a:endParaRPr lang="en-US" altLang="ko-KR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marL="611188" lvl="1" algn="just" latinLnBrk="0"/>
            <a:endParaRPr lang="en-US" altLang="ko-KR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marL="611188" lvl="1" algn="just" latinLnBrk="0"/>
            <a:r>
              <a:rPr lang="en-US" sz="1600" dirty="0"/>
              <a:t>It is a representative technique of evolutionary computation that mimics the evolution of living organisms, borrowing many elements from the actual process of evolution. Concepts like </a:t>
            </a:r>
            <a:r>
              <a:rPr lang="en-US" sz="1600" b="1" dirty="0"/>
              <a:t>mutation, crossover (recombination) operation, generation, and population</a:t>
            </a:r>
            <a:r>
              <a:rPr lang="en-US" sz="1600" dirty="0"/>
              <a:t> are used in the problem-solving process.</a:t>
            </a:r>
            <a:endParaRPr lang="en-US" altLang="ko-KR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marL="611188" lvl="1" algn="just" latinLnBrk="0"/>
            <a:endParaRPr lang="en-US" altLang="ko-KR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marL="611188" lvl="1" algn="just" latinLnBrk="0"/>
            <a:r>
              <a:rPr lang="en-US" sz="1600" dirty="0"/>
              <a:t>When a problem is too complex to be computationally feasible (NP-hard, etc.), the Genetic Algorithm can be used to obtain a solution close to the optimal solution, even if the true optimal solution cannot be found.</a:t>
            </a:r>
            <a:endParaRPr lang="en-US" altLang="ko-KR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4C2855E4-53CD-40D1-BB46-6A82B80335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r>
              <a:rPr lang="en-US" altLang="ko-KR" dirty="0">
                <a:solidFill>
                  <a:srgbClr val="0033CC"/>
                </a:solidFill>
              </a:rPr>
              <a:t>Genetic Algorithm</a:t>
            </a:r>
          </a:p>
        </p:txBody>
      </p:sp>
      <p:sp>
        <p:nvSpPr>
          <p:cNvPr id="18434" name="바닥글 개체 틀 4">
            <a:extLst>
              <a:ext uri="{FF2B5EF4-FFF2-40B4-BE49-F238E27FC236}">
                <a16:creationId xmlns:a16="http://schemas.microsoft.com/office/drawing/2014/main" id="{B1BBBE0E-FE88-4B83-8E92-9828B2728BC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Search Algorithms: Object-Oriented Implementation (Part F)</a:t>
            </a:r>
            <a:endParaRPr lang="ko-KR" altLang="ko-KR"/>
          </a:p>
        </p:txBody>
      </p:sp>
      <p:sp>
        <p:nvSpPr>
          <p:cNvPr id="29701" name="슬라이드 번호 개체 틀 1">
            <a:extLst>
              <a:ext uri="{FF2B5EF4-FFF2-40B4-BE49-F238E27FC236}">
                <a16:creationId xmlns:a16="http://schemas.microsoft.com/office/drawing/2014/main" id="{9E66F34F-7449-4CAA-9C27-C0BC6CC501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9EF3BE1B-E43C-446A-A369-8CA4B3473669}" type="slidenum">
              <a:rPr lang="ko-KR" altLang="en-US" sz="1200">
                <a:solidFill>
                  <a:srgbClr val="898989"/>
                </a:solidFill>
                <a:latin typeface="Book Antiqua" panose="02040602050305030304" pitchFamily="18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4</a:t>
            </a:fld>
            <a:endParaRPr lang="en-US" altLang="ko-KR" sz="1200">
              <a:solidFill>
                <a:srgbClr val="898989"/>
              </a:solidFill>
              <a:latin typeface="Book Antiqua" panose="0204060205030503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0F8A3C-B928-4680-ADD4-4BB5B0117F81}"/>
              </a:ext>
            </a:extLst>
          </p:cNvPr>
          <p:cNvSpPr txBox="1"/>
          <p:nvPr/>
        </p:nvSpPr>
        <p:spPr>
          <a:xfrm>
            <a:off x="25638" y="6625093"/>
            <a:ext cx="4572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dirty="0"/>
              <a:t>https://ko.wikipedia.org/wiki/유전</a:t>
            </a:r>
            <a:r>
              <a:rPr lang="en-US" altLang="ko-KR" sz="800" dirty="0"/>
              <a:t>_</a:t>
            </a:r>
            <a:r>
              <a:rPr lang="ko-KR" altLang="en-US" sz="800" dirty="0"/>
              <a:t>알고리즘</a:t>
            </a:r>
          </a:p>
        </p:txBody>
      </p:sp>
    </p:spTree>
    <p:extLst>
      <p:ext uri="{BB962C8B-B14F-4D97-AF65-F5344CB8AC3E}">
        <p14:creationId xmlns:p14="http://schemas.microsoft.com/office/powerpoint/2010/main" val="188434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3">
            <a:extLst>
              <a:ext uri="{FF2B5EF4-FFF2-40B4-BE49-F238E27FC236}">
                <a16:creationId xmlns:a16="http://schemas.microsoft.com/office/drawing/2014/main" id="{C89E331A-49CE-4B03-8EE4-E67BBC4F41FE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>
          <a:xfrm>
            <a:off x="457200" y="981075"/>
            <a:ext cx="8229600" cy="5256213"/>
          </a:xfrm>
        </p:spPr>
        <p:txBody>
          <a:bodyPr/>
          <a:lstStyle/>
          <a:p>
            <a:pPr marL="287338" indent="-287338" eaLnBrk="1" hangingPunct="1"/>
            <a:r>
              <a:rPr lang="en-US" altLang="ko-KR" sz="1800" dirty="0"/>
              <a:t>Starts with a </a:t>
            </a:r>
            <a:r>
              <a:rPr lang="en-US" altLang="ko-KR" sz="1800" dirty="0">
                <a:solidFill>
                  <a:srgbClr val="FF0000"/>
                </a:solidFill>
              </a:rPr>
              <a:t>population</a:t>
            </a:r>
            <a:r>
              <a:rPr lang="en-US" altLang="ko-KR" sz="1800" dirty="0"/>
              <a:t> of individuals</a:t>
            </a:r>
            <a:r>
              <a:rPr lang="en-US" altLang="ko-KR" sz="1800" dirty="0">
                <a:solidFill>
                  <a:srgbClr val="0033CC"/>
                </a:solidFill>
              </a:rPr>
              <a:t> </a:t>
            </a:r>
            <a:r>
              <a:rPr lang="en-US" altLang="ko-KR" sz="1800" dirty="0"/>
              <a:t>(</a:t>
            </a:r>
            <a:r>
              <a:rPr lang="ko-KR" altLang="en-US" sz="1800" dirty="0">
                <a:solidFill>
                  <a:srgbClr val="FF0000"/>
                </a:solidFill>
              </a:rPr>
              <a:t>다수</a:t>
            </a:r>
            <a:r>
              <a:rPr lang="ko-KR" altLang="en-US" sz="1800" dirty="0"/>
              <a:t>의 개별 솔루션으로 시작</a:t>
            </a:r>
            <a:r>
              <a:rPr lang="en-US" altLang="ko-KR" sz="1800" dirty="0"/>
              <a:t>)</a:t>
            </a:r>
            <a:endParaRPr lang="en-US" altLang="ko-KR" sz="1800" b="1" dirty="0"/>
          </a:p>
          <a:p>
            <a:pPr marL="611188" lvl="1" eaLnBrk="1" hangingPunct="1"/>
            <a:r>
              <a:rPr lang="en-US" altLang="ko-KR" sz="1600" dirty="0"/>
              <a:t>Each individual (state=</a:t>
            </a:r>
            <a:r>
              <a:rPr lang="ko-KR" altLang="en-US" sz="1600" dirty="0"/>
              <a:t>솔루션</a:t>
            </a:r>
            <a:r>
              <a:rPr lang="en-US" altLang="ko-KR" sz="1600" dirty="0"/>
              <a:t>) is represented as a string over a finite alphabet (called chromosome, </a:t>
            </a:r>
            <a:r>
              <a:rPr lang="ko-KR" altLang="en-US" sz="1600" dirty="0"/>
              <a:t>염색체</a:t>
            </a:r>
            <a:r>
              <a:rPr lang="en-US" altLang="ko-KR" sz="1600" dirty="0"/>
              <a:t>)</a:t>
            </a:r>
            <a:r>
              <a:rPr lang="ko-KR" altLang="ko-KR" sz="1600" dirty="0">
                <a:sym typeface="Symbol" panose="05050102010706020507" pitchFamily="18" charset="2"/>
              </a:rPr>
              <a:t>—</a:t>
            </a:r>
            <a:r>
              <a:rPr lang="en-US" altLang="ko-KR" sz="1600" dirty="0"/>
              <a:t>most commonly, </a:t>
            </a:r>
            <a:r>
              <a:rPr lang="en-US" altLang="ko-KR" sz="1600" u="sng" dirty="0"/>
              <a:t>a string of </a:t>
            </a:r>
            <a:r>
              <a:rPr lang="en-US" altLang="ko-KR" sz="1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ko-KR" sz="1600" u="sng" dirty="0"/>
              <a:t>s and </a:t>
            </a:r>
            <a:r>
              <a:rPr lang="en-US" altLang="ko-KR" sz="1600" u="sng" dirty="0">
                <a:latin typeface="Times New Roman" panose="02020603050405020304" pitchFamily="18" charset="0"/>
              </a:rPr>
              <a:t>1</a:t>
            </a:r>
            <a:r>
              <a:rPr lang="en-US" altLang="ko-KR" sz="1600" u="sng" dirty="0"/>
              <a:t>s (binary)</a:t>
            </a:r>
          </a:p>
          <a:p>
            <a:pPr marL="611188" lvl="1" eaLnBrk="1" hangingPunct="1"/>
            <a:endParaRPr lang="en-US" altLang="ko-KR" sz="1600" u="sng" dirty="0"/>
          </a:p>
          <a:p>
            <a:pPr marL="611188" lvl="1" eaLnBrk="1" hangingPunct="1"/>
            <a:endParaRPr lang="en-US" altLang="ko-KR" sz="1600" u="sng" dirty="0"/>
          </a:p>
          <a:p>
            <a:pPr marL="611188" lvl="1" eaLnBrk="1" hangingPunct="1"/>
            <a:endParaRPr lang="en-US" altLang="ko-KR" sz="1600" u="sng" dirty="0"/>
          </a:p>
          <a:p>
            <a:pPr marL="611188" lvl="1" eaLnBrk="1" hangingPunct="1"/>
            <a:endParaRPr lang="en-US" altLang="ko-KR" sz="1600" u="sng" dirty="0"/>
          </a:p>
          <a:p>
            <a:pPr marL="611188" lvl="1" eaLnBrk="1" hangingPunct="1"/>
            <a:endParaRPr lang="en-US" altLang="ko-KR" sz="1600" u="sng" dirty="0"/>
          </a:p>
          <a:p>
            <a:pPr marL="611188" lvl="1" eaLnBrk="1" hangingPunct="1"/>
            <a:endParaRPr lang="en-US" altLang="ko-KR" sz="1600" u="sng" dirty="0"/>
          </a:p>
          <a:p>
            <a:pPr marL="611188" lvl="1" eaLnBrk="1" hangingPunct="1"/>
            <a:r>
              <a:rPr lang="en-US" sz="1600" dirty="0"/>
              <a:t>The method predominantly used to represent each Individual (state = solution) is </a:t>
            </a:r>
            <a:r>
              <a:rPr lang="en-US" sz="1600" b="1" dirty="0"/>
              <a:t>a string of 0s and 1s (binary)</a:t>
            </a:r>
            <a:r>
              <a:rPr lang="en-US" sz="1600" dirty="0"/>
              <a:t> (to be explained later).</a:t>
            </a:r>
            <a:endParaRPr lang="en-US" altLang="ko-KR" sz="1600" dirty="0"/>
          </a:p>
          <a:p>
            <a:pPr marL="287338" indent="-287338" eaLnBrk="1" hangingPunct="1"/>
            <a:endParaRPr lang="en-US" altLang="ko-KR" sz="1800" dirty="0"/>
          </a:p>
          <a:p>
            <a:pPr marL="287338" indent="-287338" eaLnBrk="1" hangingPunct="1"/>
            <a:endParaRPr lang="en-US" altLang="ko-KR" sz="1800" dirty="0"/>
          </a:p>
          <a:p>
            <a:pPr marL="287338" indent="-287338" eaLnBrk="1" hangingPunct="1"/>
            <a:endParaRPr lang="en-US" altLang="ko-KR" sz="1800" dirty="0"/>
          </a:p>
          <a:p>
            <a:pPr marL="287338" indent="-287338" eaLnBrk="1" hangingPunct="1"/>
            <a:endParaRPr lang="en-US" altLang="ko-KR" sz="1800" dirty="0"/>
          </a:p>
          <a:p>
            <a:pPr marL="287338" indent="-287338" eaLnBrk="1" hangingPunct="1"/>
            <a:endParaRPr lang="en-US" altLang="ko-KR" sz="1800" dirty="0"/>
          </a:p>
          <a:p>
            <a:pPr marL="611188" lvl="1"/>
            <a:endParaRPr lang="en-US" altLang="ko-KR" sz="1800" dirty="0"/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4C2855E4-53CD-40D1-BB46-6A82B80335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r>
              <a:rPr lang="en-US" altLang="ko-KR">
                <a:solidFill>
                  <a:srgbClr val="0033CC"/>
                </a:solidFill>
              </a:rPr>
              <a:t>Genetic Algorithm</a:t>
            </a:r>
          </a:p>
        </p:txBody>
      </p:sp>
      <p:sp>
        <p:nvSpPr>
          <p:cNvPr id="18434" name="바닥글 개체 틀 4">
            <a:extLst>
              <a:ext uri="{FF2B5EF4-FFF2-40B4-BE49-F238E27FC236}">
                <a16:creationId xmlns:a16="http://schemas.microsoft.com/office/drawing/2014/main" id="{B1BBBE0E-FE88-4B83-8E92-9828B2728BC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Search Algorithms: Object-Oriented Implementation (Part F)</a:t>
            </a:r>
            <a:endParaRPr lang="ko-KR" altLang="ko-KR"/>
          </a:p>
        </p:txBody>
      </p:sp>
      <p:sp>
        <p:nvSpPr>
          <p:cNvPr id="29701" name="슬라이드 번호 개체 틀 1">
            <a:extLst>
              <a:ext uri="{FF2B5EF4-FFF2-40B4-BE49-F238E27FC236}">
                <a16:creationId xmlns:a16="http://schemas.microsoft.com/office/drawing/2014/main" id="{9E66F34F-7449-4CAA-9C27-C0BC6CC501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9EF3BE1B-E43C-446A-A369-8CA4B3473669}" type="slidenum">
              <a:rPr lang="ko-KR" altLang="en-US" sz="1200">
                <a:solidFill>
                  <a:srgbClr val="898989"/>
                </a:solidFill>
                <a:latin typeface="Book Antiqua" panose="02040602050305030304" pitchFamily="18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5</a:t>
            </a:fld>
            <a:endParaRPr lang="en-US" altLang="ko-KR" sz="1200">
              <a:solidFill>
                <a:srgbClr val="898989"/>
              </a:solidFill>
              <a:latin typeface="Book Antiqua" panose="02040602050305030304" pitchFamily="18" charset="0"/>
            </a:endParaRP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09B0FF7A-1672-4860-B601-D04D9E5771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7560" y="2124554"/>
            <a:ext cx="1577975" cy="158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7" name="Group 66">
            <a:extLst>
              <a:ext uri="{FF2B5EF4-FFF2-40B4-BE49-F238E27FC236}">
                <a16:creationId xmlns:a16="http://schemas.microsoft.com/office/drawing/2014/main" id="{5C9B5141-4F0A-448D-A1EF-C586191E5C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2222206"/>
              </p:ext>
            </p:extLst>
          </p:nvPr>
        </p:nvGraphicFramePr>
        <p:xfrm>
          <a:off x="2051720" y="2667779"/>
          <a:ext cx="2760664" cy="360362"/>
        </p:xfrm>
        <a:graphic>
          <a:graphicData uri="http://schemas.openxmlformats.org/drawingml/2006/table">
            <a:tbl>
              <a:tblPr/>
              <a:tblGrid>
                <a:gridCol w="3452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2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42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52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452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520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4520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4520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3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pitchFamily="50" charset="-127"/>
                          <a:cs typeface="Arial" charset="0"/>
                        </a:rPr>
                        <a:t>1</a:t>
                      </a:r>
                    </a:p>
                  </a:txBody>
                  <a:tcPr marL="90000" marR="90000" marT="46842" marB="4684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pitchFamily="50" charset="-127"/>
                          <a:cs typeface="Arial" charset="0"/>
                        </a:rPr>
                        <a:t>3</a:t>
                      </a:r>
                    </a:p>
                  </a:txBody>
                  <a:tcPr marL="90000" marR="90000" marT="46842" marB="4684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pitchFamily="50" charset="-127"/>
                          <a:cs typeface="Arial" charset="0"/>
                        </a:rPr>
                        <a:t>5</a:t>
                      </a:r>
                    </a:p>
                  </a:txBody>
                  <a:tcPr marL="90000" marR="90000" marT="46842" marB="4684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pitchFamily="50" charset="-127"/>
                          <a:cs typeface="Arial" charset="0"/>
                        </a:rPr>
                        <a:t>7</a:t>
                      </a:r>
                    </a:p>
                  </a:txBody>
                  <a:tcPr marL="90000" marR="90000" marT="46842" marB="4684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pitchFamily="50" charset="-127"/>
                          <a:cs typeface="Arial" charset="0"/>
                        </a:rPr>
                        <a:t>2</a:t>
                      </a:r>
                    </a:p>
                  </a:txBody>
                  <a:tcPr marL="90000" marR="90000" marT="46842" marB="4684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pitchFamily="50" charset="-127"/>
                          <a:cs typeface="Arial" charset="0"/>
                        </a:rPr>
                        <a:t>4</a:t>
                      </a:r>
                    </a:p>
                  </a:txBody>
                  <a:tcPr marL="90000" marR="90000" marT="46842" marB="4684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pitchFamily="50" charset="-127"/>
                          <a:cs typeface="Arial" charset="0"/>
                        </a:rPr>
                        <a:t>6</a:t>
                      </a:r>
                    </a:p>
                  </a:txBody>
                  <a:tcPr marL="90000" marR="90000" marT="46842" marB="4684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pitchFamily="50" charset="-127"/>
                          <a:cs typeface="Arial" charset="0"/>
                        </a:rPr>
                        <a:t>8</a:t>
                      </a:r>
                    </a:p>
                  </a:txBody>
                  <a:tcPr marL="90000" marR="90000" marT="46842" marB="4684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1864650-1962-4626-82B2-0F999FFCB5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1646" y="3117165"/>
            <a:ext cx="396081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Column-by-column integer representation</a:t>
            </a:r>
          </a:p>
          <a:p>
            <a:pPr algn="ctr"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(</a:t>
            </a:r>
            <a:r>
              <a:rPr lang="ko-KR" altLang="en-US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솔루션</a:t>
            </a:r>
            <a:r>
              <a:rPr lang="en-US" altLang="ko-KR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=</a:t>
            </a:r>
            <a:r>
              <a:rPr lang="ko-KR" altLang="en-US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각</a:t>
            </a:r>
            <a:r>
              <a:rPr lang="en-US" altLang="ko-KR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</a:t>
            </a:r>
            <a:r>
              <a:rPr lang="ko-KR" altLang="en-US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열에서 </a:t>
            </a:r>
            <a:r>
              <a:rPr lang="en-US" altLang="ko-KR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queen</a:t>
            </a:r>
            <a:r>
              <a:rPr lang="ko-KR" altLang="en-US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의 위치</a:t>
            </a:r>
            <a:r>
              <a:rPr lang="en-US" altLang="ko-KR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)</a:t>
            </a:r>
            <a:endParaRPr lang="ko-KR" altLang="en-US" sz="14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2746B2-00CA-4A68-8466-24545CD701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5656" y="2195322"/>
            <a:ext cx="396081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예</a:t>
            </a:r>
            <a:r>
              <a:rPr lang="en-US" altLang="ko-KR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: 8 queens </a:t>
            </a:r>
            <a:r>
              <a:rPr lang="ko-KR" altLang="en-US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문제에서의 하나의 솔루션</a:t>
            </a:r>
            <a:r>
              <a:rPr lang="en-US" altLang="ko-KR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(state)</a:t>
            </a:r>
            <a:endParaRPr lang="ko-KR" altLang="en-US" sz="14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3">
            <a:extLst>
              <a:ext uri="{FF2B5EF4-FFF2-40B4-BE49-F238E27FC236}">
                <a16:creationId xmlns:a16="http://schemas.microsoft.com/office/drawing/2014/main" id="{C89E331A-49CE-4B03-8EE4-E67BBC4F41FE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>
          <a:xfrm>
            <a:off x="457200" y="981075"/>
            <a:ext cx="8229600" cy="5256213"/>
          </a:xfrm>
        </p:spPr>
        <p:txBody>
          <a:bodyPr/>
          <a:lstStyle/>
          <a:p>
            <a:pPr marL="287338" indent="-287338" eaLnBrk="1" latinLnBrk="0" hangingPunct="1"/>
            <a:r>
              <a:rPr lang="en-US" altLang="ko-KR" sz="1800" dirty="0"/>
              <a:t>Each individual is rated by the </a:t>
            </a:r>
            <a:r>
              <a:rPr lang="en-US" altLang="ko-KR" sz="1800" dirty="0">
                <a:solidFill>
                  <a:srgbClr val="990033"/>
                </a:solidFill>
              </a:rPr>
              <a:t>fitness function</a:t>
            </a:r>
            <a:endParaRPr lang="en-US" altLang="ko-KR" sz="1800" b="1" dirty="0"/>
          </a:p>
          <a:p>
            <a:pPr marL="611188" lvl="1" eaLnBrk="1" latinLnBrk="0" hangingPunct="1"/>
            <a:r>
              <a:rPr lang="en-US" sz="1600" dirty="0"/>
              <a:t>Solutions are selected based on the </a:t>
            </a:r>
            <a:r>
              <a:rPr lang="en-US" sz="1600" b="1" dirty="0"/>
              <a:t>fitness value</a:t>
            </a:r>
            <a:r>
              <a:rPr lang="en-US" sz="1600" dirty="0"/>
              <a:t>, and the selected solutions are used to generate </a:t>
            </a:r>
            <a:r>
              <a:rPr lang="en-US" sz="1600" b="1" dirty="0"/>
              <a:t>offspring</a:t>
            </a:r>
            <a:r>
              <a:rPr lang="en-US" sz="1600" dirty="0"/>
              <a:t> (offspring = next solution, offspring generation = reproduction).</a:t>
            </a:r>
            <a:endParaRPr lang="en-US" altLang="ko-KR" sz="1600" dirty="0"/>
          </a:p>
          <a:p>
            <a:pPr marL="611188" lvl="1" eaLnBrk="1" latinLnBrk="0" hangingPunct="1"/>
            <a:r>
              <a:rPr lang="en-US" altLang="ko-KR" sz="1600" dirty="0"/>
              <a:t>An individual is </a:t>
            </a:r>
            <a:r>
              <a:rPr lang="en-US" altLang="ko-KR" sz="1600" dirty="0">
                <a:solidFill>
                  <a:srgbClr val="990033"/>
                </a:solidFill>
              </a:rPr>
              <a:t>selected</a:t>
            </a:r>
            <a:r>
              <a:rPr lang="en-US" altLang="ko-KR" sz="1600" dirty="0"/>
              <a:t> for reproduction by </a:t>
            </a:r>
            <a:r>
              <a:rPr lang="en-US" altLang="ko-KR" sz="1600" dirty="0">
                <a:solidFill>
                  <a:srgbClr val="0033CC"/>
                </a:solidFill>
              </a:rPr>
              <a:t>the probability proportional to the fitness score </a:t>
            </a:r>
            <a:endParaRPr lang="en-US" altLang="ko-KR" sz="1800" dirty="0"/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4C2855E4-53CD-40D1-BB46-6A82B80335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pPr latinLnBrk="0"/>
            <a:r>
              <a:rPr lang="en-US" altLang="ko-KR">
                <a:solidFill>
                  <a:srgbClr val="0033CC"/>
                </a:solidFill>
              </a:rPr>
              <a:t>Genetic Algorithm</a:t>
            </a:r>
          </a:p>
        </p:txBody>
      </p:sp>
      <p:sp>
        <p:nvSpPr>
          <p:cNvPr id="18434" name="바닥글 개체 틀 4">
            <a:extLst>
              <a:ext uri="{FF2B5EF4-FFF2-40B4-BE49-F238E27FC236}">
                <a16:creationId xmlns:a16="http://schemas.microsoft.com/office/drawing/2014/main" id="{B1BBBE0E-FE88-4B83-8E92-9828B2728BC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latinLnBrk="0">
              <a:defRPr/>
            </a:pPr>
            <a:r>
              <a:rPr lang="en-US" altLang="ko-KR"/>
              <a:t>Search Algorithms: Object-Oriented Implementation (Part F)</a:t>
            </a:r>
            <a:endParaRPr lang="ko-KR" altLang="ko-KR"/>
          </a:p>
        </p:txBody>
      </p:sp>
      <p:sp>
        <p:nvSpPr>
          <p:cNvPr id="29701" name="슬라이드 번호 개체 틀 1">
            <a:extLst>
              <a:ext uri="{FF2B5EF4-FFF2-40B4-BE49-F238E27FC236}">
                <a16:creationId xmlns:a16="http://schemas.microsoft.com/office/drawing/2014/main" id="{9E66F34F-7449-4CAA-9C27-C0BC6CC501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fld id="{9EF3BE1B-E43C-446A-A369-8CA4B3473669}" type="slidenum">
              <a:rPr lang="ko-KR" altLang="en-US" sz="1200">
                <a:solidFill>
                  <a:srgbClr val="898989"/>
                </a:solidFill>
                <a:latin typeface="Book Antiqua" panose="02040602050305030304" pitchFamily="18" charset="0"/>
              </a:rPr>
              <a:pPr latinLnBrk="0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6</a:t>
            </a:fld>
            <a:endParaRPr lang="en-US" altLang="ko-KR" sz="1200">
              <a:solidFill>
                <a:srgbClr val="898989"/>
              </a:solidFill>
              <a:latin typeface="Book Antiqua" panose="0204060205030503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3C11E7-217D-431C-A4ED-6CD1D13835DA}"/>
              </a:ext>
            </a:extLst>
          </p:cNvPr>
          <p:cNvSpPr txBox="1"/>
          <p:nvPr/>
        </p:nvSpPr>
        <p:spPr>
          <a:xfrm>
            <a:off x="457200" y="3180236"/>
            <a:ext cx="8229600" cy="95109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Arial" panose="020B0604020202020204" pitchFamily="34" charset="0"/>
              </a:rPr>
              <a:t>(</a:t>
            </a:r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Arial" panose="020B0604020202020204" pitchFamily="34" charset="0"/>
              </a:rPr>
              <a:t>참고</a:t>
            </a: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Arial" panose="020B0604020202020204" pitchFamily="34" charset="0"/>
              </a:rPr>
              <a:t>) </a:t>
            </a: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Local search algorithms that do not use any problem-specific heuristics is called “metaheuristic algo.”</a:t>
            </a:r>
          </a:p>
          <a:p>
            <a:pPr>
              <a:lnSpc>
                <a:spcPct val="120000"/>
              </a:lnSpc>
              <a:defRPr/>
            </a:pPr>
            <a:r>
              <a:rPr lang="en-US" altLang="ko-KR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Simulated annealing 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altLang="ko-KR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 use meta-level heuristic </a:t>
            </a:r>
            <a:r>
              <a:rPr lang="ko-KR" altLang="ko-KR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 </a:t>
            </a:r>
            <a:r>
              <a:rPr lang="en-US" altLang="ko-KR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m</a:t>
            </a:r>
            <a:r>
              <a:rPr lang="en-US" altLang="ko-KR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etaheuristic</a:t>
            </a:r>
            <a:r>
              <a:rPr lang="ko-KR" alt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algorithms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25201B-2282-4946-BDAF-2438BAA3E8D3}"/>
              </a:ext>
            </a:extLst>
          </p:cNvPr>
          <p:cNvSpPr txBox="1"/>
          <p:nvPr/>
        </p:nvSpPr>
        <p:spPr>
          <a:xfrm>
            <a:off x="457200" y="4242959"/>
            <a:ext cx="8229600" cy="1994329"/>
          </a:xfrm>
          <a:prstGeom prst="rect">
            <a:avLst/>
          </a:prstGeom>
          <a:solidFill>
            <a:schemeClr val="bg1"/>
          </a:solidFill>
          <a:ln>
            <a:solidFill>
              <a:srgbClr val="0033CC"/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1200" b="1" dirty="0">
                <a:latin typeface="+mn-ea"/>
                <a:ea typeface="+mn-ea"/>
              </a:rPr>
              <a:t>Thereby,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1" dirty="0"/>
              <a:t>Steepest Ascent, First-Choice, Stochastic, Gradient Descent</a:t>
            </a:r>
            <a:r>
              <a:rPr lang="en-US" sz="1200" dirty="0"/>
              <a:t>, etc., use </a:t>
            </a:r>
            <a:r>
              <a:rPr lang="en-US" sz="1200" b="1" dirty="0"/>
              <a:t>heuristic</a:t>
            </a:r>
            <a:r>
              <a:rPr lang="en-US" sz="1200" dirty="0"/>
              <a:t> techniques that are </a:t>
            </a:r>
            <a:r>
              <a:rPr lang="en-US" sz="1200" b="1" dirty="0"/>
              <a:t>specialized for a given problem</a:t>
            </a:r>
            <a:r>
              <a:rPr lang="en-US" sz="1200" dirty="0"/>
              <a:t>. (They are effective in solving the given problem, but cannot be applied to other problems.)</a:t>
            </a:r>
            <a:endParaRPr lang="en-US" altLang="ko-KR" sz="1200" b="1" dirty="0">
              <a:latin typeface="+mn-ea"/>
              <a:ea typeface="+mn-ea"/>
            </a:endParaRP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1" dirty="0"/>
              <a:t>Simulated Annealing</a:t>
            </a:r>
            <a:r>
              <a:rPr lang="en-US" sz="1200" dirty="0"/>
              <a:t> and </a:t>
            </a:r>
            <a:r>
              <a:rPr lang="en-US" sz="1200" b="1" dirty="0"/>
              <a:t>GA</a:t>
            </a:r>
            <a:r>
              <a:rPr lang="en-US" sz="1200" dirty="0"/>
              <a:t> propose </a:t>
            </a:r>
            <a:r>
              <a:rPr lang="en-US" sz="1200" b="1" dirty="0"/>
              <a:t>heuristic</a:t>
            </a:r>
            <a:r>
              <a:rPr lang="en-US" sz="1200" dirty="0"/>
              <a:t> techniques using general ideas (such as annealing in daily life or genetic laws in nature) that are </a:t>
            </a:r>
            <a:r>
              <a:rPr lang="en-US" sz="1200" b="1" dirty="0"/>
              <a:t>not specific to a given problem</a:t>
            </a:r>
            <a:r>
              <a:rPr lang="en-US" sz="1200" dirty="0"/>
              <a:t>. (They do not change depending on the problem to be solved and can be applied to any problem.)</a:t>
            </a:r>
            <a:endParaRPr lang="ko-KR" altLang="en-US" sz="1200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58792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>
            <a:extLst>
              <a:ext uri="{FF2B5EF4-FFF2-40B4-BE49-F238E27FC236}">
                <a16:creationId xmlns:a16="http://schemas.microsoft.com/office/drawing/2014/main" id="{C6AC0736-5E06-43EB-8226-F64DF141FB37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>
          <a:xfrm>
            <a:off x="457200" y="981075"/>
            <a:ext cx="8229600" cy="5256213"/>
          </a:xfrm>
        </p:spPr>
        <p:txBody>
          <a:bodyPr/>
          <a:lstStyle/>
          <a:p>
            <a:pPr marL="287338" indent="-287338" eaLnBrk="1" latinLnBrk="0" hangingPunct="1"/>
            <a:r>
              <a:rPr lang="en-US" altLang="ko-KR" sz="1800" dirty="0"/>
              <a:t>Selected pair are mated </a:t>
            </a:r>
            <a:r>
              <a:rPr lang="en-US" altLang="ko-KR" sz="1600" dirty="0"/>
              <a:t>(</a:t>
            </a:r>
            <a:r>
              <a:rPr lang="ko-KR" altLang="en-US" sz="1600" dirty="0"/>
              <a:t>짝짓기</a:t>
            </a:r>
            <a:r>
              <a:rPr lang="en-US" altLang="ko-KR" sz="1600" dirty="0"/>
              <a:t>)</a:t>
            </a:r>
            <a:r>
              <a:rPr lang="en-US" altLang="ko-KR" sz="1800" dirty="0"/>
              <a:t> by a </a:t>
            </a:r>
            <a:r>
              <a:rPr lang="en-US" altLang="ko-KR" sz="1800" dirty="0">
                <a:solidFill>
                  <a:srgbClr val="990033"/>
                </a:solidFill>
              </a:rPr>
              <a:t>crossover (</a:t>
            </a:r>
            <a:r>
              <a:rPr lang="ko-KR" altLang="en-US" sz="1800" dirty="0">
                <a:solidFill>
                  <a:srgbClr val="990033"/>
                </a:solidFill>
              </a:rPr>
              <a:t>교차 연산</a:t>
            </a:r>
            <a:r>
              <a:rPr lang="en-US" altLang="ko-KR" sz="1800" dirty="0">
                <a:solidFill>
                  <a:srgbClr val="990033"/>
                </a:solidFill>
              </a:rPr>
              <a:t>)</a:t>
            </a:r>
          </a:p>
          <a:p>
            <a:pPr marL="611188" lvl="1" eaLnBrk="1" latinLnBrk="0" hangingPunct="1"/>
            <a:r>
              <a:rPr lang="en-US" sz="1400" dirty="0"/>
              <a:t>After selecting a pair of chromosomes (=solutions), a </a:t>
            </a:r>
            <a:r>
              <a:rPr lang="en-US" sz="1400" b="1" dirty="0"/>
              <a:t>new solution</a:t>
            </a:r>
            <a:r>
              <a:rPr lang="en-US" sz="1400" dirty="0"/>
              <a:t> is generated using the </a:t>
            </a:r>
            <a:r>
              <a:rPr lang="en-US" sz="1400" b="1" dirty="0"/>
              <a:t>'crossover operation'</a:t>
            </a:r>
            <a:r>
              <a:rPr lang="en-US" sz="1400" dirty="0"/>
              <a:t> method, which involves randomly cutting the two chromosomes and splicing the resulting parts crosswise.</a:t>
            </a:r>
            <a:endParaRPr lang="en-US" altLang="ko-KR" sz="1600" dirty="0"/>
          </a:p>
          <a:p>
            <a:pPr marL="611188" lvl="1" eaLnBrk="1" latinLnBrk="0" hangingPunct="1"/>
            <a:endParaRPr lang="en-US" altLang="ko-KR" sz="1400" dirty="0"/>
          </a:p>
          <a:p>
            <a:pPr marL="611188" lvl="1" eaLnBrk="1" latinLnBrk="0" hangingPunct="1"/>
            <a:r>
              <a:rPr lang="en-US" sz="1400" dirty="0"/>
              <a:t>In this process, the </a:t>
            </a:r>
            <a:r>
              <a:rPr lang="en-US" sz="1400" b="1" dirty="0"/>
              <a:t>crossover point</a:t>
            </a:r>
            <a:r>
              <a:rPr lang="en-US" sz="1400" dirty="0"/>
              <a:t> (the cutting point) is determined randomly and can be a single point or multiple points.</a:t>
            </a:r>
            <a:endParaRPr lang="en-US" altLang="ko-KR" sz="1400" dirty="0"/>
          </a:p>
          <a:p>
            <a:pPr marL="611188" lvl="1" eaLnBrk="1" latinLnBrk="0" hangingPunct="1"/>
            <a:endParaRPr lang="en-US" altLang="ko-KR" sz="1400" dirty="0"/>
          </a:p>
          <a:p>
            <a:pPr marL="611188" lvl="1" eaLnBrk="1" latinLnBrk="0" hangingPunct="1"/>
            <a:endParaRPr lang="en-US" altLang="ko-KR" sz="1400" dirty="0"/>
          </a:p>
          <a:p>
            <a:pPr marL="611188" lvl="1" eaLnBrk="1" latinLnBrk="0" hangingPunct="1"/>
            <a:endParaRPr lang="en-US" altLang="ko-KR" sz="1400" dirty="0">
              <a:solidFill>
                <a:srgbClr val="0033CC"/>
              </a:solidFill>
            </a:endParaRPr>
          </a:p>
          <a:p>
            <a:pPr marL="611188" lvl="1" eaLnBrk="1" latinLnBrk="0" hangingPunct="1"/>
            <a:endParaRPr lang="en-US" altLang="ko-KR" sz="1400" dirty="0">
              <a:solidFill>
                <a:srgbClr val="0033CC"/>
              </a:solidFill>
            </a:endParaRPr>
          </a:p>
          <a:p>
            <a:pPr marL="611188" lvl="1" eaLnBrk="1" latinLnBrk="0" hangingPunct="1"/>
            <a:r>
              <a:rPr lang="en-US" altLang="ko-KR" sz="1400" dirty="0">
                <a:solidFill>
                  <a:srgbClr val="0033CC"/>
                </a:solidFill>
              </a:rPr>
              <a:t>Crossover</a:t>
            </a:r>
            <a:r>
              <a:rPr lang="en-US" altLang="ko-KR" sz="1400" dirty="0"/>
              <a:t> frequently happens in the state space early in the search process </a:t>
            </a:r>
            <a:r>
              <a:rPr lang="en-US" altLang="ko-KR" sz="1400" u="sng" dirty="0"/>
              <a:t>when the population is quite diverse</a:t>
            </a:r>
            <a:r>
              <a:rPr lang="en-US" altLang="ko-KR" sz="1400" dirty="0"/>
              <a:t>, and less frequently later on </a:t>
            </a:r>
            <a:r>
              <a:rPr lang="en-US" altLang="ko-KR" sz="1400" u="sng" dirty="0"/>
              <a:t>when most individuals are quite similar</a:t>
            </a:r>
            <a:r>
              <a:rPr lang="en-US" altLang="ko-KR" sz="1400" dirty="0"/>
              <a:t> (</a:t>
            </a:r>
            <a:r>
              <a:rPr lang="ko-KR" altLang="en-US" sz="1400" dirty="0"/>
              <a:t>다음 페이지</a:t>
            </a:r>
            <a:r>
              <a:rPr lang="en-US" altLang="ko-KR" sz="1400" dirty="0"/>
              <a:t>…)</a:t>
            </a:r>
            <a:br>
              <a:rPr lang="en-US" altLang="ko-KR" sz="1400" u="sng" dirty="0"/>
            </a:br>
            <a:r>
              <a:rPr lang="en-US" altLang="ko-KR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▶</a:t>
            </a:r>
            <a:r>
              <a:rPr lang="en-US" altLang="ko-KR" sz="1400" dirty="0"/>
              <a:t> </a:t>
            </a:r>
            <a:r>
              <a:rPr lang="en-US" sz="1400" dirty="0"/>
              <a:t>This is similar to the principle used in algorithms like </a:t>
            </a:r>
            <a:r>
              <a:rPr lang="en-US" sz="1400" b="1" dirty="0"/>
              <a:t>Gradient Descent</a:t>
            </a:r>
            <a:r>
              <a:rPr lang="en-US" sz="1400" dirty="0"/>
              <a:t> and </a:t>
            </a:r>
            <a:r>
              <a:rPr lang="en-US" sz="1400" b="1" dirty="0"/>
              <a:t>Simulated Annealing</a:t>
            </a:r>
            <a:r>
              <a:rPr lang="en-US" sz="1400" dirty="0"/>
              <a:t>, where early in the learning process, the solutions are changed significantly (or the probability of selecting a poor solution is increased), and later in the learning process, the degree to which solutions are updated is reduced.</a:t>
            </a:r>
            <a:r>
              <a:rPr lang="ko-KR" altLang="en-US" sz="1600" dirty="0"/>
              <a:t> </a:t>
            </a:r>
            <a:endParaRPr lang="en-US" altLang="ko-KR" sz="1600" dirty="0"/>
          </a:p>
          <a:p>
            <a:pPr marL="287338" indent="-287338" eaLnBrk="1" latinLnBrk="0" hangingPunct="1"/>
            <a:endParaRPr lang="en-US" altLang="ko-KR" sz="1400" dirty="0"/>
          </a:p>
          <a:p>
            <a:pPr marL="287338" indent="-287338" eaLnBrk="1" latinLnBrk="0" hangingPunct="1"/>
            <a:endParaRPr lang="en-US" altLang="ko-KR" sz="1400" dirty="0"/>
          </a:p>
          <a:p>
            <a:pPr marL="287338" indent="-287338" eaLnBrk="1" latinLnBrk="0" hangingPunct="1"/>
            <a:endParaRPr lang="en-US" altLang="ko-KR" sz="1400" dirty="0"/>
          </a:p>
          <a:p>
            <a:pPr marL="611188" lvl="1" latinLnBrk="0"/>
            <a:endParaRPr lang="en-US" altLang="ko-KR" sz="1800" dirty="0"/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1E0CAD71-AB51-4F58-A112-9FD42458B4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r>
              <a:rPr lang="en-US" altLang="ko-KR">
                <a:solidFill>
                  <a:srgbClr val="99CCFF"/>
                </a:solidFill>
              </a:rPr>
              <a:t>Genetic Algorithm</a:t>
            </a:r>
          </a:p>
        </p:txBody>
      </p:sp>
      <p:sp>
        <p:nvSpPr>
          <p:cNvPr id="18434" name="바닥글 개체 틀 4">
            <a:extLst>
              <a:ext uri="{FF2B5EF4-FFF2-40B4-BE49-F238E27FC236}">
                <a16:creationId xmlns:a16="http://schemas.microsoft.com/office/drawing/2014/main" id="{446C89C6-3372-47BA-87E9-3C122CB79D0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Search Algorithms: Object-Oriented Implementation (Part F)</a:t>
            </a:r>
            <a:endParaRPr lang="ko-KR" altLang="ko-KR"/>
          </a:p>
        </p:txBody>
      </p:sp>
      <p:sp>
        <p:nvSpPr>
          <p:cNvPr id="30725" name="슬라이드 번호 개체 틀 1">
            <a:extLst>
              <a:ext uri="{FF2B5EF4-FFF2-40B4-BE49-F238E27FC236}">
                <a16:creationId xmlns:a16="http://schemas.microsoft.com/office/drawing/2014/main" id="{792A3640-D7DB-402E-BDB4-EC5C5BC77E6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13C5A663-0429-43DD-BBD9-07697EF5A8A4}" type="slidenum">
              <a:rPr lang="ko-KR" altLang="en-US" sz="1200">
                <a:solidFill>
                  <a:srgbClr val="898989"/>
                </a:solidFill>
                <a:latin typeface="Book Antiqua" panose="02040602050305030304" pitchFamily="18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7</a:t>
            </a:fld>
            <a:endParaRPr lang="en-US" altLang="ko-KR" sz="1200">
              <a:solidFill>
                <a:srgbClr val="898989"/>
              </a:solidFill>
              <a:latin typeface="Book Antiqua" panose="02040602050305030304" pitchFamily="18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7C4D112-D3F1-499D-ADE7-AB6175F42532}"/>
              </a:ext>
            </a:extLst>
          </p:cNvPr>
          <p:cNvSpPr/>
          <p:nvPr/>
        </p:nvSpPr>
        <p:spPr>
          <a:xfrm>
            <a:off x="7358583" y="3214192"/>
            <a:ext cx="1079500" cy="2159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2CD133B-4B4B-4B2C-B76B-564ADADCF7B9}"/>
              </a:ext>
            </a:extLst>
          </p:cNvPr>
          <p:cNvSpPr/>
          <p:nvPr/>
        </p:nvSpPr>
        <p:spPr>
          <a:xfrm>
            <a:off x="7358583" y="3647579"/>
            <a:ext cx="1079500" cy="2159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671062F-E16A-4E2A-8E10-68D1EBDABA5D}"/>
              </a:ext>
            </a:extLst>
          </p:cNvPr>
          <p:cNvSpPr/>
          <p:nvPr/>
        </p:nvSpPr>
        <p:spPr>
          <a:xfrm>
            <a:off x="949846" y="3214192"/>
            <a:ext cx="1439862" cy="2159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604775A-323B-4AAB-B86C-96B92F127A54}"/>
              </a:ext>
            </a:extLst>
          </p:cNvPr>
          <p:cNvSpPr/>
          <p:nvPr/>
        </p:nvSpPr>
        <p:spPr>
          <a:xfrm>
            <a:off x="2389708" y="3214192"/>
            <a:ext cx="1079500" cy="2159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6C6716E-7F87-4B3A-B226-1F06692B9E9B}"/>
              </a:ext>
            </a:extLst>
          </p:cNvPr>
          <p:cNvSpPr/>
          <p:nvPr/>
        </p:nvSpPr>
        <p:spPr>
          <a:xfrm>
            <a:off x="949846" y="3647579"/>
            <a:ext cx="1439862" cy="2159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6C726BA-94AF-4EEE-A698-7ABA2B1CA418}"/>
              </a:ext>
            </a:extLst>
          </p:cNvPr>
          <p:cNvSpPr/>
          <p:nvPr/>
        </p:nvSpPr>
        <p:spPr>
          <a:xfrm>
            <a:off x="2389708" y="3647579"/>
            <a:ext cx="1079500" cy="2159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86DE2F60-6D62-4C4B-8869-FABB43936313}"/>
              </a:ext>
            </a:extLst>
          </p:cNvPr>
          <p:cNvCxnSpPr/>
          <p:nvPr/>
        </p:nvCxnSpPr>
        <p:spPr>
          <a:xfrm>
            <a:off x="2389708" y="3142754"/>
            <a:ext cx="0" cy="792163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오른쪽 화살표 51">
            <a:extLst>
              <a:ext uri="{FF2B5EF4-FFF2-40B4-BE49-F238E27FC236}">
                <a16:creationId xmlns:a16="http://schemas.microsoft.com/office/drawing/2014/main" id="{3017274F-C9D8-4969-B2EA-7CB0F74787B7}"/>
              </a:ext>
            </a:extLst>
          </p:cNvPr>
          <p:cNvSpPr/>
          <p:nvPr/>
        </p:nvSpPr>
        <p:spPr>
          <a:xfrm>
            <a:off x="3635896" y="3068960"/>
            <a:ext cx="2160587" cy="937890"/>
          </a:xfrm>
          <a:prstGeom prst="rightArrow">
            <a:avLst/>
          </a:prstGeom>
          <a:solidFill>
            <a:schemeClr val="accent5">
              <a:lumMod val="7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0" name="Text Box 183">
            <a:extLst>
              <a:ext uri="{FF2B5EF4-FFF2-40B4-BE49-F238E27FC236}">
                <a16:creationId xmlns:a16="http://schemas.microsoft.com/office/drawing/2014/main" id="{B3754FF0-12DD-4BC8-97C8-6785BF4AC7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4343" y="3301610"/>
            <a:ext cx="205898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ko-KR" sz="1200" dirty="0"/>
              <a:t>Crossover points (</a:t>
            </a:r>
            <a:r>
              <a:rPr lang="ko-KR" altLang="en-US" sz="1200" dirty="0"/>
              <a:t>자르는 지점</a:t>
            </a:r>
            <a:r>
              <a:rPr lang="en-US" altLang="ko-KR" sz="1200" dirty="0"/>
              <a:t>) are chosen randomly</a:t>
            </a: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EB8B60E3-79A8-4D18-8CF0-AE02865FDE21}"/>
              </a:ext>
            </a:extLst>
          </p:cNvPr>
          <p:cNvCxnSpPr/>
          <p:nvPr/>
        </p:nvCxnSpPr>
        <p:spPr>
          <a:xfrm>
            <a:off x="1668983" y="3142754"/>
            <a:ext cx="0" cy="792163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9B9F21D-8BA8-4D5D-BB0B-A47EE9259513}"/>
              </a:ext>
            </a:extLst>
          </p:cNvPr>
          <p:cNvSpPr/>
          <p:nvPr/>
        </p:nvSpPr>
        <p:spPr>
          <a:xfrm>
            <a:off x="5917133" y="3214192"/>
            <a:ext cx="720725" cy="2159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28AEEC4-D133-4195-9EC6-BAA17E0171F8}"/>
              </a:ext>
            </a:extLst>
          </p:cNvPr>
          <p:cNvSpPr/>
          <p:nvPr/>
        </p:nvSpPr>
        <p:spPr>
          <a:xfrm>
            <a:off x="6637858" y="3214192"/>
            <a:ext cx="720725" cy="2159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C3ABAA1-C88B-4D07-B55F-F5D614D8325A}"/>
              </a:ext>
            </a:extLst>
          </p:cNvPr>
          <p:cNvSpPr/>
          <p:nvPr/>
        </p:nvSpPr>
        <p:spPr>
          <a:xfrm>
            <a:off x="5917133" y="3645992"/>
            <a:ext cx="720725" cy="2159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89AAA48B-EE97-47CB-A24F-AC17B700D29C}"/>
              </a:ext>
            </a:extLst>
          </p:cNvPr>
          <p:cNvSpPr/>
          <p:nvPr/>
        </p:nvSpPr>
        <p:spPr>
          <a:xfrm>
            <a:off x="6637858" y="3645992"/>
            <a:ext cx="720725" cy="2159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9" grpId="0" animBg="1"/>
      <p:bldP spid="20" grpId="0"/>
      <p:bldP spid="22" grpId="0" animBg="1"/>
      <p:bldP spid="23" grpId="0" animBg="1"/>
      <p:bldP spid="24" grpId="0" animBg="1"/>
      <p:bldP spid="2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B9D61D5D-2482-A49B-4D79-E6E44BC7A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>
            <a:extLst>
              <a:ext uri="{FF2B5EF4-FFF2-40B4-BE49-F238E27FC236}">
                <a16:creationId xmlns:a16="http://schemas.microsoft.com/office/drawing/2014/main" id="{7B71BA54-9B0E-40CA-E442-28DD6C336FCC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>
          <a:xfrm>
            <a:off x="457200" y="981075"/>
            <a:ext cx="8229600" cy="5256213"/>
          </a:xfrm>
        </p:spPr>
        <p:txBody>
          <a:bodyPr/>
          <a:lstStyle/>
          <a:p>
            <a:pPr marL="287338" indent="-287338" eaLnBrk="1" hangingPunct="1"/>
            <a:r>
              <a:rPr lang="en-US" altLang="ko-KR" sz="1800" dirty="0"/>
              <a:t>Selected pair are mated </a:t>
            </a:r>
            <a:r>
              <a:rPr lang="en-US" altLang="ko-KR" sz="1600" dirty="0"/>
              <a:t>(</a:t>
            </a:r>
            <a:r>
              <a:rPr lang="ko-KR" altLang="en-US" sz="1600" dirty="0"/>
              <a:t>짝짓기</a:t>
            </a:r>
            <a:r>
              <a:rPr lang="en-US" altLang="ko-KR" sz="1600" dirty="0"/>
              <a:t>)</a:t>
            </a:r>
            <a:r>
              <a:rPr lang="en-US" altLang="ko-KR" sz="1800" dirty="0"/>
              <a:t> by a </a:t>
            </a:r>
            <a:r>
              <a:rPr lang="en-US" altLang="ko-KR" sz="1800" dirty="0">
                <a:solidFill>
                  <a:srgbClr val="990033"/>
                </a:solidFill>
              </a:rPr>
              <a:t>crossover (</a:t>
            </a:r>
            <a:r>
              <a:rPr lang="ko-KR" altLang="en-US" sz="1800" dirty="0">
                <a:solidFill>
                  <a:srgbClr val="990033"/>
                </a:solidFill>
              </a:rPr>
              <a:t>교차 연산</a:t>
            </a:r>
            <a:r>
              <a:rPr lang="en-US" altLang="ko-KR" sz="1800" dirty="0">
                <a:solidFill>
                  <a:srgbClr val="990033"/>
                </a:solidFill>
              </a:rPr>
              <a:t>)</a:t>
            </a:r>
          </a:p>
          <a:p>
            <a:pPr marL="287338" indent="-287338" eaLnBrk="1" hangingPunct="1"/>
            <a:endParaRPr lang="en-US" altLang="ko-KR" sz="1400" dirty="0"/>
          </a:p>
          <a:p>
            <a:pPr marL="287338" indent="-287338" eaLnBrk="1" hangingPunct="1"/>
            <a:endParaRPr lang="en-US" altLang="ko-KR" sz="1400" dirty="0"/>
          </a:p>
          <a:p>
            <a:pPr marL="287338" indent="-287338" eaLnBrk="1" hangingPunct="1"/>
            <a:endParaRPr lang="en-US" altLang="ko-KR" sz="1400" dirty="0"/>
          </a:p>
          <a:p>
            <a:pPr marL="611188" lvl="1"/>
            <a:endParaRPr lang="en-US" altLang="ko-KR" sz="1800" dirty="0"/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E27092B6-0B4F-D485-E08F-45F2390BE2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r>
              <a:rPr lang="en-US" altLang="ko-KR">
                <a:solidFill>
                  <a:srgbClr val="99CCFF"/>
                </a:solidFill>
              </a:rPr>
              <a:t>Genetic Algorithm</a:t>
            </a:r>
          </a:p>
        </p:txBody>
      </p:sp>
      <p:sp>
        <p:nvSpPr>
          <p:cNvPr id="18434" name="바닥글 개체 틀 4">
            <a:extLst>
              <a:ext uri="{FF2B5EF4-FFF2-40B4-BE49-F238E27FC236}">
                <a16:creationId xmlns:a16="http://schemas.microsoft.com/office/drawing/2014/main" id="{41628E06-D02A-68EB-5DDC-679B29D692B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Search Algorithms: Object-Oriented Implementation (Part F)</a:t>
            </a:r>
            <a:endParaRPr lang="ko-KR" altLang="ko-KR"/>
          </a:p>
        </p:txBody>
      </p:sp>
      <p:sp>
        <p:nvSpPr>
          <p:cNvPr id="30725" name="슬라이드 번호 개체 틀 1">
            <a:extLst>
              <a:ext uri="{FF2B5EF4-FFF2-40B4-BE49-F238E27FC236}">
                <a16:creationId xmlns:a16="http://schemas.microsoft.com/office/drawing/2014/main" id="{B2A5C440-347F-0E6A-8D20-894441C8A56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13C5A663-0429-43DD-BBD9-07697EF5A8A4}" type="slidenum">
              <a:rPr lang="ko-KR" altLang="en-US" sz="1200">
                <a:solidFill>
                  <a:srgbClr val="898989"/>
                </a:solidFill>
                <a:latin typeface="Book Antiqua" panose="02040602050305030304" pitchFamily="18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8</a:t>
            </a:fld>
            <a:endParaRPr lang="en-US" altLang="ko-KR" sz="1200">
              <a:solidFill>
                <a:srgbClr val="898989"/>
              </a:solidFill>
              <a:latin typeface="Book Antiqua" panose="02040602050305030304" pitchFamily="18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688EBC3-CB5B-1CD0-1AB8-F9ACE77716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8771" y="1450482"/>
            <a:ext cx="6506457" cy="5256214"/>
          </a:xfrm>
          <a:prstGeom prst="rect">
            <a:avLst/>
          </a:prstGeom>
        </p:spPr>
      </p:pic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F9107059-B110-9CB7-548F-1CDE98774381}"/>
              </a:ext>
            </a:extLst>
          </p:cNvPr>
          <p:cNvCxnSpPr/>
          <p:nvPr/>
        </p:nvCxnSpPr>
        <p:spPr>
          <a:xfrm>
            <a:off x="1691680" y="6012620"/>
            <a:ext cx="568863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C4842AF1-926D-1EB6-F228-23ED0F893784}"/>
              </a:ext>
            </a:extLst>
          </p:cNvPr>
          <p:cNvCxnSpPr/>
          <p:nvPr/>
        </p:nvCxnSpPr>
        <p:spPr>
          <a:xfrm>
            <a:off x="2941972" y="6230024"/>
            <a:ext cx="13680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AC05EA22-AB3F-1A9D-A17A-628DE596085B}"/>
              </a:ext>
            </a:extLst>
          </p:cNvPr>
          <p:cNvCxnSpPr/>
          <p:nvPr/>
        </p:nvCxnSpPr>
        <p:spPr>
          <a:xfrm>
            <a:off x="4878357" y="6456095"/>
            <a:ext cx="12960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49B2FC91-6438-70A7-8C47-FDDF36607236}"/>
              </a:ext>
            </a:extLst>
          </p:cNvPr>
          <p:cNvSpPr/>
          <p:nvPr/>
        </p:nvSpPr>
        <p:spPr>
          <a:xfrm>
            <a:off x="4427984" y="3861047"/>
            <a:ext cx="3130007" cy="64806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ko-KR" sz="10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* Note</a:t>
            </a:r>
          </a:p>
          <a:p>
            <a:pPr algn="just"/>
            <a:r>
              <a:rPr lang="en-US" sz="1000" dirty="0"/>
              <a:t>In the lecture, we will implement Crossover using </a:t>
            </a:r>
            <a:r>
              <a:rPr lang="en-US" sz="1000" b="1" dirty="0"/>
              <a:t>different logic</a:t>
            </a:r>
            <a:r>
              <a:rPr lang="en-US" sz="1000" dirty="0"/>
              <a:t> from the code shown here. Please review the code provided here </a:t>
            </a:r>
            <a:r>
              <a:rPr lang="en-US" sz="1000" b="1" dirty="0"/>
              <a:t>for reference only</a:t>
            </a:r>
            <a:r>
              <a:rPr lang="en-US" sz="1000" dirty="0"/>
              <a:t>.</a:t>
            </a:r>
            <a:endParaRPr lang="ko-KR" altLang="en-US" sz="10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0D8D97-AC47-B21A-7E59-CDF663F6B0D1}"/>
              </a:ext>
            </a:extLst>
          </p:cNvPr>
          <p:cNvSpPr txBox="1"/>
          <p:nvPr/>
        </p:nvSpPr>
        <p:spPr>
          <a:xfrm>
            <a:off x="13260" y="6635366"/>
            <a:ext cx="4572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https://algorithmafternoon.com/books/genetic_algorithm/chapter05/</a:t>
            </a: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C3FEB149-D070-D3BC-ADE0-EFC6BC4FDF2F}"/>
              </a:ext>
            </a:extLst>
          </p:cNvPr>
          <p:cNvCxnSpPr/>
          <p:nvPr/>
        </p:nvCxnSpPr>
        <p:spPr>
          <a:xfrm>
            <a:off x="3419396" y="2577480"/>
            <a:ext cx="10800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25730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>
            <a:extLst>
              <a:ext uri="{FF2B5EF4-FFF2-40B4-BE49-F238E27FC236}">
                <a16:creationId xmlns:a16="http://schemas.microsoft.com/office/drawing/2014/main" id="{C6AC0736-5E06-43EB-8226-F64DF141FB37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>
          <a:xfrm>
            <a:off x="457200" y="981075"/>
            <a:ext cx="8229600" cy="5256213"/>
          </a:xfrm>
        </p:spPr>
        <p:txBody>
          <a:bodyPr/>
          <a:lstStyle/>
          <a:p>
            <a:pPr marL="287338" indent="-287338" eaLnBrk="1" latinLnBrk="0" hangingPunct="1"/>
            <a:r>
              <a:rPr lang="en-US" altLang="ko-KR" sz="1800" dirty="0"/>
              <a:t>Mutation Operation: </a:t>
            </a:r>
          </a:p>
          <a:p>
            <a:pPr marL="611338" lvl="1" indent="-287338" eaLnBrk="1" latinLnBrk="0" hangingPunct="1"/>
            <a:r>
              <a:rPr lang="en-US" sz="1600" dirty="0"/>
              <a:t>The </a:t>
            </a:r>
            <a:r>
              <a:rPr lang="en-US" sz="1600" b="1" dirty="0"/>
              <a:t>mutation operation</a:t>
            </a:r>
            <a:r>
              <a:rPr lang="en-US" sz="1600" dirty="0"/>
              <a:t> is applied after Crossover.</a:t>
            </a:r>
            <a:endParaRPr lang="en-US" altLang="ko-KR" sz="1600" dirty="0"/>
          </a:p>
          <a:p>
            <a:pPr marL="611338" lvl="1" indent="-287338" eaLnBrk="1" latinLnBrk="0" hangingPunct="1"/>
            <a:r>
              <a:rPr lang="en-US" sz="1600" dirty="0"/>
              <a:t>Each position (locus) in the </a:t>
            </a:r>
            <a:r>
              <a:rPr lang="en-US" sz="1600" b="1" dirty="0"/>
              <a:t>chromosome</a:t>
            </a:r>
            <a:r>
              <a:rPr lang="en-US" sz="1600" dirty="0"/>
              <a:t> (solution) is randomly changed with a small probability.</a:t>
            </a:r>
            <a:endParaRPr lang="en-US" altLang="ko-KR" sz="1600" dirty="0"/>
          </a:p>
          <a:p>
            <a:pPr marL="899338" lvl="2" indent="-287338" eaLnBrk="1" latinLnBrk="0" hangingPunct="1"/>
            <a:r>
              <a:rPr lang="en-US" altLang="ko-KR" sz="1600" dirty="0"/>
              <a:t>Each locus(</a:t>
            </a:r>
            <a:r>
              <a:rPr lang="ko-KR" altLang="en-US" sz="1600" dirty="0"/>
              <a:t>위치</a:t>
            </a:r>
            <a:r>
              <a:rPr lang="en-US" altLang="ko-KR" sz="1600" dirty="0"/>
              <a:t>,</a:t>
            </a:r>
            <a:r>
              <a:rPr lang="ko-KR" altLang="en-US" sz="1600" dirty="0"/>
              <a:t>장소</a:t>
            </a:r>
            <a:r>
              <a:rPr lang="en-US" altLang="ko-KR" sz="1600" dirty="0"/>
              <a:t>) is subject to random </a:t>
            </a:r>
            <a:r>
              <a:rPr lang="en-US" altLang="ko-KR" sz="1600" dirty="0">
                <a:solidFill>
                  <a:srgbClr val="990033"/>
                </a:solidFill>
              </a:rPr>
              <a:t>mutation</a:t>
            </a:r>
            <a:r>
              <a:rPr lang="en-US" altLang="ko-KR" sz="1600" dirty="0"/>
              <a:t> with a small independent probability</a:t>
            </a:r>
          </a:p>
          <a:p>
            <a:pPr marL="287338" indent="-287338" eaLnBrk="1" latinLnBrk="0" hangingPunct="1"/>
            <a:endParaRPr lang="en-US" altLang="ko-KR" sz="1600" dirty="0"/>
          </a:p>
          <a:p>
            <a:pPr marL="287338" indent="-287338" eaLnBrk="1" latinLnBrk="0" hangingPunct="1"/>
            <a:r>
              <a:rPr lang="en-US" sz="1800" dirty="0"/>
              <a:t>Advantages of the GA Technique </a:t>
            </a:r>
            <a:r>
              <a:rPr lang="en-US" altLang="ko-KR" sz="1800" dirty="0"/>
              <a:t>:</a:t>
            </a:r>
          </a:p>
          <a:p>
            <a:pPr marL="611338" lvl="1" indent="-287338" eaLnBrk="1" latinLnBrk="0" hangingPunct="1"/>
            <a:r>
              <a:rPr lang="en-US" altLang="ko-KR" sz="1800" dirty="0"/>
              <a:t>crossover:</a:t>
            </a:r>
          </a:p>
          <a:p>
            <a:pPr marL="899188" lvl="2" eaLnBrk="1" latinLnBrk="0" hangingPunct="1"/>
            <a:r>
              <a:rPr lang="en-US" sz="1400" dirty="0"/>
              <a:t>A method that combines two solutions that have been repeatedly developed/improved.</a:t>
            </a:r>
            <a:endParaRPr lang="en-US" altLang="ko-KR" sz="1400" dirty="0"/>
          </a:p>
          <a:p>
            <a:pPr marL="899188" lvl="2" eaLnBrk="1" latinLnBrk="0" hangingPunct="1"/>
            <a:r>
              <a:rPr lang="en-US" sz="1400" dirty="0"/>
              <a:t>This significantly improves the </a:t>
            </a:r>
            <a:r>
              <a:rPr lang="en-US" sz="1400" b="1" dirty="0"/>
              <a:t>solution quality</a:t>
            </a:r>
            <a:r>
              <a:rPr lang="en-US" sz="1400" dirty="0"/>
              <a:t> (which is the main characteristic and the biggest advantage of the GA technique).</a:t>
            </a:r>
            <a:endParaRPr lang="en-US" altLang="ko-KR" sz="1400" dirty="0"/>
          </a:p>
          <a:p>
            <a:pPr marL="611188" lvl="1" eaLnBrk="1" latinLnBrk="0" hangingPunct="1"/>
            <a:r>
              <a:rPr lang="en-US" altLang="ko-KR" sz="1600" dirty="0"/>
              <a:t>Mutation:</a:t>
            </a:r>
          </a:p>
          <a:p>
            <a:pPr marL="899188" lvl="2" eaLnBrk="1" latinLnBrk="0" hangingPunct="1"/>
            <a:r>
              <a:rPr lang="en-US" sz="1400" b="1" dirty="0"/>
              <a:t>Random variations</a:t>
            </a:r>
            <a:r>
              <a:rPr lang="en-US" sz="1400" dirty="0"/>
              <a:t> are applied to the </a:t>
            </a:r>
            <a:r>
              <a:rPr lang="en-US" sz="1400" b="1" dirty="0"/>
              <a:t>new solutions</a:t>
            </a:r>
            <a:r>
              <a:rPr lang="en-US" sz="1400" dirty="0"/>
              <a:t> created by Crossover.</a:t>
            </a:r>
            <a:endParaRPr lang="en-US" altLang="ko-KR" sz="1400" dirty="0"/>
          </a:p>
          <a:p>
            <a:pPr marL="899188" lvl="2" eaLnBrk="1" latinLnBrk="0" hangingPunct="1"/>
            <a:r>
              <a:rPr lang="en-US" sz="1400" dirty="0"/>
              <a:t>The Mutation operation applies random changes to a single solution through </a:t>
            </a:r>
            <a:r>
              <a:rPr lang="en-US" sz="1400" b="1" dirty="0"/>
              <a:t>'randomness'</a:t>
            </a:r>
            <a:r>
              <a:rPr lang="en-US" sz="1400" dirty="0"/>
              <a:t> to search for better solutions.</a:t>
            </a:r>
            <a:endParaRPr lang="en-US" altLang="ko-KR" sz="1400" dirty="0"/>
          </a:p>
          <a:p>
            <a:pPr marL="611188" lvl="1" eaLnBrk="1" latinLnBrk="0" hangingPunct="1"/>
            <a:endParaRPr lang="en-US" altLang="ko-KR" sz="1600" dirty="0"/>
          </a:p>
          <a:p>
            <a:pPr marL="611188" lvl="1" latinLnBrk="0"/>
            <a:endParaRPr lang="en-US" altLang="ko-KR" sz="1800" dirty="0"/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1E0CAD71-AB51-4F58-A112-9FD42458B4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r>
              <a:rPr lang="en-US" altLang="ko-KR">
                <a:solidFill>
                  <a:srgbClr val="99CCFF"/>
                </a:solidFill>
              </a:rPr>
              <a:t>Genetic Algorithm</a:t>
            </a:r>
          </a:p>
        </p:txBody>
      </p:sp>
      <p:sp>
        <p:nvSpPr>
          <p:cNvPr id="18434" name="바닥글 개체 틀 4">
            <a:extLst>
              <a:ext uri="{FF2B5EF4-FFF2-40B4-BE49-F238E27FC236}">
                <a16:creationId xmlns:a16="http://schemas.microsoft.com/office/drawing/2014/main" id="{446C89C6-3372-47BA-87E9-3C122CB79D0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Search Algorithms: Object-Oriented Implementation (Part F)</a:t>
            </a:r>
            <a:endParaRPr lang="ko-KR" altLang="ko-KR"/>
          </a:p>
        </p:txBody>
      </p:sp>
      <p:sp>
        <p:nvSpPr>
          <p:cNvPr id="30725" name="슬라이드 번호 개체 틀 1">
            <a:extLst>
              <a:ext uri="{FF2B5EF4-FFF2-40B4-BE49-F238E27FC236}">
                <a16:creationId xmlns:a16="http://schemas.microsoft.com/office/drawing/2014/main" id="{792A3640-D7DB-402E-BDB4-EC5C5BC77E6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13C5A663-0429-43DD-BBD9-07697EF5A8A4}" type="slidenum">
              <a:rPr lang="ko-KR" altLang="en-US" sz="1200">
                <a:solidFill>
                  <a:srgbClr val="898989"/>
                </a:solidFill>
                <a:latin typeface="Book Antiqua" panose="02040602050305030304" pitchFamily="18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9</a:t>
            </a:fld>
            <a:endParaRPr lang="en-US" altLang="ko-KR" sz="1200">
              <a:solidFill>
                <a:srgbClr val="898989"/>
              </a:solidFill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2660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55A02131-A594-4DDB-B10A-EE365724CD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pPr latinLnBrk="0"/>
            <a:r>
              <a:rPr lang="en-US" altLang="ko-KR">
                <a:solidFill>
                  <a:srgbClr val="99CCFF"/>
                </a:solidFill>
              </a:rPr>
              <a:t>Genetic Algorithm</a:t>
            </a:r>
            <a:endParaRPr lang="en-US" altLang="ko-KR">
              <a:solidFill>
                <a:srgbClr val="D7ADD9"/>
              </a:solidFill>
            </a:endParaRPr>
          </a:p>
        </p:txBody>
      </p:sp>
      <p:sp>
        <p:nvSpPr>
          <p:cNvPr id="18434" name="바닥글 개체 틀 4">
            <a:extLst>
              <a:ext uri="{FF2B5EF4-FFF2-40B4-BE49-F238E27FC236}">
                <a16:creationId xmlns:a16="http://schemas.microsoft.com/office/drawing/2014/main" id="{92B60BBD-600C-4C26-8281-479808B6AD9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latinLnBrk="0">
              <a:defRPr/>
            </a:pPr>
            <a:r>
              <a:rPr lang="en-US" altLang="ko-KR"/>
              <a:t>Search Algorithms: Object-Oriented Implementation (Part F)</a:t>
            </a:r>
            <a:endParaRPr lang="ko-KR" altLang="ko-KR"/>
          </a:p>
        </p:txBody>
      </p:sp>
      <p:sp>
        <p:nvSpPr>
          <p:cNvPr id="31748" name="슬라이드 번호 개체 틀 1">
            <a:extLst>
              <a:ext uri="{FF2B5EF4-FFF2-40B4-BE49-F238E27FC236}">
                <a16:creationId xmlns:a16="http://schemas.microsoft.com/office/drawing/2014/main" id="{BC48713D-1A79-4C91-AAAF-8E5DCFF6CF5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fld id="{8F88D38A-7AA3-4359-B7E1-5A1BD80E83F2}" type="slidenum">
              <a:rPr lang="ko-KR" altLang="en-US" sz="1200">
                <a:solidFill>
                  <a:srgbClr val="898989"/>
                </a:solidFill>
                <a:latin typeface="Book Antiqua" panose="02040602050305030304" pitchFamily="18" charset="0"/>
              </a:rPr>
              <a:pPr latinLnBrk="0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10</a:t>
            </a:fld>
            <a:endParaRPr lang="en-US" altLang="ko-KR" sz="1200">
              <a:solidFill>
                <a:srgbClr val="898989"/>
              </a:solidFill>
              <a:latin typeface="Book Antiqua" panose="02040602050305030304" pitchFamily="18" charset="0"/>
            </a:endParaRPr>
          </a:p>
        </p:txBody>
      </p:sp>
      <p:pic>
        <p:nvPicPr>
          <p:cNvPr id="31749" name="Picture 2">
            <a:extLst>
              <a:ext uri="{FF2B5EF4-FFF2-40B4-BE49-F238E27FC236}">
                <a16:creationId xmlns:a16="http://schemas.microsoft.com/office/drawing/2014/main" id="{ED29A2A3-3D23-46DA-845D-1F055DA7DB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400" y="1629593"/>
            <a:ext cx="7529513" cy="2303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6E3AAEC-0E91-4D36-8411-76EC62DF3B53}"/>
              </a:ext>
            </a:extLst>
          </p:cNvPr>
          <p:cNvSpPr txBox="1"/>
          <p:nvPr/>
        </p:nvSpPr>
        <p:spPr>
          <a:xfrm>
            <a:off x="355117" y="4272193"/>
            <a:ext cx="8609371" cy="19883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50000"/>
              </a:lnSpc>
              <a:buAutoNum type="alphaLcParenBoth"/>
            </a:pPr>
            <a:r>
              <a:rPr lang="en-US" sz="1200" dirty="0"/>
              <a:t>Starts with a diverse set of randomly selected solutions (</a:t>
            </a:r>
            <a:r>
              <a:rPr lang="en-US" sz="1200" b="1" dirty="0"/>
              <a:t>initial population</a:t>
            </a:r>
            <a:r>
              <a:rPr lang="en-US" sz="1200" dirty="0"/>
              <a:t>).</a:t>
            </a:r>
            <a:endParaRPr lang="en-US" altLang="ko-KR" sz="12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marL="228600" indent="-228600">
              <a:lnSpc>
                <a:spcPct val="150000"/>
              </a:lnSpc>
              <a:buAutoNum type="alphaLcParenBoth"/>
            </a:pPr>
            <a:r>
              <a:rPr lang="en-US" sz="1200" dirty="0"/>
              <a:t>Calculates the </a:t>
            </a:r>
            <a:r>
              <a:rPr lang="en-US" sz="1200" b="1" dirty="0"/>
              <a:t>fitness score</a:t>
            </a:r>
            <a:r>
              <a:rPr lang="en-US" sz="1200" dirty="0"/>
              <a:t> for the selected solutions.</a:t>
            </a:r>
            <a:endParaRPr lang="en-US" altLang="ko-KR" sz="12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marL="228600" indent="-228600">
              <a:lnSpc>
                <a:spcPct val="150000"/>
              </a:lnSpc>
              <a:buAutoNum type="alphaLcParenBoth"/>
            </a:pPr>
            <a:r>
              <a:rPr lang="en-US" sz="1200" dirty="0"/>
              <a:t>Each solution is </a:t>
            </a:r>
            <a:r>
              <a:rPr lang="en-US" sz="1200" b="1" dirty="0"/>
              <a:t>selected</a:t>
            </a:r>
            <a:r>
              <a:rPr lang="en-US" sz="1200" dirty="0"/>
              <a:t> with a probability proportional to its fitness function value.</a:t>
            </a:r>
            <a:endParaRPr lang="en-US" altLang="ko-KR" sz="12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marL="228600" indent="-228600">
              <a:lnSpc>
                <a:spcPct val="150000"/>
              </a:lnSpc>
              <a:buAutoNum type="alphaLcParenBoth"/>
            </a:pPr>
            <a:r>
              <a:rPr lang="en-US" sz="1200" dirty="0"/>
              <a:t>Two solutions are selected, and </a:t>
            </a:r>
            <a:r>
              <a:rPr lang="en-US" sz="1200" b="1" dirty="0"/>
              <a:t>crossover</a:t>
            </a:r>
            <a:r>
              <a:rPr lang="en-US" sz="1200" dirty="0"/>
              <a:t> is performed based on a random point to combine the two solutions and generate a new solution.</a:t>
            </a:r>
            <a:endParaRPr lang="en-US" altLang="ko-KR" sz="12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marL="228600" indent="-228600">
              <a:lnSpc>
                <a:spcPct val="150000"/>
              </a:lnSpc>
              <a:buAutoNum type="alphaLcParenBoth"/>
            </a:pPr>
            <a:r>
              <a:rPr lang="en-US" sz="1200" b="1" dirty="0"/>
              <a:t>Mutation</a:t>
            </a:r>
            <a:r>
              <a:rPr lang="en-US" sz="1200" dirty="0"/>
              <a:t> (random change) is applied to each generated solution at a random position. However, since this process is probabilistic, there are cases where mutation is not applied.</a:t>
            </a:r>
            <a:endParaRPr lang="ko-KR" altLang="en-US" sz="12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5" name="설명선: 선 4">
            <a:extLst>
              <a:ext uri="{FF2B5EF4-FFF2-40B4-BE49-F238E27FC236}">
                <a16:creationId xmlns:a16="http://schemas.microsoft.com/office/drawing/2014/main" id="{12A311DC-1284-4350-A455-D2C1965CD8E2}"/>
              </a:ext>
            </a:extLst>
          </p:cNvPr>
          <p:cNvSpPr/>
          <p:nvPr/>
        </p:nvSpPr>
        <p:spPr>
          <a:xfrm>
            <a:off x="495992" y="603289"/>
            <a:ext cx="2304256" cy="318219"/>
          </a:xfrm>
          <a:prstGeom prst="borderCallout1">
            <a:avLst>
              <a:gd name="adj1" fmla="val 104686"/>
              <a:gd name="adj2" fmla="val 79192"/>
              <a:gd name="adj3" fmla="val 367622"/>
              <a:gd name="adj4" fmla="val 96293"/>
            </a:avLst>
          </a:prstGeom>
          <a:ln w="12700">
            <a:solidFill>
              <a:srgbClr val="0033CC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31% = 24 / (24+23+20+11)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2E53602-ABFC-4E6E-A0C0-67279B9C6D5A}"/>
              </a:ext>
            </a:extLst>
          </p:cNvPr>
          <p:cNvSpPr/>
          <p:nvPr/>
        </p:nvSpPr>
        <p:spPr>
          <a:xfrm>
            <a:off x="2606353" y="1794694"/>
            <a:ext cx="376559" cy="192087"/>
          </a:xfrm>
          <a:prstGeom prst="rect">
            <a:avLst/>
          </a:prstGeom>
          <a:noFill/>
          <a:ln w="12700">
            <a:solidFill>
              <a:srgbClr val="00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99844E25-B2C5-499D-AC57-4B2C299C2D0A}"/>
              </a:ext>
            </a:extLst>
          </p:cNvPr>
          <p:cNvCxnSpPr/>
          <p:nvPr/>
        </p:nvCxnSpPr>
        <p:spPr>
          <a:xfrm flipV="1">
            <a:off x="2403214" y="3294100"/>
            <a:ext cx="0" cy="432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53BEB22-C1DB-4743-8385-7D7224A4062F}"/>
              </a:ext>
            </a:extLst>
          </p:cNvPr>
          <p:cNvSpPr txBox="1"/>
          <p:nvPr/>
        </p:nvSpPr>
        <p:spPr>
          <a:xfrm>
            <a:off x="2838662" y="1200120"/>
            <a:ext cx="3642279" cy="33361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/>
              <a:t>Example of GA applied to the </a:t>
            </a:r>
            <a:r>
              <a:rPr lang="en-US" sz="1200" u="sng" dirty="0"/>
              <a:t>8-Queens problem</a:t>
            </a:r>
            <a:endParaRPr lang="ko-KR" altLang="en-US" sz="1200" u="sng" dirty="0">
              <a:latin typeface="+mn-l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682A9229-074E-4C88-91C4-10038F11E3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pPr latinLnBrk="0"/>
            <a:r>
              <a:rPr lang="en-US" altLang="ko-KR">
                <a:solidFill>
                  <a:srgbClr val="99CCFF"/>
                </a:solidFill>
              </a:rPr>
              <a:t>Genetic Algorithm</a:t>
            </a:r>
            <a:endParaRPr lang="en-US" altLang="ko-KR">
              <a:solidFill>
                <a:srgbClr val="D7ADD9"/>
              </a:solidFill>
            </a:endParaRPr>
          </a:p>
        </p:txBody>
      </p:sp>
      <p:sp>
        <p:nvSpPr>
          <p:cNvPr id="18434" name="바닥글 개체 틀 4">
            <a:extLst>
              <a:ext uri="{FF2B5EF4-FFF2-40B4-BE49-F238E27FC236}">
                <a16:creationId xmlns:a16="http://schemas.microsoft.com/office/drawing/2014/main" id="{2C0A1984-EC7B-488B-A391-B384000D54D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latinLnBrk="0">
              <a:defRPr/>
            </a:pPr>
            <a:r>
              <a:rPr lang="en-US" altLang="ko-KR"/>
              <a:t>Search Algorithms: Object-Oriented Implementation (Part F)</a:t>
            </a:r>
            <a:endParaRPr lang="ko-KR" altLang="ko-KR"/>
          </a:p>
        </p:txBody>
      </p:sp>
      <p:sp>
        <p:nvSpPr>
          <p:cNvPr id="32772" name="슬라이드 번호 개체 틀 1">
            <a:extLst>
              <a:ext uri="{FF2B5EF4-FFF2-40B4-BE49-F238E27FC236}">
                <a16:creationId xmlns:a16="http://schemas.microsoft.com/office/drawing/2014/main" id="{16C9613B-92FD-401E-917A-F2E271E2C96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fld id="{F77AD670-FEE9-44C4-89D5-192E45E91DC4}" type="slidenum">
              <a:rPr lang="ko-KR" altLang="en-US" sz="1200">
                <a:solidFill>
                  <a:srgbClr val="898989"/>
                </a:solidFill>
                <a:latin typeface="Book Antiqua" panose="02040602050305030304" pitchFamily="18" charset="0"/>
              </a:rPr>
              <a:pPr latinLnBrk="0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11</a:t>
            </a:fld>
            <a:endParaRPr lang="en-US" altLang="ko-KR" sz="1200">
              <a:solidFill>
                <a:srgbClr val="898989"/>
              </a:solidFill>
              <a:latin typeface="Book Antiqua" panose="02040602050305030304" pitchFamily="18" charset="0"/>
            </a:endParaRPr>
          </a:p>
        </p:txBody>
      </p:sp>
      <p:sp>
        <p:nvSpPr>
          <p:cNvPr id="32773" name="Rectangle 3">
            <a:extLst>
              <a:ext uri="{FF2B5EF4-FFF2-40B4-BE49-F238E27FC236}">
                <a16:creationId xmlns:a16="http://schemas.microsoft.com/office/drawing/2014/main" id="{E5F06734-2CAB-41BC-9E4A-EE8F0D1CC2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238" y="1196975"/>
            <a:ext cx="7775575" cy="46799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function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</a:t>
            </a: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ENETIC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-A</a:t>
            </a: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LGORITHM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ko-KR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population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</a:t>
            </a: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ITNESS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-F</a:t>
            </a: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returns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 individual</a:t>
            </a:r>
          </a:p>
          <a:p>
            <a:pPr latinLnBrk="0">
              <a:spcBef>
                <a:spcPct val="0"/>
              </a:spcBef>
              <a:buFontTx/>
              <a:buNone/>
            </a:pP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inputs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ko-KR" sz="18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population</a:t>
            </a:r>
            <a:r>
              <a:rPr lang="en-US" altLang="ko-KR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 set of individuals</a:t>
            </a:r>
          </a:p>
          <a:p>
            <a:pPr latinLnBrk="0">
              <a:spcBef>
                <a:spcPct val="0"/>
              </a:spcBef>
              <a:buFontTx/>
              <a:buNone/>
            </a:pP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F</a:t>
            </a: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ITNESS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-F</a:t>
            </a: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 function that measures the fitness of an individual</a:t>
            </a:r>
          </a:p>
          <a:p>
            <a:pPr latinLnBrk="0">
              <a:spcBef>
                <a:spcPct val="0"/>
              </a:spcBef>
              <a:buFontTx/>
              <a:buNone/>
            </a:pPr>
            <a:endParaRPr lang="en-US" altLang="ko-KR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atinLnBrk="0">
              <a:spcBef>
                <a:spcPct val="0"/>
              </a:spcBef>
              <a:buFontTx/>
              <a:buNone/>
            </a:pP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</a:t>
            </a:r>
          </a:p>
          <a:p>
            <a:pPr latinLnBrk="0">
              <a:spcBef>
                <a:spcPct val="0"/>
              </a:spcBef>
              <a:buFontTx/>
              <a:buNone/>
            </a:pPr>
            <a:r>
              <a:rPr lang="en-US" altLang="ko-KR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altLang="ko-KR" sz="1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new_population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800" dirty="0">
                <a:latin typeface="굴림" panose="020B0600000101010101" pitchFamily="50" charset="-127"/>
                <a:cs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empty set</a:t>
            </a:r>
          </a:p>
          <a:p>
            <a:pPr latinLnBrk="0">
              <a:spcBef>
                <a:spcPct val="0"/>
              </a:spcBef>
              <a:buFontTx/>
              <a:buNone/>
            </a:pP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</a:t>
            </a: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IZE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ko-KR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population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</a:t>
            </a:r>
          </a:p>
          <a:p>
            <a:pPr latinLnBrk="0">
              <a:spcBef>
                <a:spcPct val="0"/>
              </a:spcBef>
              <a:buFontTx/>
              <a:buNone/>
            </a:pP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(</a:t>
            </a:r>
            <a:r>
              <a:rPr lang="en-US" altLang="ko-KR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ko-KR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ko-KR" altLang="ko-KR" sz="1800" dirty="0">
                <a:latin typeface="굴림" panose="020B0600000101010101" pitchFamily="50" charset="-127"/>
                <a:cs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</a:t>
            </a: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ELECT-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ARENTS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ko-KR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population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</a:t>
            </a: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ITNESS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-F</a:t>
            </a: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atinLnBrk="0">
              <a:spcBef>
                <a:spcPct val="0"/>
              </a:spcBef>
              <a:buFontTx/>
              <a:buNone/>
            </a:pPr>
            <a:r>
              <a:rPr lang="en-US" altLang="ko-KR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child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800" dirty="0">
                <a:latin typeface="굴림" panose="020B0600000101010101" pitchFamily="50" charset="-127"/>
                <a:cs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</a:t>
            </a: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EPRODUCE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ko-KR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ko-KR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atinLnBrk="0">
              <a:spcBef>
                <a:spcPct val="0"/>
              </a:spcBef>
              <a:buFontTx/>
              <a:buNone/>
            </a:pP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(small random probability)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child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800" dirty="0">
                <a:latin typeface="굴림" panose="020B0600000101010101" pitchFamily="50" charset="-127"/>
                <a:cs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</a:t>
            </a: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UTATE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ko-KR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child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atinLnBrk="0">
              <a:spcBef>
                <a:spcPct val="0"/>
              </a:spcBef>
              <a:buFontTx/>
              <a:buNone/>
            </a:pP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add </a:t>
            </a:r>
            <a:r>
              <a:rPr lang="en-US" altLang="ko-KR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child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altLang="ko-KR" sz="1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new_population</a:t>
            </a:r>
            <a:endParaRPr lang="en-US" altLang="ko-KR" sz="1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atinLnBrk="0">
              <a:spcBef>
                <a:spcPct val="0"/>
              </a:spcBef>
              <a:buFontTx/>
              <a:buNone/>
            </a:pP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altLang="ko-KR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population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800" dirty="0">
                <a:latin typeface="굴림" panose="020B0600000101010101" pitchFamily="50" charset="-127"/>
                <a:cs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ko-KR" sz="1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new_population</a:t>
            </a:r>
            <a:endParaRPr lang="en-US" altLang="ko-KR" sz="1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atinLnBrk="0">
              <a:spcBef>
                <a:spcPct val="0"/>
              </a:spcBef>
              <a:buFontTx/>
              <a:buNone/>
            </a:pP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until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some individual is fit enough, or enough time has elapsed</a:t>
            </a:r>
          </a:p>
          <a:p>
            <a:pPr latinLnBrk="0">
              <a:spcBef>
                <a:spcPct val="0"/>
              </a:spcBef>
              <a:buFontTx/>
              <a:buNone/>
            </a:pP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</a:t>
            </a:r>
            <a:r>
              <a:rPr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return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the </a:t>
            </a:r>
            <a:r>
              <a:rPr lang="en-US" altLang="ko-KR" sz="1800" u="sng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best individual in </a:t>
            </a:r>
            <a:r>
              <a:rPr lang="en-US" altLang="ko-KR" sz="1800" i="1" u="sng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population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according to 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ITNESS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-F</a:t>
            </a: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en-US" altLang="ko-KR" sz="18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A99421-1491-44F7-8B0D-8641D319F23E}"/>
              </a:ext>
            </a:extLst>
          </p:cNvPr>
          <p:cNvSpPr txBox="1"/>
          <p:nvPr/>
        </p:nvSpPr>
        <p:spPr>
          <a:xfrm>
            <a:off x="4716597" y="1683716"/>
            <a:ext cx="3424335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0033CC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/>
              <a:t>an initial set of randomly generated solutions</a:t>
            </a:r>
            <a:endParaRPr lang="ko-KR" altLang="en-US" sz="1200" b="1" dirty="0">
              <a:latin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69141B-5C82-4E39-964A-B03F57D3FF15}"/>
              </a:ext>
            </a:extLst>
          </p:cNvPr>
          <p:cNvSpPr txBox="1"/>
          <p:nvPr/>
        </p:nvSpPr>
        <p:spPr>
          <a:xfrm>
            <a:off x="6125229" y="3511092"/>
            <a:ext cx="2908168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0033CC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/>
              <a:t>Select two solutions by fitness scores</a:t>
            </a:r>
            <a:endParaRPr lang="ko-KR" altLang="en-US" sz="1200" b="1" dirty="0">
              <a:latin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507EDB-B0D3-427A-AC85-27959E1E0639}"/>
              </a:ext>
            </a:extLst>
          </p:cNvPr>
          <p:cNvSpPr txBox="1"/>
          <p:nvPr/>
        </p:nvSpPr>
        <p:spPr>
          <a:xfrm>
            <a:off x="3842078" y="3842953"/>
            <a:ext cx="5333511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0033CC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/>
              <a:t>Create a new solution (</a:t>
            </a:r>
            <a:r>
              <a:rPr lang="en-US" sz="1200" b="1" dirty="0"/>
              <a:t>child</a:t>
            </a:r>
            <a:r>
              <a:rPr lang="en-US" sz="1200" dirty="0"/>
              <a:t>) by crossing over the two parent solutions.</a:t>
            </a:r>
            <a:endParaRPr lang="ko-KR" altLang="en-US" sz="1200" b="1" dirty="0">
              <a:latin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3AF546-4C01-42F3-B855-1EC7D3D51C27}"/>
              </a:ext>
            </a:extLst>
          </p:cNvPr>
          <p:cNvSpPr txBox="1"/>
          <p:nvPr/>
        </p:nvSpPr>
        <p:spPr>
          <a:xfrm>
            <a:off x="6806447" y="4167778"/>
            <a:ext cx="2367956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0033CC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/>
              <a:t>Randomly change the solution</a:t>
            </a:r>
            <a:endParaRPr lang="ko-KR" altLang="en-US" sz="1200" b="1" dirty="0">
              <a:latin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BA03E2-AA09-422C-9C5B-2074EDBD50BD}"/>
              </a:ext>
            </a:extLst>
          </p:cNvPr>
          <p:cNvSpPr txBox="1"/>
          <p:nvPr/>
        </p:nvSpPr>
        <p:spPr>
          <a:xfrm>
            <a:off x="4030085" y="2851642"/>
            <a:ext cx="4613764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0033CC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/>
              <a:t>Create an empty set to store the next generation's solutions</a:t>
            </a:r>
            <a:endParaRPr lang="ko-KR" altLang="en-US" sz="1200" b="1" dirty="0">
              <a:latin typeface="+mn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568A85-5854-4DA0-BAE4-32DAC0BB2A1C}"/>
              </a:ext>
            </a:extLst>
          </p:cNvPr>
          <p:cNvSpPr txBox="1"/>
          <p:nvPr/>
        </p:nvSpPr>
        <p:spPr>
          <a:xfrm>
            <a:off x="4114101" y="4506309"/>
            <a:ext cx="3991798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0033CC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/>
              <a:t>Add the newly generated solution to </a:t>
            </a:r>
            <a:r>
              <a:rPr lang="en-US" sz="1200" b="1" dirty="0" err="1"/>
              <a:t>new_population</a:t>
            </a:r>
            <a:r>
              <a:rPr lang="en-US" sz="1200" dirty="0"/>
              <a:t>.</a:t>
            </a:r>
            <a:endParaRPr lang="ko-KR" altLang="en-US" sz="1200" b="1" dirty="0">
              <a:latin typeface="+mn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E48712-7B73-4269-B5CE-A40FB5F1DAFA}"/>
              </a:ext>
            </a:extLst>
          </p:cNvPr>
          <p:cNvSpPr txBox="1"/>
          <p:nvPr/>
        </p:nvSpPr>
        <p:spPr>
          <a:xfrm>
            <a:off x="4114101" y="4857664"/>
            <a:ext cx="2356735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0033CC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latin typeface="+mn-lt"/>
              </a:rPr>
              <a:t>population = </a:t>
            </a:r>
            <a:r>
              <a:rPr lang="en-US" altLang="ko-KR" sz="1200" b="1" dirty="0" err="1">
                <a:latin typeface="+mn-lt"/>
              </a:rPr>
              <a:t>new_population</a:t>
            </a:r>
            <a:endParaRPr lang="ko-KR" altLang="en-US" sz="1200" b="1" dirty="0">
              <a:latin typeface="+mn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E4C4300-F5E1-43C4-86BB-4D955EF06FA7}"/>
              </a:ext>
            </a:extLst>
          </p:cNvPr>
          <p:cNvSpPr txBox="1"/>
          <p:nvPr/>
        </p:nvSpPr>
        <p:spPr>
          <a:xfrm>
            <a:off x="4283968" y="3209781"/>
            <a:ext cx="4724857" cy="25391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0033CC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dirty="0"/>
              <a:t>Generate new solutions until “new solutions = current population size.”</a:t>
            </a:r>
            <a:endParaRPr lang="ko-KR" altLang="en-US" sz="1050" b="1" dirty="0">
              <a:latin typeface="+mn-l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86A960B-FA63-4A0C-A893-FCEC3706CFF8}"/>
              </a:ext>
            </a:extLst>
          </p:cNvPr>
          <p:cNvSpPr txBox="1"/>
          <p:nvPr/>
        </p:nvSpPr>
        <p:spPr>
          <a:xfrm>
            <a:off x="7147545" y="5481667"/>
            <a:ext cx="1138453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0033CC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latin typeface="+mn-lt"/>
              </a:rPr>
              <a:t>best solution</a:t>
            </a:r>
            <a:endParaRPr lang="ko-KR" altLang="en-US" sz="1200" b="1" dirty="0">
              <a:latin typeface="+mn-l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3">
            <a:extLst>
              <a:ext uri="{FF2B5EF4-FFF2-40B4-BE49-F238E27FC236}">
                <a16:creationId xmlns:a16="http://schemas.microsoft.com/office/drawing/2014/main" id="{035F59CF-0CEF-4874-9F99-C12D32405017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>
          <a:xfrm>
            <a:off x="457200" y="981075"/>
            <a:ext cx="8229600" cy="5256213"/>
          </a:xfrm>
        </p:spPr>
        <p:txBody>
          <a:bodyPr/>
          <a:lstStyle/>
          <a:p>
            <a:pPr marL="287338" indent="-287338" eaLnBrk="1" latinLnBrk="0" hangingPunct="1"/>
            <a:r>
              <a:rPr lang="en-US" altLang="ko-KR" sz="1800" dirty="0"/>
              <a:t>Parent selection by </a:t>
            </a:r>
            <a:r>
              <a:rPr lang="en-US" altLang="ko-KR" sz="1800" dirty="0">
                <a:solidFill>
                  <a:srgbClr val="990033"/>
                </a:solidFill>
              </a:rPr>
              <a:t>binary tournament</a:t>
            </a:r>
            <a:r>
              <a:rPr lang="en-US" altLang="ko-KR" sz="1800" dirty="0"/>
              <a:t>:</a:t>
            </a:r>
          </a:p>
          <a:p>
            <a:pPr marL="668338" lvl="1" indent="-342900" eaLnBrk="1" latinLnBrk="0" hangingPunct="1">
              <a:buFont typeface="Arial" panose="020B0604020202020204" pitchFamily="34" charset="0"/>
              <a:buAutoNum type="arabicPeriod"/>
            </a:pPr>
            <a:r>
              <a:rPr lang="en-US" sz="1600" b="1" dirty="0"/>
              <a:t>Randomly select two (2) individuals with replacement</a:t>
            </a:r>
            <a:r>
              <a:rPr lang="en-US" sz="1600" dirty="0"/>
              <a:t> (i.e., the same solution can be selected twice) </a:t>
            </a:r>
            <a:r>
              <a:rPr lang="en-US" sz="1600" b="1" dirty="0"/>
              <a:t>without considering their fitness score</a:t>
            </a:r>
            <a:endParaRPr lang="en-US" altLang="ko-KR" sz="1600" dirty="0"/>
          </a:p>
          <a:p>
            <a:pPr marL="668338" lvl="1" indent="-342900" eaLnBrk="1" latinLnBrk="0" hangingPunct="1">
              <a:buFont typeface="Arial" panose="020B0604020202020204" pitchFamily="34" charset="0"/>
              <a:buAutoNum type="arabicPeriod"/>
            </a:pPr>
            <a:endParaRPr lang="en-US" altLang="ko-KR" sz="1600" dirty="0"/>
          </a:p>
          <a:p>
            <a:pPr marL="668338" lvl="1" indent="-342900" eaLnBrk="1" latinLnBrk="0" hangingPunct="1">
              <a:buFont typeface="Arial" panose="020B0604020202020204" pitchFamily="34" charset="0"/>
              <a:buAutoNum type="arabicPeriod" startAt="2"/>
            </a:pPr>
            <a:r>
              <a:rPr lang="en-US" altLang="ko-KR" sz="1600" dirty="0"/>
              <a:t>Select the one with the best fitness as the winner (ties are broken randomly)</a:t>
            </a:r>
          </a:p>
          <a:p>
            <a:pPr marL="668338" lvl="1" indent="-342900" eaLnBrk="1" latinLnBrk="0" hangingPunct="1"/>
            <a:endParaRPr lang="en-US" altLang="ko-KR" sz="1600" dirty="0"/>
          </a:p>
          <a:p>
            <a:pPr marL="344338" indent="-342900" eaLnBrk="1" latinLnBrk="0" hangingPunct="1"/>
            <a:endParaRPr lang="en-US" altLang="ko-KR" sz="1600" dirty="0"/>
          </a:p>
          <a:p>
            <a:pPr marL="344338" indent="-342900" eaLnBrk="1" latinLnBrk="0" hangingPunct="1"/>
            <a:endParaRPr lang="en-US" altLang="ko-KR" sz="1600" dirty="0"/>
          </a:p>
          <a:p>
            <a:pPr marL="344338" indent="-342900" eaLnBrk="1" latinLnBrk="0" hangingPunct="1"/>
            <a:r>
              <a:rPr lang="en-US" sz="1600" b="1" dirty="0"/>
              <a:t>Repeat the above process twice</a:t>
            </a:r>
            <a:r>
              <a:rPr lang="en-US" sz="1600" dirty="0"/>
              <a:t> to select </a:t>
            </a:r>
            <a:r>
              <a:rPr lang="en-US" sz="1600" b="1" dirty="0"/>
              <a:t>two parents</a:t>
            </a:r>
            <a:r>
              <a:rPr lang="en-US" sz="1600" dirty="0"/>
              <a:t> from the current set of solutions.</a:t>
            </a:r>
            <a:endParaRPr lang="en-US" altLang="ko-KR" sz="1600" dirty="0"/>
          </a:p>
          <a:p>
            <a:pPr marL="344338" indent="-342900" eaLnBrk="1" latinLnBrk="0" hangingPunct="1"/>
            <a:r>
              <a:rPr lang="en-US" sz="1600" dirty="0"/>
              <a:t>Use the two selected parent solutions to generate </a:t>
            </a:r>
            <a:r>
              <a:rPr lang="en-US" sz="1600" b="1" dirty="0"/>
              <a:t>one child (=next solution)</a:t>
            </a:r>
            <a:r>
              <a:rPr lang="en-US" sz="1600" dirty="0"/>
              <a:t>.</a:t>
            </a:r>
            <a:endParaRPr lang="en-US" altLang="ko-KR" sz="1600" dirty="0"/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9D4B0B1E-882E-4FD2-ABAD-58C2346EEC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pPr latinLnBrk="0"/>
            <a:r>
              <a:rPr lang="en-US" altLang="ko-KR">
                <a:solidFill>
                  <a:srgbClr val="99CCFF"/>
                </a:solidFill>
              </a:rPr>
              <a:t>Genetic Algorithm</a:t>
            </a:r>
            <a:endParaRPr lang="en-US" altLang="ko-KR">
              <a:solidFill>
                <a:srgbClr val="D7ADD9"/>
              </a:solidFill>
            </a:endParaRPr>
          </a:p>
        </p:txBody>
      </p:sp>
      <p:sp>
        <p:nvSpPr>
          <p:cNvPr id="18434" name="바닥글 개체 틀 4">
            <a:extLst>
              <a:ext uri="{FF2B5EF4-FFF2-40B4-BE49-F238E27FC236}">
                <a16:creationId xmlns:a16="http://schemas.microsoft.com/office/drawing/2014/main" id="{BD830112-D4F5-4DCB-B5F4-07B3635BA5C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latinLnBrk="0">
              <a:defRPr/>
            </a:pPr>
            <a:r>
              <a:rPr lang="en-US" altLang="ko-KR"/>
              <a:t>Search Algorithms: Object-Oriented Implementation (Part F)</a:t>
            </a:r>
            <a:endParaRPr lang="ko-KR" altLang="ko-KR"/>
          </a:p>
        </p:txBody>
      </p:sp>
      <p:sp>
        <p:nvSpPr>
          <p:cNvPr id="33797" name="슬라이드 번호 개체 틀 1">
            <a:extLst>
              <a:ext uri="{FF2B5EF4-FFF2-40B4-BE49-F238E27FC236}">
                <a16:creationId xmlns:a16="http://schemas.microsoft.com/office/drawing/2014/main" id="{FF8727FD-41CB-4F53-AF80-F5A13B19A33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fld id="{86079414-7571-432D-B91F-916014EB4F03}" type="slidenum">
              <a:rPr lang="ko-KR" altLang="en-US" sz="1200">
                <a:solidFill>
                  <a:srgbClr val="898989"/>
                </a:solidFill>
                <a:latin typeface="Book Antiqua" panose="02040602050305030304" pitchFamily="18" charset="0"/>
              </a:rPr>
              <a:pPr latinLnBrk="0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12</a:t>
            </a:fld>
            <a:endParaRPr lang="en-US" altLang="ko-KR" sz="1200">
              <a:solidFill>
                <a:srgbClr val="898989"/>
              </a:solidFill>
              <a:latin typeface="Book Antiqua" panose="02040602050305030304" pitchFamily="18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4AA93A4-C13D-9597-61C8-40AF818A2085}"/>
              </a:ext>
            </a:extLst>
          </p:cNvPr>
          <p:cNvSpPr/>
          <p:nvPr/>
        </p:nvSpPr>
        <p:spPr>
          <a:xfrm>
            <a:off x="64642" y="1418109"/>
            <a:ext cx="745740" cy="2663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Binary</a:t>
            </a:r>
            <a:endParaRPr lang="ko-KR" altLang="en-US" sz="12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C8A987B-7A4B-EB6E-4954-91B200EFDD83}"/>
              </a:ext>
            </a:extLst>
          </p:cNvPr>
          <p:cNvSpPr/>
          <p:nvPr/>
        </p:nvSpPr>
        <p:spPr>
          <a:xfrm>
            <a:off x="55874" y="2276872"/>
            <a:ext cx="699702" cy="39734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Tournament</a:t>
            </a:r>
            <a:endParaRPr lang="ko-KR" altLang="en-US" sz="10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3">
            <a:extLst>
              <a:ext uri="{FF2B5EF4-FFF2-40B4-BE49-F238E27FC236}">
                <a16:creationId xmlns:a16="http://schemas.microsoft.com/office/drawing/2014/main" id="{035F59CF-0CEF-4874-9F99-C12D32405017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>
          <a:xfrm>
            <a:off x="457200" y="981075"/>
            <a:ext cx="8229600" cy="5256213"/>
          </a:xfrm>
        </p:spPr>
        <p:txBody>
          <a:bodyPr/>
          <a:lstStyle/>
          <a:p>
            <a:pPr marL="287338" indent="-287338" eaLnBrk="1" latinLnBrk="0" hangingPunct="1"/>
            <a:r>
              <a:rPr lang="en-US" altLang="ko-KR" sz="1800" dirty="0">
                <a:solidFill>
                  <a:srgbClr val="990033"/>
                </a:solidFill>
              </a:rPr>
              <a:t>Uniform crossover</a:t>
            </a:r>
            <a:r>
              <a:rPr lang="en-US" altLang="ko-KR" sz="1800" dirty="0"/>
              <a:t>:</a:t>
            </a:r>
          </a:p>
          <a:p>
            <a:pPr marL="611188" lvl="1" eaLnBrk="1" latinLnBrk="0" hangingPunct="1"/>
            <a:r>
              <a:rPr lang="en-US" altLang="ko-KR" sz="1800" dirty="0"/>
              <a:t>Each gene is chosen from either parent stochastically by flipping coin </a:t>
            </a:r>
            <a:r>
              <a:rPr lang="en-US" altLang="ko-KR" sz="1800" u="sng" dirty="0"/>
              <a:t>at each locus</a:t>
            </a:r>
            <a:r>
              <a:rPr lang="en-US" altLang="ko-KR" sz="1400" dirty="0"/>
              <a:t> (</a:t>
            </a:r>
            <a:r>
              <a:rPr lang="ko-KR" altLang="en-US" sz="1400" dirty="0"/>
              <a:t>위치</a:t>
            </a:r>
            <a:r>
              <a:rPr lang="en-US" altLang="ko-KR" sz="1400" dirty="0"/>
              <a:t>, </a:t>
            </a:r>
            <a:r>
              <a:rPr lang="ko-KR" altLang="en-US" sz="1400" dirty="0"/>
              <a:t>장소</a:t>
            </a:r>
            <a:r>
              <a:rPr lang="en-US" altLang="ko-KR" sz="1400" dirty="0"/>
              <a:t>)</a:t>
            </a:r>
            <a:endParaRPr lang="en-US" altLang="ko-KR" sz="1800" dirty="0"/>
          </a:p>
          <a:p>
            <a:pPr marL="611188" lvl="1" eaLnBrk="1" latinLnBrk="0" hangingPunct="1"/>
            <a:endParaRPr lang="en-US" altLang="ko-KR" sz="1600" dirty="0"/>
          </a:p>
          <a:p>
            <a:pPr marL="611188" lvl="1" eaLnBrk="1" latinLnBrk="0" hangingPunct="1"/>
            <a:endParaRPr lang="en-US" altLang="ko-KR" sz="1600" dirty="0"/>
          </a:p>
          <a:p>
            <a:pPr marL="611188" lvl="1" eaLnBrk="1" latinLnBrk="0" hangingPunct="1"/>
            <a:endParaRPr lang="en-US" altLang="ko-KR" sz="1400" dirty="0"/>
          </a:p>
          <a:p>
            <a:pPr marL="611188" lvl="1" eaLnBrk="1" latinLnBrk="0" hangingPunct="1"/>
            <a:r>
              <a:rPr lang="en-US" altLang="ko-KR" sz="1800" dirty="0"/>
              <a:t>If the probability of head </a:t>
            </a:r>
            <a:r>
              <a:rPr lang="en-US" altLang="ko-KR" sz="1800" i="1" dirty="0">
                <a:latin typeface="Times New Roman" panose="02020603050405020304" pitchFamily="18" charset="0"/>
              </a:rPr>
              <a:t>p</a:t>
            </a:r>
            <a:r>
              <a:rPr lang="en-US" altLang="ko-KR" sz="1800" dirty="0">
                <a:latin typeface="Times New Roman" panose="02020603050405020304" pitchFamily="18" charset="0"/>
              </a:rPr>
              <a:t> = 0.5</a:t>
            </a:r>
            <a:r>
              <a:rPr lang="en-US" altLang="ko-KR" sz="1800" dirty="0"/>
              <a:t>, the average number of crossover points is </a:t>
            </a:r>
            <a:r>
              <a:rPr lang="en-US" altLang="ko-KR" sz="1800" i="1" dirty="0">
                <a:latin typeface="Times New Roman" panose="02020603050405020304" pitchFamily="18" charset="0"/>
              </a:rPr>
              <a:t>l</a:t>
            </a:r>
            <a:r>
              <a:rPr lang="en-US" altLang="ko-KR" sz="1800" dirty="0">
                <a:latin typeface="Times New Roman" panose="02020603050405020304" pitchFamily="18" charset="0"/>
              </a:rPr>
              <a:t>/2</a:t>
            </a:r>
            <a:r>
              <a:rPr lang="en-US" altLang="ko-KR" sz="1800" dirty="0"/>
              <a:t>, where </a:t>
            </a:r>
            <a:r>
              <a:rPr lang="en-US" altLang="ko-KR" sz="1800" i="1" dirty="0">
                <a:latin typeface="Times New Roman" panose="02020603050405020304" pitchFamily="18" charset="0"/>
              </a:rPr>
              <a:t>l</a:t>
            </a:r>
            <a:r>
              <a:rPr lang="en-US" altLang="ko-KR" sz="1800" dirty="0"/>
              <a:t> is the length of the chromosome </a:t>
            </a:r>
            <a:r>
              <a:rPr lang="en-US" altLang="ko-KR" sz="1600" dirty="0"/>
              <a:t>(p=0.5</a:t>
            </a:r>
            <a:r>
              <a:rPr lang="ko-KR" altLang="en-US" sz="1600" dirty="0"/>
              <a:t>이면 평균적으로 절반이 교차됨</a:t>
            </a:r>
            <a:r>
              <a:rPr lang="en-US" altLang="ko-KR" sz="1600" dirty="0"/>
              <a:t>)</a:t>
            </a:r>
            <a:endParaRPr lang="en-US" altLang="ko-KR" sz="1800" dirty="0"/>
          </a:p>
          <a:p>
            <a:pPr marL="611188" lvl="1" eaLnBrk="1" latinLnBrk="0" hangingPunct="1"/>
            <a:r>
              <a:rPr lang="en-US" altLang="ko-KR" sz="1800" i="1" dirty="0">
                <a:solidFill>
                  <a:srgbClr val="0033CC"/>
                </a:solidFill>
                <a:latin typeface="Times New Roman" panose="02020603050405020304" pitchFamily="18" charset="0"/>
              </a:rPr>
              <a:t>p</a:t>
            </a:r>
            <a:r>
              <a:rPr lang="en-US" altLang="ko-KR" sz="1800" dirty="0">
                <a:solidFill>
                  <a:srgbClr val="0033CC"/>
                </a:solidFill>
                <a:latin typeface="Times New Roman" panose="02020603050405020304" pitchFamily="18" charset="0"/>
              </a:rPr>
              <a:t> = 0.2</a:t>
            </a:r>
            <a:r>
              <a:rPr lang="en-US" altLang="ko-KR" sz="1800" dirty="0"/>
              <a:t> is a popular choice</a:t>
            </a:r>
          </a:p>
          <a:p>
            <a:pPr marL="287338" indent="-287338" eaLnBrk="1" latinLnBrk="0" hangingPunct="1"/>
            <a:endParaRPr lang="en-US" altLang="ko-KR" sz="1800" dirty="0"/>
          </a:p>
          <a:p>
            <a:pPr marL="287338" indent="-287338" eaLnBrk="1" latinLnBrk="0" hangingPunct="1"/>
            <a:r>
              <a:rPr lang="en-US" altLang="ko-KR" sz="1800" dirty="0"/>
              <a:t>After parent selection, crossover is carried out according to the probability called </a:t>
            </a:r>
            <a:r>
              <a:rPr lang="en-US" altLang="ko-KR" sz="1800" dirty="0">
                <a:solidFill>
                  <a:srgbClr val="990033"/>
                </a:solidFill>
              </a:rPr>
              <a:t>crossover rate</a:t>
            </a:r>
          </a:p>
          <a:p>
            <a:pPr marL="611188" lvl="1" eaLnBrk="1" latinLnBrk="0" hangingPunct="1"/>
            <a:r>
              <a:rPr lang="en-US" sz="1400" dirty="0"/>
              <a:t>This is the probability that determines whether the </a:t>
            </a:r>
            <a:r>
              <a:rPr lang="en-US" sz="1400" b="1" dirty="0"/>
              <a:t>crossover operation itself</a:t>
            </a:r>
            <a:r>
              <a:rPr lang="en-US" sz="1400" dirty="0"/>
              <a:t> is performed. It is generally recommended to use a probability close to </a:t>
            </a:r>
            <a:r>
              <a:rPr lang="en-US" sz="1400" b="1" dirty="0"/>
              <a:t>1</a:t>
            </a:r>
            <a:r>
              <a:rPr lang="en-US" sz="1400" dirty="0"/>
              <a:t> (or a value that dynamically decreases over time may be used).</a:t>
            </a:r>
            <a:endParaRPr lang="en-US" altLang="ko-KR" sz="1600" dirty="0"/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9D4B0B1E-882E-4FD2-ABAD-58C2346EEC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pPr latinLnBrk="0"/>
            <a:r>
              <a:rPr lang="en-US" altLang="ko-KR">
                <a:solidFill>
                  <a:srgbClr val="99CCFF"/>
                </a:solidFill>
              </a:rPr>
              <a:t>Genetic Algorithm</a:t>
            </a:r>
            <a:endParaRPr lang="en-US" altLang="ko-KR">
              <a:solidFill>
                <a:srgbClr val="D7ADD9"/>
              </a:solidFill>
            </a:endParaRPr>
          </a:p>
        </p:txBody>
      </p:sp>
      <p:sp>
        <p:nvSpPr>
          <p:cNvPr id="18434" name="바닥글 개체 틀 4">
            <a:extLst>
              <a:ext uri="{FF2B5EF4-FFF2-40B4-BE49-F238E27FC236}">
                <a16:creationId xmlns:a16="http://schemas.microsoft.com/office/drawing/2014/main" id="{BD830112-D4F5-4DCB-B5F4-07B3635BA5C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latinLnBrk="0">
              <a:defRPr/>
            </a:pPr>
            <a:r>
              <a:rPr lang="en-US" altLang="ko-KR"/>
              <a:t>Search Algorithms: Object-Oriented Implementation (Part F)</a:t>
            </a:r>
            <a:endParaRPr lang="ko-KR" altLang="ko-KR"/>
          </a:p>
        </p:txBody>
      </p:sp>
      <p:sp>
        <p:nvSpPr>
          <p:cNvPr id="33797" name="슬라이드 번호 개체 틀 1">
            <a:extLst>
              <a:ext uri="{FF2B5EF4-FFF2-40B4-BE49-F238E27FC236}">
                <a16:creationId xmlns:a16="http://schemas.microsoft.com/office/drawing/2014/main" id="{FF8727FD-41CB-4F53-AF80-F5A13B19A33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fld id="{86079414-7571-432D-B91F-916014EB4F03}" type="slidenum">
              <a:rPr lang="ko-KR" altLang="en-US" sz="1200">
                <a:solidFill>
                  <a:srgbClr val="898989"/>
                </a:solidFill>
                <a:latin typeface="Book Antiqua" panose="02040602050305030304" pitchFamily="18" charset="0"/>
              </a:rPr>
              <a:pPr latinLnBrk="0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13</a:t>
            </a:fld>
            <a:endParaRPr lang="en-US" altLang="ko-KR" sz="1200">
              <a:solidFill>
                <a:srgbClr val="898989"/>
              </a:solidFill>
              <a:latin typeface="Book Antiqua" panose="02040602050305030304" pitchFamily="18" charset="0"/>
            </a:endParaRPr>
          </a:p>
        </p:txBody>
      </p:sp>
      <p:pic>
        <p:nvPicPr>
          <p:cNvPr id="33798" name="Picture 6">
            <a:extLst>
              <a:ext uri="{FF2B5EF4-FFF2-40B4-BE49-F238E27FC236}">
                <a16:creationId xmlns:a16="http://schemas.microsoft.com/office/drawing/2014/main" id="{1A47BF71-01B5-47D2-B946-A920458EAB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516" y="2060848"/>
            <a:ext cx="5286375" cy="104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2DE1422-E93E-4710-9CCF-E501E3C7BEBF}"/>
              </a:ext>
            </a:extLst>
          </p:cNvPr>
          <p:cNvSpPr txBox="1"/>
          <p:nvPr/>
        </p:nvSpPr>
        <p:spPr>
          <a:xfrm>
            <a:off x="6183624" y="2564904"/>
            <a:ext cx="2840492" cy="43088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0033CC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/>
              <a:t>The crossover operation is performed to generate </a:t>
            </a:r>
            <a:r>
              <a:rPr lang="en-US" sz="1100" b="1" dirty="0"/>
              <a:t>two children</a:t>
            </a:r>
            <a:r>
              <a:rPr lang="en-US" sz="1100" dirty="0"/>
              <a:t> from </a:t>
            </a:r>
            <a:r>
              <a:rPr lang="en-US" sz="1100" b="1" dirty="0"/>
              <a:t>two parents</a:t>
            </a:r>
            <a:r>
              <a:rPr lang="en-US" sz="1100" dirty="0"/>
              <a:t>.</a:t>
            </a:r>
            <a:endParaRPr lang="ko-KR" altLang="en-US" sz="1100" b="1" dirty="0">
              <a:latin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F7DB81-6D12-4A6A-8915-93758180C7E5}"/>
              </a:ext>
            </a:extLst>
          </p:cNvPr>
          <p:cNvSpPr txBox="1"/>
          <p:nvPr/>
        </p:nvSpPr>
        <p:spPr>
          <a:xfrm>
            <a:off x="2826716" y="1064337"/>
            <a:ext cx="5993756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0033CC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/>
              <a:t>Uniform crossover is performed on </a:t>
            </a:r>
            <a:r>
              <a:rPr lang="en-US" sz="1100" b="1" dirty="0"/>
              <a:t>two parents</a:t>
            </a:r>
            <a:r>
              <a:rPr lang="en-US" sz="1100" dirty="0"/>
              <a:t> selected through the binary tournament.</a:t>
            </a:r>
            <a:endParaRPr lang="ko-KR" altLang="en-US" sz="1100" b="1" dirty="0">
              <a:latin typeface="+mn-lt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A2E51BAB-B639-4BB1-A92B-03B151D98791}"/>
              </a:ext>
            </a:extLst>
          </p:cNvPr>
          <p:cNvCxnSpPr/>
          <p:nvPr/>
        </p:nvCxnSpPr>
        <p:spPr>
          <a:xfrm>
            <a:off x="3906836" y="1957846"/>
            <a:ext cx="0" cy="11831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C08257C3-4FD6-4A08-A4F6-FBB7E257C3E9}"/>
              </a:ext>
            </a:extLst>
          </p:cNvPr>
          <p:cNvCxnSpPr/>
          <p:nvPr/>
        </p:nvCxnSpPr>
        <p:spPr>
          <a:xfrm>
            <a:off x="4105768" y="1967523"/>
            <a:ext cx="0" cy="11831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C785EE92-B4A9-40D2-94EF-411712891399}"/>
              </a:ext>
            </a:extLst>
          </p:cNvPr>
          <p:cNvCxnSpPr/>
          <p:nvPr/>
        </p:nvCxnSpPr>
        <p:spPr>
          <a:xfrm>
            <a:off x="4499992" y="1957846"/>
            <a:ext cx="0" cy="11831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9AF8A8CD-D7F5-41E0-94A5-C0CFF707A89C}"/>
              </a:ext>
            </a:extLst>
          </p:cNvPr>
          <p:cNvCxnSpPr/>
          <p:nvPr/>
        </p:nvCxnSpPr>
        <p:spPr>
          <a:xfrm>
            <a:off x="4860032" y="1967523"/>
            <a:ext cx="0" cy="11831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8A40A6AD-82E8-4A7F-B6EA-767231D4DBDB}"/>
              </a:ext>
            </a:extLst>
          </p:cNvPr>
          <p:cNvCxnSpPr/>
          <p:nvPr/>
        </p:nvCxnSpPr>
        <p:spPr>
          <a:xfrm>
            <a:off x="5254256" y="1942568"/>
            <a:ext cx="0" cy="11831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73FCA573-C9B1-4BAC-8648-FCEA37ADE2E7}"/>
              </a:ext>
            </a:extLst>
          </p:cNvPr>
          <p:cNvCxnSpPr/>
          <p:nvPr/>
        </p:nvCxnSpPr>
        <p:spPr>
          <a:xfrm>
            <a:off x="5453188" y="1958977"/>
            <a:ext cx="0" cy="11831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61BD6B4-1169-4F77-BBFD-2A245072EA56}"/>
              </a:ext>
            </a:extLst>
          </p:cNvPr>
          <p:cNvSpPr txBox="1"/>
          <p:nvPr/>
        </p:nvSpPr>
        <p:spPr>
          <a:xfrm>
            <a:off x="6183624" y="1758950"/>
            <a:ext cx="2900992" cy="7694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/>
              <a:t>Whether to perform </a:t>
            </a:r>
            <a:r>
              <a:rPr lang="en-US" sz="1100" b="1" dirty="0"/>
              <a:t>crossover</a:t>
            </a:r>
            <a:r>
              <a:rPr lang="en-US" sz="1100" dirty="0"/>
              <a:t> at each position is determined randomly (The image on the left shows an example where 6 crossover points are selected).</a:t>
            </a:r>
            <a:endParaRPr lang="ko-KR" altLang="en-US" sz="11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21108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4818" name="Rectangle 3">
                <a:extLst>
                  <a:ext uri="{FF2B5EF4-FFF2-40B4-BE49-F238E27FC236}">
                    <a16:creationId xmlns:a16="http://schemas.microsoft.com/office/drawing/2014/main" id="{CC451C03-5FB5-4355-BF3D-8999003B75CD}"/>
                  </a:ext>
                </a:extLst>
              </p:cNvPr>
              <p:cNvSpPr>
                <a:spLocks noGrp="1" noChangeAspect="1" noChangeArrowheads="1"/>
              </p:cNvSpPr>
              <p:nvPr>
                <p:ph idx="1"/>
              </p:nvPr>
            </p:nvSpPr>
            <p:spPr>
              <a:xfrm>
                <a:off x="457200" y="981075"/>
                <a:ext cx="8229600" cy="5256213"/>
              </a:xfrm>
            </p:spPr>
            <p:txBody>
              <a:bodyPr/>
              <a:lstStyle/>
              <a:p>
                <a:pPr marL="287338" indent="-287338" eaLnBrk="1" latinLnBrk="0" hangingPunct="1"/>
                <a:r>
                  <a:rPr lang="en-US" altLang="ko-KR" sz="1600" dirty="0"/>
                  <a:t>Bit-flip </a:t>
                </a:r>
                <a:r>
                  <a:rPr lang="en-US" altLang="ko-KR" sz="1600" dirty="0">
                    <a:solidFill>
                      <a:srgbClr val="0033CC"/>
                    </a:solidFill>
                  </a:rPr>
                  <a:t>mutation</a:t>
                </a:r>
                <a:r>
                  <a:rPr lang="en-US" altLang="ko-KR" sz="1600" dirty="0"/>
                  <a:t> for binary representation:</a:t>
                </a:r>
              </a:p>
              <a:p>
                <a:pPr marL="611188" lvl="1" indent="-287338" eaLnBrk="1" latinLnBrk="0" hangingPunct="1"/>
                <a:r>
                  <a:rPr lang="en-US" sz="1400" dirty="0"/>
                  <a:t>The mutation operation is applied with a </a:t>
                </a:r>
                <a:r>
                  <a:rPr lang="en-US" sz="1400" b="1" dirty="0"/>
                  <a:t>low probability</a:t>
                </a:r>
                <a:r>
                  <a:rPr lang="en-US" sz="1400" dirty="0"/>
                  <a:t> to a single </a:t>
                </a:r>
                <a:r>
                  <a:rPr lang="en-US" sz="1400" b="1" dirty="0"/>
                  <a:t>child solution</a:t>
                </a:r>
                <a:r>
                  <a:rPr lang="en-US" sz="1400" dirty="0"/>
                  <a:t> generated through crossover.</a:t>
                </a:r>
                <a:endParaRPr lang="en-US" altLang="ko-KR" sz="1400" dirty="0"/>
              </a:p>
              <a:p>
                <a:pPr marL="611188" lvl="1" indent="-287338" eaLnBrk="1" latinLnBrk="0" hangingPunct="1"/>
                <a:r>
                  <a:rPr lang="en-US" altLang="ko-KR" sz="1400" dirty="0"/>
                  <a:t>Each bit is flipped with a small mutation probability called </a:t>
                </a:r>
                <a:r>
                  <a:rPr lang="en-US" altLang="ko-KR" sz="1400" dirty="0">
                    <a:solidFill>
                      <a:srgbClr val="990033"/>
                    </a:solidFill>
                  </a:rPr>
                  <a:t>mutation rate</a:t>
                </a:r>
              </a:p>
              <a:p>
                <a:pPr marL="611188" lvl="1" indent="-287338" eaLnBrk="1" latinLnBrk="0" hangingPunct="1"/>
                <a:r>
                  <a:rPr lang="en-US" altLang="ko-KR" sz="1400" dirty="0"/>
                  <a:t>Widely-used mutation rate : </a:t>
                </a:r>
                <a:r>
                  <a:rPr lang="en-US" altLang="ko-KR" sz="1400" dirty="0">
                    <a:latin typeface="Times New Roman" panose="02020603050405020304" pitchFamily="18" charset="0"/>
                  </a:rPr>
                  <a:t>1/</a:t>
                </a:r>
                <a:r>
                  <a:rPr lang="en-US" altLang="ko-KR" sz="1400" i="1" dirty="0">
                    <a:latin typeface="Times New Roman" panose="02020603050405020304" pitchFamily="18" charset="0"/>
                  </a:rPr>
                  <a:t>l</a:t>
                </a:r>
                <a:r>
                  <a:rPr lang="en-US" altLang="ko-KR" sz="1400" dirty="0"/>
                  <a:t> (</a:t>
                </a:r>
                <a:r>
                  <a:rPr lang="en-US" altLang="ko-KR" sz="1400" i="1" dirty="0">
                    <a:latin typeface="Times New Roman" panose="02020603050405020304" pitchFamily="18" charset="0"/>
                  </a:rPr>
                  <a:t>l</a:t>
                </a:r>
                <a:r>
                  <a:rPr lang="en-US" altLang="ko-KR" sz="1400" dirty="0"/>
                  <a:t> = t</a:t>
                </a:r>
                <a:r>
                  <a:rPr lang="en-US" sz="1400" dirty="0"/>
                  <a:t>he length of one solution</a:t>
                </a:r>
                <a:r>
                  <a:rPr lang="en-US" altLang="ko-KR" sz="1400" dirty="0"/>
                  <a:t>)</a:t>
                </a:r>
              </a:p>
              <a:p>
                <a:pPr marL="287338" indent="-287338" eaLnBrk="1" latinLnBrk="0" hangingPunct="1"/>
                <a:endParaRPr lang="en-US" altLang="ko-KR" sz="1600" dirty="0"/>
              </a:p>
              <a:p>
                <a:pPr marL="287338" indent="-287338" eaLnBrk="1" latinLnBrk="0" hangingPunct="1"/>
                <a:r>
                  <a:rPr lang="en-US" altLang="ko-KR" sz="1600" dirty="0"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However,</a:t>
                </a:r>
              </a:p>
              <a:p>
                <a:pPr marL="611338" lvl="1" indent="-287338" eaLnBrk="1" latinLnBrk="0" hangingPunct="1"/>
                <a:r>
                  <a:rPr lang="en-US" sz="1400" dirty="0"/>
                  <a:t>In order to perform operations like </a:t>
                </a:r>
                <a:r>
                  <a:rPr lang="en-US" sz="1400" b="1" dirty="0"/>
                  <a:t>Crossover</a:t>
                </a:r>
                <a:r>
                  <a:rPr lang="en-US" sz="1400" dirty="0"/>
                  <a:t> and </a:t>
                </a:r>
                <a:r>
                  <a:rPr lang="en-US" sz="1400" b="1" dirty="0"/>
                  <a:t>Mutation</a:t>
                </a:r>
                <a:r>
                  <a:rPr lang="en-US" sz="1400" dirty="0"/>
                  <a:t>, each solution must be represented in the form of an </a:t>
                </a:r>
                <a:r>
                  <a:rPr lang="en-US" sz="1400" b="1" dirty="0"/>
                  <a:t>array, list, or string</a:t>
                </a:r>
                <a:r>
                  <a:rPr lang="en-US" sz="1400" dirty="0"/>
                  <a:t>. (The GA technique itself originated from the idea of combining DNA sequences.)</a:t>
                </a:r>
                <a:endParaRPr lang="en-US" altLang="ko-KR" sz="1400" dirty="0">
                  <a:latin typeface="나눔스퀘어_ac" panose="020B0600000101010101" pitchFamily="50" charset="-127"/>
                  <a:ea typeface="나눔스퀘어_ac" panose="020B0600000101010101" pitchFamily="50" charset="-127"/>
                </a:endParaRPr>
              </a:p>
              <a:p>
                <a:pPr marL="611338" lvl="1" indent="-287338" eaLnBrk="1" latinLnBrk="0" hangingPunct="1"/>
                <a:r>
                  <a:rPr lang="en-US" sz="1400" dirty="0"/>
                  <a:t>The GA technique is a </a:t>
                </a:r>
                <a:r>
                  <a:rPr lang="en-US" sz="1400" b="1" dirty="0"/>
                  <a:t>Meta-Heuristic</a:t>
                </a:r>
                <a:r>
                  <a:rPr lang="en-US" sz="1400" dirty="0"/>
                  <a:t> method and must be applicable to all types of problems.</a:t>
                </a:r>
                <a:endParaRPr lang="en-US" altLang="ko-KR" sz="1400" dirty="0">
                  <a:latin typeface="나눔스퀘어_ac" panose="020B0600000101010101" pitchFamily="50" charset="-127"/>
                  <a:ea typeface="나눔스퀘어_ac" panose="020B0600000101010101" pitchFamily="50" charset="-127"/>
                </a:endParaRPr>
              </a:p>
              <a:p>
                <a:pPr marL="611338" lvl="1" indent="-287338" eaLnBrk="1" latinLnBrk="0" hangingPunct="1"/>
                <a:r>
                  <a:rPr lang="en-US" sz="1800" dirty="0"/>
                  <a:t>For example, when applying it to an optimization problem that determines 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1800" dirty="0"/>
                  <a:t> to minimize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80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−2</m:t>
                    </m:r>
                    <m:sSup>
                      <m:sSupPr>
                        <m:ctrlPr>
                          <a:rPr lang="en-US" sz="18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8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800" dirty="0"/>
                  <a:t>:</a:t>
                </a:r>
                <a:r>
                  <a:rPr lang="en-US" altLang="ko-KR" sz="1400" dirty="0"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,</a:t>
                </a:r>
              </a:p>
              <a:p>
                <a:pPr marL="899338" lvl="2" indent="-287338" eaLnBrk="1" latinLnBrk="0" hangingPunct="1"/>
                <a:r>
                  <a:rPr lang="en-US" altLang="ko-KR" sz="1400" dirty="0"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With x=1.23</a:t>
                </a:r>
                <a:r>
                  <a:rPr lang="ko-KR" altLang="en-US" sz="1400" dirty="0"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 </a:t>
                </a:r>
                <a:r>
                  <a:rPr lang="en-US" altLang="ko-KR" sz="1400" dirty="0"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and</a:t>
                </a:r>
                <a:r>
                  <a:rPr lang="ko-KR" altLang="en-US" sz="1400" dirty="0"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 </a:t>
                </a:r>
                <a:r>
                  <a:rPr lang="en-US" altLang="ko-KR" sz="1400" dirty="0"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x=3.42 how do you do</a:t>
                </a:r>
                <a:r>
                  <a:rPr lang="ko-KR" altLang="en-US" sz="1400" dirty="0"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 </a:t>
                </a:r>
                <a:r>
                  <a:rPr lang="en-US" altLang="ko-KR" sz="1400" dirty="0"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crossover or mutation...?</a:t>
                </a:r>
              </a:p>
              <a:p>
                <a:pPr marL="899338" lvl="2" indent="-287338" eaLnBrk="1" latinLnBrk="0" hangingPunct="1"/>
                <a:r>
                  <a:rPr lang="en-US" altLang="ko-KR" sz="1400" dirty="0"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Let‘s do </a:t>
                </a:r>
                <a:r>
                  <a:rPr lang="en-US" altLang="ko-KR" sz="1400" dirty="0">
                    <a:highlight>
                      <a:srgbClr val="FFFF00"/>
                    </a:highlight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BINARY ENCODING/DECODING</a:t>
                </a:r>
              </a:p>
            </p:txBody>
          </p:sp>
        </mc:Choice>
        <mc:Fallback>
          <p:sp>
            <p:nvSpPr>
              <p:cNvPr id="34818" name="Rectangle 3">
                <a:extLst>
                  <a:ext uri="{FF2B5EF4-FFF2-40B4-BE49-F238E27FC236}">
                    <a16:creationId xmlns:a16="http://schemas.microsoft.com/office/drawing/2014/main" id="{CC451C03-5FB5-4355-BF3D-8999003B75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81075"/>
                <a:ext cx="8229600" cy="5256213"/>
              </a:xfrm>
              <a:blipFill>
                <a:blip r:embed="rId2"/>
                <a:stretch>
                  <a:fillRect l="-296" r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819" name="Rectangle 2">
            <a:extLst>
              <a:ext uri="{FF2B5EF4-FFF2-40B4-BE49-F238E27FC236}">
                <a16:creationId xmlns:a16="http://schemas.microsoft.com/office/drawing/2014/main" id="{784AA55F-1D9E-4CCF-B996-8C15AC4485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pPr latinLnBrk="0"/>
            <a:r>
              <a:rPr lang="en-US" altLang="ko-KR">
                <a:solidFill>
                  <a:srgbClr val="99CCFF"/>
                </a:solidFill>
              </a:rPr>
              <a:t>Genetic Algorithm</a:t>
            </a:r>
          </a:p>
        </p:txBody>
      </p:sp>
      <p:sp>
        <p:nvSpPr>
          <p:cNvPr id="18434" name="바닥글 개체 틀 4">
            <a:extLst>
              <a:ext uri="{FF2B5EF4-FFF2-40B4-BE49-F238E27FC236}">
                <a16:creationId xmlns:a16="http://schemas.microsoft.com/office/drawing/2014/main" id="{B6A7C1AB-35D3-44ED-9A7A-C0D92BB11D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latinLnBrk="0">
              <a:defRPr/>
            </a:pPr>
            <a:r>
              <a:rPr lang="en-US" altLang="ko-KR"/>
              <a:t>Search Algorithms: Object-Oriented Implementation (Part F)</a:t>
            </a:r>
            <a:endParaRPr lang="ko-KR" altLang="ko-KR"/>
          </a:p>
        </p:txBody>
      </p:sp>
      <p:sp>
        <p:nvSpPr>
          <p:cNvPr id="34821" name="슬라이드 번호 개체 틀 1">
            <a:extLst>
              <a:ext uri="{FF2B5EF4-FFF2-40B4-BE49-F238E27FC236}">
                <a16:creationId xmlns:a16="http://schemas.microsoft.com/office/drawing/2014/main" id="{62435BBA-83DB-40AA-B954-857C5FC9D5D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fld id="{7C282551-630C-493B-9ED4-EE48706795EA}" type="slidenum">
              <a:rPr lang="ko-KR" altLang="en-US" sz="1200">
                <a:solidFill>
                  <a:srgbClr val="898989"/>
                </a:solidFill>
                <a:latin typeface="Book Antiqua" panose="02040602050305030304" pitchFamily="18" charset="0"/>
              </a:rPr>
              <a:pPr latinLnBrk="0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14</a:t>
            </a:fld>
            <a:endParaRPr lang="en-US" altLang="ko-KR" sz="1200">
              <a:solidFill>
                <a:srgbClr val="898989"/>
              </a:solidFill>
              <a:latin typeface="Book Antiqua" panose="0204060205030503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3">
            <a:extLst>
              <a:ext uri="{FF2B5EF4-FFF2-40B4-BE49-F238E27FC236}">
                <a16:creationId xmlns:a16="http://schemas.microsoft.com/office/drawing/2014/main" id="{4EF54CDA-DCC1-4B39-8768-254F271302DB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>
          <a:xfrm>
            <a:off x="457200" y="981075"/>
            <a:ext cx="8229600" cy="5256213"/>
          </a:xfrm>
        </p:spPr>
        <p:txBody>
          <a:bodyPr/>
          <a:lstStyle/>
          <a:p>
            <a:pPr marL="0" indent="0" eaLnBrk="1" latinLnBrk="0" hangingPunct="1">
              <a:buFont typeface="Arial" panose="020B0604020202020204" pitchFamily="34" charset="0"/>
              <a:buNone/>
            </a:pPr>
            <a:r>
              <a:rPr lang="en-US" altLang="ko-KR" sz="1800" dirty="0"/>
              <a:t>  </a:t>
            </a:r>
            <a:r>
              <a:rPr lang="en-US" altLang="ko-KR" sz="1800" u="sng" dirty="0"/>
              <a:t>Example</a:t>
            </a:r>
            <a:r>
              <a:rPr lang="en-US" altLang="ko-KR" sz="1800" dirty="0"/>
              <a:t>: </a:t>
            </a:r>
            <a:r>
              <a:rPr lang="en-US" altLang="ko-KR" sz="1800" dirty="0">
                <a:solidFill>
                  <a:srgbClr val="0033CC"/>
                </a:solidFill>
              </a:rPr>
              <a:t>Binary encoding/decoding</a:t>
            </a:r>
            <a:r>
              <a:rPr lang="en-US" altLang="ko-KR" sz="1800" dirty="0"/>
              <a:t> for numerical optimization</a:t>
            </a:r>
          </a:p>
          <a:p>
            <a:pPr marL="611188" lvl="1" eaLnBrk="1" latinLnBrk="0" hangingPunct="1"/>
            <a:endParaRPr lang="en-US" altLang="ko-KR" sz="1600" dirty="0"/>
          </a:p>
          <a:p>
            <a:pPr marL="611188" lvl="1" eaLnBrk="1" latinLnBrk="0" hangingPunct="1"/>
            <a:endParaRPr lang="en-US" altLang="ko-KR" sz="1600" dirty="0"/>
          </a:p>
          <a:p>
            <a:pPr marL="611188" lvl="1" eaLnBrk="1" latinLnBrk="0" hangingPunct="1"/>
            <a:endParaRPr lang="en-US" altLang="ko-KR" sz="1400" dirty="0"/>
          </a:p>
          <a:p>
            <a:pPr marL="611188" lvl="1" eaLnBrk="1" latinLnBrk="0" hangingPunct="1"/>
            <a:r>
              <a:rPr lang="en-US" altLang="ko-KR" dirty="0"/>
              <a:t>Assuming a 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ko-KR" dirty="0"/>
              <a:t>-bit binary encoding </a:t>
            </a:r>
            <a:r>
              <a:rPr lang="en-US" altLang="ko-KR" u="sng" dirty="0"/>
              <a:t>for each variable</a:t>
            </a:r>
            <a:r>
              <a:rPr lang="en-US" altLang="ko-KR" dirty="0"/>
              <a:t>, the code shown below can be decoded as (= </a:t>
            </a:r>
            <a:r>
              <a:rPr lang="en-US" altLang="ko-KR" dirty="0">
                <a:solidFill>
                  <a:srgbClr val="0033CC"/>
                </a:solidFill>
              </a:rPr>
              <a:t>discretization</a:t>
            </a:r>
            <a:r>
              <a:rPr lang="en-US" altLang="ko-KR" dirty="0"/>
              <a:t>)</a:t>
            </a:r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A99CBD4F-5C90-4CB0-AB68-6570EA7F39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pPr latinLnBrk="0"/>
            <a:r>
              <a:rPr lang="en-US" altLang="ko-KR">
                <a:solidFill>
                  <a:srgbClr val="99CCFF"/>
                </a:solidFill>
              </a:rPr>
              <a:t>Genetic Algorithm</a:t>
            </a:r>
          </a:p>
        </p:txBody>
      </p:sp>
      <p:sp>
        <p:nvSpPr>
          <p:cNvPr id="18434" name="바닥글 개체 틀 4">
            <a:extLst>
              <a:ext uri="{FF2B5EF4-FFF2-40B4-BE49-F238E27FC236}">
                <a16:creationId xmlns:a16="http://schemas.microsoft.com/office/drawing/2014/main" id="{BC20870E-24D2-4181-9509-5B90BFC3718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latinLnBrk="0">
              <a:defRPr/>
            </a:pPr>
            <a:r>
              <a:rPr lang="en-US" altLang="ko-KR" dirty="0"/>
              <a:t>Search Algorithms: Object-Oriented Implementation (Part F)</a:t>
            </a:r>
            <a:endParaRPr lang="ko-KR" altLang="ko-KR" dirty="0"/>
          </a:p>
        </p:txBody>
      </p:sp>
      <p:sp>
        <p:nvSpPr>
          <p:cNvPr id="35845" name="슬라이드 번호 개체 틀 1">
            <a:extLst>
              <a:ext uri="{FF2B5EF4-FFF2-40B4-BE49-F238E27FC236}">
                <a16:creationId xmlns:a16="http://schemas.microsoft.com/office/drawing/2014/main" id="{A082385A-D264-42C9-830D-ADF1D214427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fld id="{9D4CAC14-179A-489D-A243-5FCB9C628C91}" type="slidenum">
              <a:rPr lang="ko-KR" altLang="en-US" sz="1200">
                <a:solidFill>
                  <a:srgbClr val="898989"/>
                </a:solidFill>
                <a:latin typeface="Book Antiqua" panose="02040602050305030304" pitchFamily="18" charset="0"/>
              </a:rPr>
              <a:pPr latinLnBrk="0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15</a:t>
            </a:fld>
            <a:endParaRPr lang="en-US" altLang="ko-KR" sz="1200">
              <a:solidFill>
                <a:srgbClr val="898989"/>
              </a:solidFill>
              <a:latin typeface="Book Antiqua" panose="02040602050305030304" pitchFamily="18" charset="0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DAEE36D-8A1A-4C07-9BE3-405FC2C5DB9D}"/>
              </a:ext>
            </a:extLst>
          </p:cNvPr>
          <p:cNvGrpSpPr/>
          <p:nvPr/>
        </p:nvGrpSpPr>
        <p:grpSpPr>
          <a:xfrm>
            <a:off x="7261820" y="119057"/>
            <a:ext cx="1776968" cy="1339955"/>
            <a:chOff x="6023492" y="4780016"/>
            <a:chExt cx="1776968" cy="1339955"/>
          </a:xfrm>
        </p:grpSpPr>
        <p:pic>
          <p:nvPicPr>
            <p:cNvPr id="7" name="Picture 8">
              <a:extLst>
                <a:ext uri="{FF2B5EF4-FFF2-40B4-BE49-F238E27FC236}">
                  <a16:creationId xmlns:a16="http://schemas.microsoft.com/office/drawing/2014/main" id="{B4F6BEA6-3380-472D-909E-621A61A0448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97036" y="4780016"/>
              <a:ext cx="1428074" cy="1057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TextBox 20">
              <a:extLst>
                <a:ext uri="{FF2B5EF4-FFF2-40B4-BE49-F238E27FC236}">
                  <a16:creationId xmlns:a16="http://schemas.microsoft.com/office/drawing/2014/main" id="{1BD5CAE8-D3A5-4B89-A065-B84387C300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23492" y="5873750"/>
              <a:ext cx="1776968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latinLnBrk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latinLnBrk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latinLnBrk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latinLnBrk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latinLnBrk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latinLnBrk="0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ko-KR" sz="1000" dirty="0">
                  <a:cs typeface="Times New Roman" panose="02020603050405020304" pitchFamily="18" charset="0"/>
                </a:rPr>
                <a:t>-D </a:t>
              </a:r>
              <a:r>
                <a:rPr lang="en-US" altLang="ko-KR" sz="1000" dirty="0" err="1">
                  <a:cs typeface="Times New Roman" panose="02020603050405020304" pitchFamily="18" charset="0"/>
                </a:rPr>
                <a:t>Griewank</a:t>
              </a:r>
              <a:r>
                <a:rPr lang="en-US" altLang="ko-KR" sz="1000" dirty="0">
                  <a:cs typeface="Times New Roman" panose="02020603050405020304" pitchFamily="18" charset="0"/>
                </a:rPr>
                <a:t> function</a:t>
              </a:r>
              <a:endParaRPr lang="ko-KR" altLang="en-US" sz="1000" dirty="0"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54093913-B735-4F98-BCD0-3F547B4DB3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5250391"/>
              </p:ext>
            </p:extLst>
          </p:nvPr>
        </p:nvGraphicFramePr>
        <p:xfrm>
          <a:off x="1511300" y="4616450"/>
          <a:ext cx="3060700" cy="46831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6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0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60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60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60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60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060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060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0607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0607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683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1" marR="91451" marT="45749" marB="45749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1" marR="91451" marT="45749" marB="45749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1" marR="91451" marT="45749" marB="45749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1" marR="91451" marT="45749" marB="45749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1" marR="91451" marT="45749" marB="45749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1" marR="91451" marT="45749" marB="45749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1" marR="91451" marT="45749" marB="45749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1" marR="91451" marT="45749" marB="45749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ko-KR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1" marR="91451" marT="45749" marB="45749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ko-KR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1" marR="91451" marT="45749" marB="45749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Object 7">
            <a:extLst>
              <a:ext uri="{FF2B5EF4-FFF2-40B4-BE49-F238E27FC236}">
                <a16:creationId xmlns:a16="http://schemas.microsoft.com/office/drawing/2014/main" id="{64794AD3-BB56-4D1D-8983-ED631F87B8B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2198171"/>
              </p:ext>
            </p:extLst>
          </p:nvPr>
        </p:nvGraphicFramePr>
        <p:xfrm>
          <a:off x="1258888" y="3332163"/>
          <a:ext cx="3778250" cy="960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286000" imgH="584200" progId="Equation.DSMT4">
                  <p:embed/>
                </p:oleObj>
              </mc:Choice>
              <mc:Fallback>
                <p:oleObj name="Equation" r:id="rId3" imgW="2286000" imgH="584200" progId="Equation.DSMT4">
                  <p:embed/>
                  <p:pic>
                    <p:nvPicPr>
                      <p:cNvPr id="10" name="Object 7">
                        <a:extLst>
                          <a:ext uri="{FF2B5EF4-FFF2-40B4-BE49-F238E27FC236}">
                            <a16:creationId xmlns:a16="http://schemas.microsoft.com/office/drawing/2014/main" id="{64794AD3-BB56-4D1D-8983-ED631F87B8B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3332163"/>
                        <a:ext cx="3778250" cy="960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73" name="Object 7">
            <a:extLst>
              <a:ext uri="{FF2B5EF4-FFF2-40B4-BE49-F238E27FC236}">
                <a16:creationId xmlns:a16="http://schemas.microsoft.com/office/drawing/2014/main" id="{4D3CC4A1-B279-4650-BD97-F00246A18B0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1896934"/>
              </p:ext>
            </p:extLst>
          </p:nvPr>
        </p:nvGraphicFramePr>
        <p:xfrm>
          <a:off x="1246188" y="1524000"/>
          <a:ext cx="6316662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822700" imgH="457200" progId="Equation.DSMT4">
                  <p:embed/>
                </p:oleObj>
              </mc:Choice>
              <mc:Fallback>
                <p:oleObj name="Equation" r:id="rId5" imgW="3822700" imgH="457200" progId="Equation.DSMT4">
                  <p:embed/>
                  <p:pic>
                    <p:nvPicPr>
                      <p:cNvPr id="35873" name="Object 7">
                        <a:extLst>
                          <a:ext uri="{FF2B5EF4-FFF2-40B4-BE49-F238E27FC236}">
                            <a16:creationId xmlns:a16="http://schemas.microsoft.com/office/drawing/2014/main" id="{4D3CC4A1-B279-4650-BD97-F00246A18B0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6188" y="1524000"/>
                        <a:ext cx="6316662" cy="752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1BB1992E-03C9-465F-B959-E8548279D56D}"/>
              </a:ext>
            </a:extLst>
          </p:cNvPr>
          <p:cNvSpPr txBox="1"/>
          <p:nvPr/>
        </p:nvSpPr>
        <p:spPr>
          <a:xfrm>
            <a:off x="882547" y="4643511"/>
            <a:ext cx="5416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x</a:t>
            </a:r>
            <a:r>
              <a:rPr lang="ko-KR" altLang="en-US" dirty="0"/>
              <a:t> </a:t>
            </a:r>
            <a:r>
              <a:rPr lang="en-US" altLang="ko-KR" dirty="0"/>
              <a:t>=</a:t>
            </a:r>
            <a:r>
              <a:rPr lang="ko-KR" altLang="en-US" dirty="0"/>
              <a:t>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C5AD64-6F76-459F-B48E-0633D1B5701B}"/>
              </a:ext>
            </a:extLst>
          </p:cNvPr>
          <p:cNvSpPr txBox="1"/>
          <p:nvPr/>
        </p:nvSpPr>
        <p:spPr>
          <a:xfrm>
            <a:off x="151843" y="5219104"/>
            <a:ext cx="504130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Above: Example of generating one arbitrary solution (</a:t>
            </a:r>
            <a:r>
              <a:rPr lang="en-US" sz="1000" b="1" dirty="0"/>
              <a:t>assuming the solution range</a:t>
            </a:r>
            <a:r>
              <a:rPr lang="en-US" sz="1000" dirty="0"/>
              <a:t> is -30 to +30)</a:t>
            </a:r>
          </a:p>
          <a:p>
            <a:r>
              <a:rPr lang="en-US" altLang="ko-KR" sz="10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[1] </a:t>
            </a:r>
            <a:r>
              <a:rPr lang="en-US" sz="1000" dirty="0"/>
              <a:t>Generate an arbitrary combination of </a:t>
            </a:r>
            <a:r>
              <a:rPr lang="en-US" sz="1000" b="1" dirty="0"/>
              <a:t>[10 bits]</a:t>
            </a:r>
            <a:r>
              <a:rPr lang="en-US" sz="1000" dirty="0"/>
              <a:t> and divide it by 2^10 (the result is a real number between 0 and 1).</a:t>
            </a:r>
            <a:endParaRPr lang="en-US" altLang="ko-KR" sz="10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r>
              <a:rPr lang="en-US" altLang="ko-KR" sz="10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[2] </a:t>
            </a:r>
            <a:r>
              <a:rPr lang="en-US" sz="1000" dirty="0"/>
              <a:t>Multiply the </a:t>
            </a:r>
            <a:r>
              <a:rPr lang="en-US" sz="1000" b="1" dirty="0"/>
              <a:t>[calculated real number]</a:t>
            </a:r>
            <a:r>
              <a:rPr lang="en-US" sz="1000" dirty="0"/>
              <a:t> by the total range (=60) to scale the number to be between 0 and 60.</a:t>
            </a:r>
            <a:endParaRPr lang="en-US" altLang="ko-KR" sz="10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r>
              <a:rPr lang="en-US" altLang="ko-KR" sz="10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[3] </a:t>
            </a:r>
            <a:r>
              <a:rPr lang="en-US" sz="1000" dirty="0"/>
              <a:t>Add -30 to </a:t>
            </a:r>
            <a:r>
              <a:rPr lang="en-US" sz="1000" b="1" dirty="0"/>
              <a:t>shift</a:t>
            </a:r>
            <a:r>
              <a:rPr lang="en-US" sz="1000" dirty="0"/>
              <a:t> the value into the valid range.</a:t>
            </a:r>
            <a:endParaRPr lang="en-US" altLang="ko-KR" sz="10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endParaRPr lang="en-US" altLang="ko-KR" sz="10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14" name="설명선: 선 13">
            <a:extLst>
              <a:ext uri="{FF2B5EF4-FFF2-40B4-BE49-F238E27FC236}">
                <a16:creationId xmlns:a16="http://schemas.microsoft.com/office/drawing/2014/main" id="{6BD9413B-4C8D-40BC-B2B4-3B72B778D613}"/>
              </a:ext>
            </a:extLst>
          </p:cNvPr>
          <p:cNvSpPr/>
          <p:nvPr/>
        </p:nvSpPr>
        <p:spPr>
          <a:xfrm>
            <a:off x="761528" y="3140968"/>
            <a:ext cx="475608" cy="220753"/>
          </a:xfrm>
          <a:prstGeom prst="borderCallout1">
            <a:avLst>
              <a:gd name="adj1" fmla="val 108557"/>
              <a:gd name="adj2" fmla="val 102550"/>
              <a:gd name="adj3" fmla="val 154706"/>
              <a:gd name="adj4" fmla="val 132229"/>
            </a:avLst>
          </a:prstGeom>
          <a:ln w="12700">
            <a:solidFill>
              <a:srgbClr val="0033CC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min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997755F-FBFC-471B-B988-9D6F754274CA}"/>
              </a:ext>
            </a:extLst>
          </p:cNvPr>
          <p:cNvCxnSpPr>
            <a:cxnSpLocks/>
          </p:cNvCxnSpPr>
          <p:nvPr/>
        </p:nvCxnSpPr>
        <p:spPr>
          <a:xfrm>
            <a:off x="1260475" y="3200400"/>
            <a:ext cx="1448542" cy="329013"/>
          </a:xfrm>
          <a:prstGeom prst="line">
            <a:avLst/>
          </a:prstGeom>
          <a:ln w="12700">
            <a:solidFill>
              <a:srgbClr val="0033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설명선: 선 18">
            <a:extLst>
              <a:ext uri="{FF2B5EF4-FFF2-40B4-BE49-F238E27FC236}">
                <a16:creationId xmlns:a16="http://schemas.microsoft.com/office/drawing/2014/main" id="{56705A6C-2D4D-409C-8CE1-75AF16CF688D}"/>
              </a:ext>
            </a:extLst>
          </p:cNvPr>
          <p:cNvSpPr/>
          <p:nvPr/>
        </p:nvSpPr>
        <p:spPr>
          <a:xfrm>
            <a:off x="679344" y="3928327"/>
            <a:ext cx="475608" cy="220753"/>
          </a:xfrm>
          <a:prstGeom prst="borderCallout1">
            <a:avLst>
              <a:gd name="adj1" fmla="val 60232"/>
              <a:gd name="adj2" fmla="val 105754"/>
              <a:gd name="adj3" fmla="val -72252"/>
              <a:gd name="adj4" fmla="val 301257"/>
            </a:avLst>
          </a:prstGeom>
          <a:ln w="12700">
            <a:solidFill>
              <a:srgbClr val="0033CC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max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0" name="설명선: 선 19">
            <a:extLst>
              <a:ext uri="{FF2B5EF4-FFF2-40B4-BE49-F238E27FC236}">
                <a16:creationId xmlns:a16="http://schemas.microsoft.com/office/drawing/2014/main" id="{04F83FD8-7475-481F-BD94-39CB31A5CD51}"/>
              </a:ext>
            </a:extLst>
          </p:cNvPr>
          <p:cNvSpPr/>
          <p:nvPr/>
        </p:nvSpPr>
        <p:spPr>
          <a:xfrm>
            <a:off x="2555776" y="4131378"/>
            <a:ext cx="1438274" cy="366010"/>
          </a:xfrm>
          <a:prstGeom prst="borderCallout1">
            <a:avLst>
              <a:gd name="adj1" fmla="val -5298"/>
              <a:gd name="adj2" fmla="val 43142"/>
              <a:gd name="adj3" fmla="val -70214"/>
              <a:gd name="adj4" fmla="val 54457"/>
            </a:avLst>
          </a:prstGeom>
          <a:ln w="12700">
            <a:solidFill>
              <a:srgbClr val="0033CC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Dividing by</a:t>
            </a:r>
            <a:r>
              <a:rPr lang="ko-KR" altLang="en-US" sz="1200" dirty="0">
                <a:solidFill>
                  <a:schemeClr val="tx1"/>
                </a:solidFill>
              </a:rPr>
              <a:t> </a:t>
            </a:r>
            <a:r>
              <a:rPr lang="en-US" altLang="ko-KR" sz="1200" dirty="0">
                <a:solidFill>
                  <a:schemeClr val="tx1"/>
                </a:solidFill>
              </a:rPr>
              <a:t>2^10 for 10-bit rep.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80B6444D-731A-4D12-A48D-4E733565AB13}"/>
              </a:ext>
            </a:extLst>
          </p:cNvPr>
          <p:cNvCxnSpPr/>
          <p:nvPr/>
        </p:nvCxnSpPr>
        <p:spPr>
          <a:xfrm flipV="1">
            <a:off x="4404519" y="3787140"/>
            <a:ext cx="335121" cy="85637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D5951835-F49A-4C0C-B2E4-1C08FB0E6761}"/>
              </a:ext>
            </a:extLst>
          </p:cNvPr>
          <p:cNvCxnSpPr>
            <a:cxnSpLocks/>
          </p:cNvCxnSpPr>
          <p:nvPr/>
        </p:nvCxnSpPr>
        <p:spPr>
          <a:xfrm flipV="1">
            <a:off x="3200400" y="3810000"/>
            <a:ext cx="1082040" cy="90678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9DD679C2-E3D1-4D0A-B95C-0B65310F13AF}"/>
              </a:ext>
            </a:extLst>
          </p:cNvPr>
          <p:cNvCxnSpPr>
            <a:cxnSpLocks/>
          </p:cNvCxnSpPr>
          <p:nvPr/>
        </p:nvCxnSpPr>
        <p:spPr>
          <a:xfrm flipV="1">
            <a:off x="1958340" y="3794760"/>
            <a:ext cx="1859280" cy="89916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E94A6AC8-6DB0-4FE5-8AFC-9CFC86562C4D}"/>
              </a:ext>
            </a:extLst>
          </p:cNvPr>
          <p:cNvSpPr txBox="1"/>
          <p:nvPr/>
        </p:nvSpPr>
        <p:spPr>
          <a:xfrm>
            <a:off x="5292824" y="3517263"/>
            <a:ext cx="3778250" cy="161582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0033CC"/>
            </a:solidFill>
          </a:ln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In case of 10-bit, the maximum representation value is 2</a:t>
            </a:r>
            <a:r>
              <a:rPr lang="en-US" altLang="ko-KR" sz="1100" baseline="300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10</a:t>
            </a:r>
            <a:r>
              <a:rPr lang="en-US" altLang="ko-KR" sz="11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-1.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therefore, representing 10-bit by dividing by 2^10, it becomes a real number between (0,1).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This value is </a:t>
            </a:r>
            <a:r>
              <a:rPr lang="en-US" sz="1100" b="1" dirty="0"/>
              <a:t>scaled</a:t>
            </a:r>
            <a:r>
              <a:rPr lang="en-US" sz="1100" dirty="0"/>
              <a:t> and </a:t>
            </a:r>
            <a:r>
              <a:rPr lang="en-US" sz="1100" b="1" dirty="0"/>
              <a:t>shifted</a:t>
            </a:r>
            <a:r>
              <a:rPr lang="en-US" sz="1100" dirty="0"/>
              <a:t> to convert it into a number within the valid range.</a:t>
            </a:r>
            <a:endParaRPr lang="en-US" altLang="ko-KR" sz="11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Note: as </a:t>
            </a:r>
            <a:r>
              <a:rPr lang="en-US" altLang="ko-KR" sz="1100" i="1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n</a:t>
            </a:r>
            <a:r>
              <a:rPr lang="en-US" altLang="ko-KR" sz="11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in </a:t>
            </a:r>
            <a:r>
              <a:rPr lang="en-US" altLang="ko-KR" sz="1100" i="1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n</a:t>
            </a:r>
            <a:r>
              <a:rPr lang="en-US" altLang="ko-KR" sz="11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-bit representation increases, the </a:t>
            </a:r>
            <a:r>
              <a:rPr lang="en-US" altLang="ko-KR" sz="1100" u="sng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accuracy of the solution and computational load</a:t>
            </a:r>
            <a:r>
              <a:rPr lang="en-US" altLang="ko-KR" sz="11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also increased</a:t>
            </a:r>
            <a:endParaRPr lang="ko-KR" altLang="en-US" sz="11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94BD87-0383-2F3E-93AB-E3CB446FE1F0}"/>
              </a:ext>
            </a:extLst>
          </p:cNvPr>
          <p:cNvSpPr txBox="1"/>
          <p:nvPr/>
        </p:nvSpPr>
        <p:spPr>
          <a:xfrm>
            <a:off x="5292824" y="5135034"/>
            <a:ext cx="3778250" cy="110799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0033CC"/>
            </a:solidFill>
          </a:ln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Loss of information occurs due to </a:t>
            </a:r>
            <a:r>
              <a:rPr lang="en-US" sz="1100" b="1" dirty="0"/>
              <a:t>Discretization</a:t>
            </a:r>
            <a:r>
              <a:rPr lang="en-US" sz="1100" dirty="0"/>
              <a:t>, which can lead to </a:t>
            </a:r>
            <a:r>
              <a:rPr lang="en-US" sz="1100" b="1" dirty="0"/>
              <a:t>solution quality degradation</a:t>
            </a:r>
            <a:r>
              <a:rPr lang="en-US" sz="1100" dirty="0"/>
              <a:t>.</a:t>
            </a:r>
            <a:endParaRPr lang="en-US" altLang="ko-KR" sz="11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However, it can reduce computational and memory usage.</a:t>
            </a:r>
            <a:endParaRPr lang="en-US" altLang="ko-KR" sz="11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(Example) Deep learning </a:t>
            </a:r>
            <a:r>
              <a:rPr lang="en-US" sz="1100" b="1" dirty="0"/>
              <a:t>Model Optimization</a:t>
            </a:r>
            <a:r>
              <a:rPr lang="en-US" sz="1100" dirty="0"/>
              <a:t> – </a:t>
            </a:r>
            <a:r>
              <a:rPr lang="en-US" sz="1100" b="1" dirty="0"/>
              <a:t>Quantization</a:t>
            </a:r>
            <a:r>
              <a:rPr lang="en-US" sz="1100" dirty="0"/>
              <a:t>.</a:t>
            </a:r>
            <a:endParaRPr lang="ko-KR" altLang="en-US" sz="12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3">
            <a:extLst>
              <a:ext uri="{FF2B5EF4-FFF2-40B4-BE49-F238E27FC236}">
                <a16:creationId xmlns:a16="http://schemas.microsoft.com/office/drawing/2014/main" id="{5AA75F90-7C29-4997-AB6E-7B68D089C1C7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>
          <a:xfrm>
            <a:off x="457200" y="981075"/>
            <a:ext cx="8229600" cy="5256213"/>
          </a:xfrm>
        </p:spPr>
        <p:txBody>
          <a:bodyPr/>
          <a:lstStyle/>
          <a:p>
            <a:pPr marL="287338" indent="-287338" eaLnBrk="1" latinLnBrk="0" hangingPunct="1"/>
            <a:r>
              <a:rPr lang="en-US" altLang="ko-KR" sz="18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Example for combinatorial problem (TSP)</a:t>
            </a:r>
          </a:p>
          <a:p>
            <a:pPr marL="611338" lvl="1" indent="-287338" eaLnBrk="1" latinLnBrk="0" hangingPunct="1"/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Genetic operators for </a:t>
            </a:r>
            <a:r>
              <a:rPr lang="en-US" altLang="ko-KR" sz="1600" u="sng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permutation code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(e.g., for TSP):</a:t>
            </a:r>
          </a:p>
          <a:p>
            <a:pPr marL="899338" lvl="2" indent="-287338" eaLnBrk="1" latinLnBrk="0" hangingPunct="1"/>
            <a:r>
              <a:rPr lang="en-US" sz="1600" dirty="0"/>
              <a:t>The method used to represent information like the </a:t>
            </a:r>
            <a:r>
              <a:rPr lang="en-US" sz="1600" b="1" dirty="0"/>
              <a:t>order of visits</a:t>
            </a:r>
            <a:r>
              <a:rPr lang="en-US" sz="1600" dirty="0"/>
              <a:t> is called a </a:t>
            </a:r>
            <a:r>
              <a:rPr lang="en-US" sz="1600" b="1" dirty="0"/>
              <a:t>permutation code</a:t>
            </a:r>
            <a:r>
              <a:rPr lang="en-US" sz="1600" dirty="0"/>
              <a:t>.</a:t>
            </a:r>
            <a:endParaRPr lang="en-US" altLang="ko-KR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marL="899338" lvl="2" indent="-287338" eaLnBrk="1" latinLnBrk="0" hangingPunct="1"/>
            <a:r>
              <a:rPr lang="en-US" sz="1600" dirty="0"/>
              <a:t>Special caution is required in these types of problems.</a:t>
            </a:r>
            <a:endParaRPr lang="en-US" altLang="ko-KR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marL="899338" lvl="2" indent="-287338" eaLnBrk="1" latinLnBrk="0" hangingPunct="1"/>
            <a:r>
              <a:rPr lang="en-US" sz="1600" dirty="0"/>
              <a:t>This is because </a:t>
            </a:r>
            <a:r>
              <a:rPr lang="en-US" sz="1600" b="1" dirty="0"/>
              <a:t>invalid solutions</a:t>
            </a:r>
            <a:r>
              <a:rPr lang="en-US" sz="1600" dirty="0"/>
              <a:t> can be generated during the operations like crossover and mutation.</a:t>
            </a:r>
            <a:endParaRPr lang="en-US" altLang="ko-KR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marL="899338" lvl="2" indent="-287338" eaLnBrk="1" latinLnBrk="0" hangingPunct="1"/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Ex:</a:t>
            </a:r>
          </a:p>
          <a:p>
            <a:pPr marL="1079338" lvl="3" indent="-287338" eaLnBrk="1" latinLnBrk="0" hangingPunct="1"/>
            <a:r>
              <a:rPr lang="en-US" altLang="ko-KR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[1,2,</a:t>
            </a:r>
            <a:r>
              <a:rPr lang="en-US" altLang="ko-KR" sz="1400" dirty="0">
                <a:highlight>
                  <a:srgbClr val="FFFF00"/>
                </a:highlight>
                <a:latin typeface="나눔스퀘어_ac" panose="020B0600000101010101" pitchFamily="50" charset="-127"/>
                <a:ea typeface="나눔스퀘어_ac" panose="020B0600000101010101" pitchFamily="50" charset="-127"/>
              </a:rPr>
              <a:t>3,4</a:t>
            </a:r>
            <a:r>
              <a:rPr lang="en-US" altLang="ko-KR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] + [4,3,</a:t>
            </a:r>
            <a:r>
              <a:rPr lang="en-US" altLang="ko-KR" sz="1400" dirty="0">
                <a:highlight>
                  <a:srgbClr val="FFFF00"/>
                </a:highlight>
                <a:latin typeface="나눔스퀘어_ac" panose="020B0600000101010101" pitchFamily="50" charset="-127"/>
                <a:ea typeface="나눔스퀘어_ac" panose="020B0600000101010101" pitchFamily="50" charset="-127"/>
              </a:rPr>
              <a:t>2,1</a:t>
            </a:r>
            <a:r>
              <a:rPr lang="en-US" altLang="ko-KR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] =&gt; [1,2,2,1]</a:t>
            </a:r>
          </a:p>
          <a:p>
            <a:pPr marL="1079338" lvl="3" indent="-287338" eaLnBrk="1" latinLnBrk="0" hangingPunct="1"/>
            <a:r>
              <a:rPr lang="en-US" sz="1400" dirty="0"/>
              <a:t>The original two solutions are valid, but the solution created by crossover is </a:t>
            </a:r>
            <a:r>
              <a:rPr lang="en-US" sz="1400" b="1" dirty="0"/>
              <a:t>invalid</a:t>
            </a:r>
            <a:r>
              <a:rPr lang="en-US" sz="1400" dirty="0"/>
              <a:t> (it </a:t>
            </a:r>
            <a:r>
              <a:rPr lang="en-US" sz="1400" b="1" dirty="0"/>
              <a:t>does not visit all cities</a:t>
            </a:r>
            <a:r>
              <a:rPr lang="en-US" sz="1400" dirty="0"/>
              <a:t>).</a:t>
            </a:r>
            <a:endParaRPr lang="en-US" altLang="ko-KR" sz="18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BCD076E4-CAC6-4521-9343-A24B14BD09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pPr latinLnBrk="0"/>
            <a:r>
              <a:rPr lang="en-US" altLang="ko-KR">
                <a:solidFill>
                  <a:srgbClr val="99CCFF"/>
                </a:solidFill>
              </a:rPr>
              <a:t>Genetic Algorithm</a:t>
            </a:r>
          </a:p>
        </p:txBody>
      </p:sp>
      <p:sp>
        <p:nvSpPr>
          <p:cNvPr id="18434" name="바닥글 개체 틀 4">
            <a:extLst>
              <a:ext uri="{FF2B5EF4-FFF2-40B4-BE49-F238E27FC236}">
                <a16:creationId xmlns:a16="http://schemas.microsoft.com/office/drawing/2014/main" id="{4E827A50-F14F-48B1-9281-C626B8DDA97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latinLnBrk="0">
              <a:defRPr/>
            </a:pPr>
            <a:r>
              <a:rPr lang="en-US" altLang="ko-KR"/>
              <a:t>Search Algorithms: Object-Oriented Implementation (Part F)</a:t>
            </a:r>
            <a:endParaRPr lang="ko-KR" altLang="ko-KR"/>
          </a:p>
        </p:txBody>
      </p:sp>
      <p:sp>
        <p:nvSpPr>
          <p:cNvPr id="36869" name="슬라이드 번호 개체 틀 1">
            <a:extLst>
              <a:ext uri="{FF2B5EF4-FFF2-40B4-BE49-F238E27FC236}">
                <a16:creationId xmlns:a16="http://schemas.microsoft.com/office/drawing/2014/main" id="{EDDDEF06-3882-441D-871A-A8D418F839B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fld id="{D7014C47-DB20-48D7-B9DC-992084086310}" type="slidenum">
              <a:rPr lang="ko-KR" altLang="en-US" sz="1200">
                <a:solidFill>
                  <a:srgbClr val="898989"/>
                </a:solidFill>
                <a:latin typeface="Book Antiqua" panose="02040602050305030304" pitchFamily="18" charset="0"/>
              </a:rPr>
              <a:pPr latinLnBrk="0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16</a:t>
            </a:fld>
            <a:endParaRPr lang="en-US" altLang="ko-KR" sz="1200">
              <a:solidFill>
                <a:srgbClr val="898989"/>
              </a:solidFill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51986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3">
            <a:extLst>
              <a:ext uri="{FF2B5EF4-FFF2-40B4-BE49-F238E27FC236}">
                <a16:creationId xmlns:a16="http://schemas.microsoft.com/office/drawing/2014/main" id="{5AA75F90-7C29-4997-AB6E-7B68D089C1C7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>
          <a:xfrm>
            <a:off x="457200" y="981075"/>
            <a:ext cx="8229600" cy="5256213"/>
          </a:xfrm>
        </p:spPr>
        <p:txBody>
          <a:bodyPr/>
          <a:lstStyle/>
          <a:p>
            <a:pPr marL="287338" indent="-287338" eaLnBrk="1" latinLnBrk="0" hangingPunct="1"/>
            <a:r>
              <a:rPr lang="en-US" altLang="ko-KR" sz="1800" dirty="0"/>
              <a:t>Example for combinatorial problem (TSP)</a:t>
            </a:r>
          </a:p>
          <a:p>
            <a:pPr marL="611338" lvl="1" indent="-287338" eaLnBrk="1" latinLnBrk="0" hangingPunct="1"/>
            <a:r>
              <a:rPr lang="en-US" altLang="ko-KR" sz="1800" dirty="0"/>
              <a:t>Genetic operators for </a:t>
            </a:r>
            <a:r>
              <a:rPr lang="en-US" altLang="ko-KR" sz="1800" u="sng" dirty="0"/>
              <a:t>permutation code</a:t>
            </a:r>
            <a:r>
              <a:rPr lang="en-US" altLang="ko-KR" sz="1800" dirty="0"/>
              <a:t> (e.g., for TSP):</a:t>
            </a:r>
          </a:p>
          <a:p>
            <a:pPr marL="899188" lvl="2" indent="-287338" eaLnBrk="1" latinLnBrk="0" hangingPunct="1"/>
            <a:r>
              <a:rPr lang="en-US" sz="1600" dirty="0"/>
              <a:t>How to generate </a:t>
            </a:r>
            <a:r>
              <a:rPr lang="en-US" sz="1600" b="1" dirty="0"/>
              <a:t>mutation</a:t>
            </a:r>
            <a:r>
              <a:rPr lang="en-US" sz="1600" dirty="0"/>
              <a:t> from a single solution: </a:t>
            </a:r>
            <a:r>
              <a:rPr lang="en-US" altLang="ko-KR" sz="1600" dirty="0">
                <a:solidFill>
                  <a:srgbClr val="990033"/>
                </a:solidFill>
              </a:rPr>
              <a:t>: Simple </a:t>
            </a:r>
            <a:r>
              <a:rPr lang="en-US" altLang="ko-KR" sz="1600" u="sng" dirty="0">
                <a:solidFill>
                  <a:srgbClr val="990033"/>
                </a:solidFill>
              </a:rPr>
              <a:t>inversion</a:t>
            </a:r>
            <a:r>
              <a:rPr lang="en-US" altLang="ko-KR" sz="1600" dirty="0">
                <a:solidFill>
                  <a:srgbClr val="990033"/>
                </a:solidFill>
              </a:rPr>
              <a:t> mutation</a:t>
            </a:r>
            <a:endParaRPr lang="en-US" altLang="ko-KR" sz="1600" dirty="0"/>
          </a:p>
          <a:p>
            <a:pPr marL="611188" lvl="1" indent="-287338" eaLnBrk="1" latinLnBrk="0" hangingPunct="1"/>
            <a:endParaRPr lang="en-US" altLang="ko-KR" sz="1800" dirty="0"/>
          </a:p>
          <a:p>
            <a:pPr marL="611188" lvl="1" indent="-287338" eaLnBrk="1" latinLnBrk="0" hangingPunct="1"/>
            <a:endParaRPr lang="en-US" altLang="ko-KR" sz="1800" dirty="0"/>
          </a:p>
          <a:p>
            <a:pPr marL="899188" lvl="2" indent="-287338" eaLnBrk="1" latinLnBrk="0" hangingPunct="1"/>
            <a:r>
              <a:rPr lang="en-US" sz="1600" dirty="0"/>
              <a:t>How to cross over and combine two solutions: </a:t>
            </a:r>
            <a:r>
              <a:rPr lang="en-US" sz="1600" b="1" u="sng" dirty="0"/>
              <a:t>Ordered</a:t>
            </a:r>
            <a:r>
              <a:rPr lang="en-US" sz="1600" b="1" dirty="0"/>
              <a:t> </a:t>
            </a:r>
            <a:r>
              <a:rPr lang="en-US" sz="1600" dirty="0"/>
              <a:t>crossover (OX)</a:t>
            </a:r>
            <a:endParaRPr lang="en-US" altLang="ko-KR" sz="1600" dirty="0"/>
          </a:p>
          <a:p>
            <a:pPr marL="1079338" lvl="3" indent="-287338" eaLnBrk="1" latinLnBrk="0" hangingPunct="1"/>
            <a:r>
              <a:rPr lang="en-US" altLang="ko-KR" sz="1400" dirty="0"/>
              <a:t>Ex: Parent 1’s</a:t>
            </a:r>
            <a:r>
              <a:rPr lang="ko-KR" altLang="en-US" sz="1400" dirty="0"/>
              <a:t> </a:t>
            </a:r>
            <a:r>
              <a:rPr lang="en-US" altLang="ko-KR" sz="1400" dirty="0"/>
              <a:t>3-4-5-6 is preserved/maintained</a:t>
            </a:r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BCD076E4-CAC6-4521-9343-A24B14BD09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pPr latinLnBrk="0"/>
            <a:r>
              <a:rPr lang="en-US" altLang="ko-KR">
                <a:solidFill>
                  <a:srgbClr val="99CCFF"/>
                </a:solidFill>
              </a:rPr>
              <a:t>Genetic Algorithm</a:t>
            </a:r>
          </a:p>
        </p:txBody>
      </p:sp>
      <p:sp>
        <p:nvSpPr>
          <p:cNvPr id="18434" name="바닥글 개체 틀 4">
            <a:extLst>
              <a:ext uri="{FF2B5EF4-FFF2-40B4-BE49-F238E27FC236}">
                <a16:creationId xmlns:a16="http://schemas.microsoft.com/office/drawing/2014/main" id="{4E827A50-F14F-48B1-9281-C626B8DDA97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latinLnBrk="0">
              <a:defRPr/>
            </a:pPr>
            <a:r>
              <a:rPr lang="en-US" altLang="ko-KR"/>
              <a:t>Search Algorithms: Object-Oriented Implementation (Part F)</a:t>
            </a:r>
            <a:endParaRPr lang="ko-KR" altLang="ko-KR"/>
          </a:p>
        </p:txBody>
      </p:sp>
      <p:sp>
        <p:nvSpPr>
          <p:cNvPr id="36869" name="슬라이드 번호 개체 틀 1">
            <a:extLst>
              <a:ext uri="{FF2B5EF4-FFF2-40B4-BE49-F238E27FC236}">
                <a16:creationId xmlns:a16="http://schemas.microsoft.com/office/drawing/2014/main" id="{EDDDEF06-3882-441D-871A-A8D418F839B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fld id="{D7014C47-DB20-48D7-B9DC-992084086310}" type="slidenum">
              <a:rPr lang="ko-KR" altLang="en-US" sz="1200">
                <a:solidFill>
                  <a:srgbClr val="898989"/>
                </a:solidFill>
                <a:latin typeface="Book Antiqua" panose="02040602050305030304" pitchFamily="18" charset="0"/>
              </a:rPr>
              <a:pPr latinLnBrk="0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17</a:t>
            </a:fld>
            <a:endParaRPr lang="en-US" altLang="ko-KR" sz="1200">
              <a:solidFill>
                <a:srgbClr val="898989"/>
              </a:solidFill>
              <a:latin typeface="Book Antiqua" panose="0204060205030503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EB2FEE9-A2EC-4117-B704-8076A9E0F7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5700" y="2132856"/>
            <a:ext cx="4929188" cy="404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설명선: 선 22">
            <a:extLst>
              <a:ext uri="{FF2B5EF4-FFF2-40B4-BE49-F238E27FC236}">
                <a16:creationId xmlns:a16="http://schemas.microsoft.com/office/drawing/2014/main" id="{71F4FE35-B31A-4973-BC9A-0104AAF30E32}"/>
              </a:ext>
            </a:extLst>
          </p:cNvPr>
          <p:cNvSpPr/>
          <p:nvPr/>
        </p:nvSpPr>
        <p:spPr>
          <a:xfrm>
            <a:off x="5940425" y="836712"/>
            <a:ext cx="2736847" cy="404812"/>
          </a:xfrm>
          <a:prstGeom prst="borderCallout1">
            <a:avLst>
              <a:gd name="adj1" fmla="val 2646"/>
              <a:gd name="adj2" fmla="val -1155"/>
              <a:gd name="adj3" fmla="val 164100"/>
              <a:gd name="adj4" fmla="val -29999"/>
            </a:avLst>
          </a:prstGeom>
          <a:ln w="12700">
            <a:solidFill>
              <a:srgbClr val="0033CC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The method used to represent information like the </a:t>
            </a:r>
            <a:r>
              <a:rPr lang="en-US" sz="1200" b="1" dirty="0"/>
              <a:t>order of visits</a:t>
            </a:r>
            <a:r>
              <a:rPr lang="en-US" sz="1200" dirty="0"/>
              <a:t>.</a:t>
            </a:r>
            <a:endParaRPr lang="ko-KR" altLang="en-US" sz="1200" dirty="0">
              <a:solidFill>
                <a:schemeClr val="tx1"/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D2A15C7-E428-4B4B-8597-25069A91A475}"/>
              </a:ext>
            </a:extLst>
          </p:cNvPr>
          <p:cNvSpPr txBox="1"/>
          <p:nvPr/>
        </p:nvSpPr>
        <p:spPr>
          <a:xfrm>
            <a:off x="5472683" y="3414579"/>
            <a:ext cx="3563813" cy="230832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0033CC"/>
            </a:solidFill>
          </a:ln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If two solutions are simply combined based on a </a:t>
            </a:r>
            <a:r>
              <a:rPr lang="en-US" sz="1200" b="1" dirty="0"/>
              <a:t>Crossover point</a:t>
            </a:r>
            <a:r>
              <a:rPr lang="en-US" sz="1200" dirty="0"/>
              <a:t>, </a:t>
            </a:r>
            <a:r>
              <a:rPr lang="en-US" sz="1200" b="1" dirty="0"/>
              <a:t>certain city indices may disappear or duplicate visits may occur</a:t>
            </a:r>
            <a:r>
              <a:rPr lang="en-US" sz="1200" dirty="0"/>
              <a:t>.</a:t>
            </a:r>
            <a:endParaRPr lang="en-US" altLang="ko-KR" sz="12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Left image operation example </a:t>
            </a:r>
            <a:r>
              <a:rPr lang="en-US" altLang="ko-KR" sz="12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Select a start point and an end point from </a:t>
            </a:r>
            <a:r>
              <a:rPr lang="en-US" sz="1200" b="1" dirty="0"/>
              <a:t>Parent 1</a:t>
            </a:r>
            <a:r>
              <a:rPr lang="en-US" sz="1200" dirty="0"/>
              <a:t>, and </a:t>
            </a:r>
            <a:r>
              <a:rPr lang="en-US" sz="1200" b="1" dirty="0"/>
              <a:t>copy the solution within that range as is</a:t>
            </a:r>
            <a:br>
              <a:rPr lang="en-US" altLang="ko-KR" sz="12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en-US" altLang="ko-KR" sz="12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=&gt; [?, ?, </a:t>
            </a:r>
            <a:r>
              <a:rPr lang="en-US" altLang="ko-KR" sz="1200" dirty="0">
                <a:highlight>
                  <a:srgbClr val="FFFF00"/>
                </a:highlight>
                <a:latin typeface="나눔스퀘어_ac" panose="020B0600000101010101" pitchFamily="50" charset="-127"/>
                <a:ea typeface="나눔스퀘어_ac" panose="020B0600000101010101" pitchFamily="50" charset="-127"/>
              </a:rPr>
              <a:t>3, 4, 5, 6</a:t>
            </a:r>
            <a:r>
              <a:rPr lang="en-US" altLang="ko-KR" sz="12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, ?, ?, ?]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From </a:t>
            </a:r>
            <a:r>
              <a:rPr lang="en-US" sz="1200" b="1" dirty="0"/>
              <a:t>Parent 2</a:t>
            </a:r>
            <a:r>
              <a:rPr lang="en-US" sz="1200" dirty="0"/>
              <a:t>, starting </a:t>
            </a:r>
            <a:r>
              <a:rPr lang="en-US" sz="1200" b="1" dirty="0"/>
              <a:t>after the end index of Parent 1</a:t>
            </a:r>
            <a:r>
              <a:rPr lang="en-US" sz="1200" dirty="0"/>
              <a:t>, </a:t>
            </a:r>
            <a:r>
              <a:rPr lang="en-US" sz="1200" b="1" dirty="0"/>
              <a:t>copy the remaining values in order</a:t>
            </a:r>
            <a:r>
              <a:rPr lang="en-US" sz="1200" dirty="0"/>
              <a:t>, excluding values </a:t>
            </a:r>
            <a:r>
              <a:rPr lang="en-US" sz="1200" b="1" dirty="0"/>
              <a:t>already included in the offspring</a:t>
            </a:r>
            <a:r>
              <a:rPr lang="en-US" sz="1200" dirty="0"/>
              <a:t>, to create the new solution.</a:t>
            </a:r>
            <a:endParaRPr lang="ko-KR" altLang="en-US" sz="12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FC2FF406-7B69-4DCB-BA48-15EC904240F2}"/>
              </a:ext>
            </a:extLst>
          </p:cNvPr>
          <p:cNvGrpSpPr/>
          <p:nvPr/>
        </p:nvGrpSpPr>
        <p:grpSpPr>
          <a:xfrm>
            <a:off x="323528" y="3861048"/>
            <a:ext cx="4914900" cy="2189982"/>
            <a:chOff x="323528" y="3260700"/>
            <a:chExt cx="4914900" cy="2189982"/>
          </a:xfrm>
        </p:grpSpPr>
        <p:pic>
          <p:nvPicPr>
            <p:cNvPr id="36871" name="Picture 2">
              <a:extLst>
                <a:ext uri="{FF2B5EF4-FFF2-40B4-BE49-F238E27FC236}">
                  <a16:creationId xmlns:a16="http://schemas.microsoft.com/office/drawing/2014/main" id="{C9B43D2E-A3A4-4108-A7C9-F2015E416B9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528" y="3260700"/>
              <a:ext cx="4914900" cy="1504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CAD70391-17A9-42C5-8CD1-56E7E29F3797}"/>
                </a:ext>
              </a:extLst>
            </p:cNvPr>
            <p:cNvCxnSpPr/>
            <p:nvPr/>
          </p:nvCxnSpPr>
          <p:spPr>
            <a:xfrm>
              <a:off x="1891978" y="4502125"/>
              <a:ext cx="0" cy="2873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FDA7E22-0518-48CC-8B3A-756B90F72CCB}"/>
                </a:ext>
              </a:extLst>
            </p:cNvPr>
            <p:cNvCxnSpPr/>
            <p:nvPr/>
          </p:nvCxnSpPr>
          <p:spPr>
            <a:xfrm>
              <a:off x="1891978" y="4789463"/>
              <a:ext cx="273526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화살표 연결선 9">
              <a:extLst>
                <a:ext uri="{FF2B5EF4-FFF2-40B4-BE49-F238E27FC236}">
                  <a16:creationId xmlns:a16="http://schemas.microsoft.com/office/drawing/2014/main" id="{92645CFB-520F-49C7-8A10-A7DC23FE00AD}"/>
                </a:ext>
              </a:extLst>
            </p:cNvPr>
            <p:cNvCxnSpPr/>
            <p:nvPr/>
          </p:nvCxnSpPr>
          <p:spPr>
            <a:xfrm flipV="1">
              <a:off x="4627241" y="4149700"/>
              <a:ext cx="0" cy="6477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EE9C5233-D1D3-4B77-8062-23296CBFF664}"/>
                </a:ext>
              </a:extLst>
            </p:cNvPr>
            <p:cNvCxnSpPr/>
            <p:nvPr/>
          </p:nvCxnSpPr>
          <p:spPr>
            <a:xfrm>
              <a:off x="2115816" y="4510063"/>
              <a:ext cx="0" cy="1428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BE9058A3-25C5-4F3E-A66A-9212DC850C03}"/>
                </a:ext>
              </a:extLst>
            </p:cNvPr>
            <p:cNvCxnSpPr/>
            <p:nvPr/>
          </p:nvCxnSpPr>
          <p:spPr>
            <a:xfrm>
              <a:off x="2115816" y="4652938"/>
              <a:ext cx="273685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화살표 연결선 12">
              <a:extLst>
                <a:ext uri="{FF2B5EF4-FFF2-40B4-BE49-F238E27FC236}">
                  <a16:creationId xmlns:a16="http://schemas.microsoft.com/office/drawing/2014/main" id="{FB8B3B03-54A8-4FEE-AD3C-F938B299B887}"/>
                </a:ext>
              </a:extLst>
            </p:cNvPr>
            <p:cNvCxnSpPr/>
            <p:nvPr/>
          </p:nvCxnSpPr>
          <p:spPr>
            <a:xfrm flipV="1">
              <a:off x="4852666" y="4149700"/>
              <a:ext cx="0" cy="503238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94F96E49-7A8C-42CE-B5D7-62E74614624D}"/>
                </a:ext>
              </a:extLst>
            </p:cNvPr>
            <p:cNvCxnSpPr/>
            <p:nvPr/>
          </p:nvCxnSpPr>
          <p:spPr>
            <a:xfrm>
              <a:off x="1187128" y="4941863"/>
              <a:ext cx="388937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0CE32CB0-F516-440F-B7ED-F7C644AB3AF1}"/>
                </a:ext>
              </a:extLst>
            </p:cNvPr>
            <p:cNvCxnSpPr/>
            <p:nvPr/>
          </p:nvCxnSpPr>
          <p:spPr>
            <a:xfrm>
              <a:off x="1187128" y="4510063"/>
              <a:ext cx="0" cy="431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화살표 연결선 15">
              <a:extLst>
                <a:ext uri="{FF2B5EF4-FFF2-40B4-BE49-F238E27FC236}">
                  <a16:creationId xmlns:a16="http://schemas.microsoft.com/office/drawing/2014/main" id="{AD39D5E5-A6C3-4202-819B-D20289D7001D}"/>
                </a:ext>
              </a:extLst>
            </p:cNvPr>
            <p:cNvCxnSpPr/>
            <p:nvPr/>
          </p:nvCxnSpPr>
          <p:spPr>
            <a:xfrm flipV="1">
              <a:off x="5076503" y="4149700"/>
              <a:ext cx="0" cy="792163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AB2DE013-AC68-485A-ABF5-A6CBF142997F}"/>
                </a:ext>
              </a:extLst>
            </p:cNvPr>
            <p:cNvCxnSpPr/>
            <p:nvPr/>
          </p:nvCxnSpPr>
          <p:spPr>
            <a:xfrm>
              <a:off x="1404616" y="4510063"/>
              <a:ext cx="0" cy="57626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8C686DBC-B6BD-4FC0-94BF-33C363C9313C}"/>
                </a:ext>
              </a:extLst>
            </p:cNvPr>
            <p:cNvCxnSpPr/>
            <p:nvPr/>
          </p:nvCxnSpPr>
          <p:spPr>
            <a:xfrm>
              <a:off x="1404616" y="5086325"/>
              <a:ext cx="1798637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화살표 연결선 18">
              <a:extLst>
                <a:ext uri="{FF2B5EF4-FFF2-40B4-BE49-F238E27FC236}">
                  <a16:creationId xmlns:a16="http://schemas.microsoft.com/office/drawing/2014/main" id="{EF95CDDB-DF91-43C5-A74B-114CF9B09130}"/>
                </a:ext>
              </a:extLst>
            </p:cNvPr>
            <p:cNvCxnSpPr/>
            <p:nvPr/>
          </p:nvCxnSpPr>
          <p:spPr>
            <a:xfrm flipV="1">
              <a:off x="3203253" y="4149700"/>
              <a:ext cx="0" cy="936625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860F8F85-80AF-4065-BFFC-D4069C766C9F}"/>
                </a:ext>
              </a:extLst>
            </p:cNvPr>
            <p:cNvCxnSpPr/>
            <p:nvPr/>
          </p:nvCxnSpPr>
          <p:spPr>
            <a:xfrm>
              <a:off x="1620516" y="4510063"/>
              <a:ext cx="0" cy="71913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910B2560-9704-4087-8127-532FCEE8DD7E}"/>
                </a:ext>
              </a:extLst>
            </p:cNvPr>
            <p:cNvCxnSpPr/>
            <p:nvPr/>
          </p:nvCxnSpPr>
          <p:spPr>
            <a:xfrm>
              <a:off x="1620516" y="5229200"/>
              <a:ext cx="180022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화살표 연결선 21">
              <a:extLst>
                <a:ext uri="{FF2B5EF4-FFF2-40B4-BE49-F238E27FC236}">
                  <a16:creationId xmlns:a16="http://schemas.microsoft.com/office/drawing/2014/main" id="{4CF6E55F-1A91-4984-8AEA-F4FBFE134D46}"/>
                </a:ext>
              </a:extLst>
            </p:cNvPr>
            <p:cNvCxnSpPr/>
            <p:nvPr/>
          </p:nvCxnSpPr>
          <p:spPr>
            <a:xfrm flipV="1">
              <a:off x="3420741" y="4149700"/>
              <a:ext cx="0" cy="10795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2E2578D-8351-4351-85D5-DDD52F2450D7}"/>
                </a:ext>
              </a:extLst>
            </p:cNvPr>
            <p:cNvSpPr txBox="1"/>
            <p:nvPr/>
          </p:nvSpPr>
          <p:spPr>
            <a:xfrm>
              <a:off x="1707580" y="4584595"/>
              <a:ext cx="557808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 dirty="0"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(1)</a:t>
              </a:r>
              <a:endParaRPr lang="ko-KR" altLang="en-US" sz="1000" dirty="0">
                <a:latin typeface="나눔스퀘어_ac" panose="020B0600000101010101" pitchFamily="50" charset="-127"/>
                <a:ea typeface="나눔스퀘어_ac" panose="020B0600000101010101" pitchFamily="50" charset="-127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5298079-EEF6-400E-8818-422607D8E061}"/>
                </a:ext>
              </a:extLst>
            </p:cNvPr>
            <p:cNvSpPr txBox="1"/>
            <p:nvPr/>
          </p:nvSpPr>
          <p:spPr>
            <a:xfrm>
              <a:off x="2453705" y="4441720"/>
              <a:ext cx="557808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 dirty="0"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(2)</a:t>
              </a:r>
              <a:endParaRPr lang="ko-KR" altLang="en-US" sz="1000" dirty="0">
                <a:latin typeface="나눔스퀘어_ac" panose="020B0600000101010101" pitchFamily="50" charset="-127"/>
                <a:ea typeface="나눔스퀘어_ac" panose="020B0600000101010101" pitchFamily="50" charset="-127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3951386-003A-4FD9-997D-B41D16F7FD02}"/>
                </a:ext>
              </a:extLst>
            </p:cNvPr>
            <p:cNvSpPr txBox="1"/>
            <p:nvPr/>
          </p:nvSpPr>
          <p:spPr>
            <a:xfrm>
              <a:off x="801838" y="4746520"/>
              <a:ext cx="557808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 dirty="0"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(3)</a:t>
              </a:r>
              <a:endParaRPr lang="ko-KR" altLang="en-US" sz="1000" dirty="0">
                <a:latin typeface="나눔스퀘어_ac" panose="020B0600000101010101" pitchFamily="50" charset="-127"/>
                <a:ea typeface="나눔스퀘어_ac" panose="020B0600000101010101" pitchFamily="50" charset="-127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A162755-7B35-4151-8247-169BDFFFC3EF}"/>
                </a:ext>
              </a:extLst>
            </p:cNvPr>
            <p:cNvSpPr txBox="1"/>
            <p:nvPr/>
          </p:nvSpPr>
          <p:spPr>
            <a:xfrm>
              <a:off x="1029842" y="5035445"/>
              <a:ext cx="557808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 dirty="0"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(4)</a:t>
              </a:r>
              <a:endParaRPr lang="ko-KR" altLang="en-US" sz="1000" dirty="0">
                <a:latin typeface="나눔스퀘어_ac" panose="020B0600000101010101" pitchFamily="50" charset="-127"/>
                <a:ea typeface="나눔스퀘어_ac" panose="020B0600000101010101" pitchFamily="50" charset="-127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DFD16463-729E-428B-ADA6-83A43304EC08}"/>
                </a:ext>
              </a:extLst>
            </p:cNvPr>
            <p:cNvSpPr txBox="1"/>
            <p:nvPr/>
          </p:nvSpPr>
          <p:spPr>
            <a:xfrm>
              <a:off x="1426021" y="5204461"/>
              <a:ext cx="557808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 dirty="0"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(5)</a:t>
              </a:r>
              <a:endParaRPr lang="ko-KR" altLang="en-US" sz="1000" dirty="0">
                <a:latin typeface="나눔스퀘어_ac" panose="020B0600000101010101" pitchFamily="50" charset="-127"/>
                <a:ea typeface="나눔스퀘어_ac" panose="020B0600000101010101" pitchFamily="50" charset="-127"/>
              </a:endParaRPr>
            </a:p>
          </p:txBody>
        </p:sp>
        <p:cxnSp>
          <p:nvCxnSpPr>
            <p:cNvPr id="4" name="직선 화살표 연결선 3">
              <a:extLst>
                <a:ext uri="{FF2B5EF4-FFF2-40B4-BE49-F238E27FC236}">
                  <a16:creationId xmlns:a16="http://schemas.microsoft.com/office/drawing/2014/main" id="{4FB9FBD9-96AB-4850-9BC7-5D67183A0C67}"/>
                </a:ext>
              </a:extLst>
            </p:cNvPr>
            <p:cNvCxnSpPr/>
            <p:nvPr/>
          </p:nvCxnSpPr>
          <p:spPr>
            <a:xfrm>
              <a:off x="1762438" y="4013175"/>
              <a:ext cx="411956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3">
            <a:extLst>
              <a:ext uri="{FF2B5EF4-FFF2-40B4-BE49-F238E27FC236}">
                <a16:creationId xmlns:a16="http://schemas.microsoft.com/office/drawing/2014/main" id="{4ECAAFB4-83B4-4DF9-8F00-ECEF712A7FB3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>
          <a:xfrm>
            <a:off x="457200" y="981075"/>
            <a:ext cx="8229600" cy="5256213"/>
          </a:xfrm>
        </p:spPr>
        <p:txBody>
          <a:bodyPr/>
          <a:lstStyle/>
          <a:p>
            <a:pPr marL="287338" indent="-287338" eaLnBrk="1" latinLnBrk="0" hangingPunct="1"/>
            <a:r>
              <a:rPr lang="en-US" altLang="ko-KR" sz="1800" dirty="0"/>
              <a:t>In the case of </a:t>
            </a:r>
            <a:r>
              <a:rPr lang="en-US" altLang="ko-KR" sz="1800" u="sng" dirty="0"/>
              <a:t>permutation code</a:t>
            </a:r>
          </a:p>
          <a:p>
            <a:pPr marL="611188" lvl="1" indent="-287338" eaLnBrk="1" latinLnBrk="0" hangingPunct="1"/>
            <a:endParaRPr lang="en-US" altLang="ko-KR" sz="1600" dirty="0">
              <a:solidFill>
                <a:srgbClr val="0033CC"/>
              </a:solidFill>
            </a:endParaRPr>
          </a:p>
          <a:p>
            <a:pPr marL="611188" lvl="1" indent="-287338" eaLnBrk="1" latinLnBrk="0" hangingPunct="1"/>
            <a:r>
              <a:rPr lang="en-US" altLang="ko-KR" sz="1600" dirty="0">
                <a:solidFill>
                  <a:srgbClr val="0033CC"/>
                </a:solidFill>
              </a:rPr>
              <a:t>Crossover rate </a:t>
            </a:r>
            <a:r>
              <a:rPr lang="en-US" altLang="ko-KR" sz="1600" dirty="0"/>
              <a:t>is the probability of whether or not to perform the ordered crossover</a:t>
            </a:r>
          </a:p>
          <a:p>
            <a:pPr marL="899188" lvl="2" indent="-287338" eaLnBrk="1" latinLnBrk="0" hangingPunct="1"/>
            <a:r>
              <a:rPr lang="en-US" sz="1400" dirty="0"/>
              <a:t>The probability that determines whether or not to perform the crossover operation using two solutions</a:t>
            </a:r>
            <a:r>
              <a:rPr lang="en-US" sz="1600" dirty="0"/>
              <a:t>.</a:t>
            </a:r>
            <a:endParaRPr lang="en-US" altLang="ko-KR" sz="1600" dirty="0"/>
          </a:p>
          <a:p>
            <a:pPr marL="611188" lvl="1" indent="-287338" eaLnBrk="1" latinLnBrk="0" hangingPunct="1"/>
            <a:endParaRPr lang="en-US" altLang="ko-KR" sz="1600" dirty="0"/>
          </a:p>
          <a:p>
            <a:pPr marL="611188" lvl="1" indent="-287338" eaLnBrk="1" latinLnBrk="0" hangingPunct="1"/>
            <a:r>
              <a:rPr lang="en-US" altLang="ko-KR" sz="1600" dirty="0"/>
              <a:t>Similarly, </a:t>
            </a:r>
            <a:r>
              <a:rPr lang="en-US" altLang="ko-KR" sz="1600" dirty="0">
                <a:solidFill>
                  <a:srgbClr val="0033CC"/>
                </a:solidFill>
              </a:rPr>
              <a:t>mutation rate </a:t>
            </a:r>
            <a:r>
              <a:rPr lang="en-US" altLang="ko-KR" sz="1600" dirty="0"/>
              <a:t>is the probability of whether or not to perform the inversion </a:t>
            </a:r>
          </a:p>
          <a:p>
            <a:pPr marL="899188" lvl="2" indent="-287338" eaLnBrk="1" latinLnBrk="0" hangingPunct="1"/>
            <a:r>
              <a:rPr lang="en-US" sz="1400" dirty="0"/>
              <a:t>The probability that determines whether or not to perform the mutation operation on a single solution.</a:t>
            </a:r>
            <a:endParaRPr lang="en-US" altLang="ko-KR" sz="1400" dirty="0"/>
          </a:p>
          <a:p>
            <a:pPr marL="899188" lvl="2" indent="-287338" eaLnBrk="1" latinLnBrk="0" hangingPunct="1"/>
            <a:r>
              <a:rPr lang="en-US" sz="1400" dirty="0"/>
              <a:t>Note that mutation in TSP = </a:t>
            </a:r>
            <a:r>
              <a:rPr lang="en-US" sz="1400" b="1" dirty="0"/>
              <a:t>mutate by inversion</a:t>
            </a:r>
            <a:r>
              <a:rPr lang="en-US" sz="1400" dirty="0"/>
              <a:t>.</a:t>
            </a:r>
            <a:endParaRPr lang="en-US" altLang="ko-KR" sz="1400" dirty="0"/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E4105EC6-AC32-4924-9640-EE471B17AC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pPr latinLnBrk="0"/>
            <a:r>
              <a:rPr lang="en-US" altLang="ko-KR">
                <a:solidFill>
                  <a:srgbClr val="99CCFF"/>
                </a:solidFill>
              </a:rPr>
              <a:t>Genetic Algorithm</a:t>
            </a:r>
          </a:p>
        </p:txBody>
      </p:sp>
      <p:sp>
        <p:nvSpPr>
          <p:cNvPr id="18434" name="바닥글 개체 틀 4">
            <a:extLst>
              <a:ext uri="{FF2B5EF4-FFF2-40B4-BE49-F238E27FC236}">
                <a16:creationId xmlns:a16="http://schemas.microsoft.com/office/drawing/2014/main" id="{BBDE6197-FAAA-4919-A1B7-E02EF8C4E3A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latinLnBrk="0">
              <a:defRPr/>
            </a:pPr>
            <a:r>
              <a:rPr lang="en-US" altLang="ko-KR"/>
              <a:t>Search Algorithms: Object-Oriented Implementation (Part F)</a:t>
            </a:r>
            <a:endParaRPr lang="ko-KR" altLang="ko-KR"/>
          </a:p>
        </p:txBody>
      </p:sp>
      <p:sp>
        <p:nvSpPr>
          <p:cNvPr id="37893" name="슬라이드 번호 개체 틀 1">
            <a:extLst>
              <a:ext uri="{FF2B5EF4-FFF2-40B4-BE49-F238E27FC236}">
                <a16:creationId xmlns:a16="http://schemas.microsoft.com/office/drawing/2014/main" id="{82037A05-69BF-4953-A390-0D26CBDE5A1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fld id="{E83AD7BB-461C-4373-BA36-EC5CA25FF183}" type="slidenum">
              <a:rPr lang="ko-KR" altLang="en-US" sz="1200">
                <a:solidFill>
                  <a:srgbClr val="898989"/>
                </a:solidFill>
                <a:latin typeface="Book Antiqua" panose="02040602050305030304" pitchFamily="18" charset="0"/>
              </a:rPr>
              <a:pPr latinLnBrk="0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18</a:t>
            </a:fld>
            <a:endParaRPr lang="en-US" altLang="ko-KR" sz="1200">
              <a:solidFill>
                <a:srgbClr val="898989"/>
              </a:solidFill>
              <a:latin typeface="Book Antiqua" panose="0204060205030503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FCC81538-D466-4F51-AB69-61B55AA12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dirty="0"/>
              <a:t>Genetic Algorithm  (GA) Implementation</a:t>
            </a:r>
            <a:endParaRPr lang="ko-KR" altLang="en-US" sz="3600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29CCB2B0-4CF3-4ADC-B4EB-6B58F4D5AF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5F87F51-8BBB-469E-A889-D411EDE94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Search Algorithms: Object-Oriented Implementation (Part F)</a:t>
            </a:r>
            <a:endParaRPr lang="ko-KR" altLang="ko-KR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7C3352E-BFDE-4A1A-8398-0DAA28718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35E29-B6D6-4447-8916-568A2E635AC2}" type="slidenum">
              <a:rPr lang="ko-KR" altLang="en-US" smtClean="0"/>
              <a:pPr/>
              <a:t>19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863952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3">
            <a:extLst>
              <a:ext uri="{FF2B5EF4-FFF2-40B4-BE49-F238E27FC236}">
                <a16:creationId xmlns:a16="http://schemas.microsoft.com/office/drawing/2014/main" id="{82A0682D-3B69-CEA9-01D3-3D370D652530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>
          <a:xfrm>
            <a:off x="457200" y="981075"/>
            <a:ext cx="8229600" cy="5256213"/>
          </a:xfrm>
        </p:spPr>
        <p:txBody>
          <a:bodyPr/>
          <a:lstStyle/>
          <a:p>
            <a:pPr marL="287338" indent="-287338" eaLnBrk="1" latinLnBrk="0" hangingPunct="1"/>
            <a:r>
              <a:rPr lang="en-US" altLang="ko-KR" sz="1800" dirty="0"/>
              <a:t>We add a subclass 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GA</a:t>
            </a:r>
            <a:r>
              <a:rPr lang="en-US" altLang="ko-KR" sz="1800" dirty="0"/>
              <a:t> </a:t>
            </a:r>
            <a:r>
              <a:rPr lang="en-US" altLang="ko-KR" sz="1800" dirty="0">
                <a:solidFill>
                  <a:srgbClr val="0033CC"/>
                </a:solidFill>
              </a:rPr>
              <a:t>under </a:t>
            </a:r>
            <a:r>
              <a:rPr lang="en-US" altLang="ko-KR" sz="1600" b="1" dirty="0" err="1">
                <a:solidFill>
                  <a:srgbClr val="0033CC"/>
                </a:solidFill>
                <a:latin typeface="Courier New" panose="02070309020205020404" pitchFamily="49" charset="0"/>
              </a:rPr>
              <a:t>MetaHeuristics</a:t>
            </a:r>
            <a:r>
              <a:rPr lang="en-US" altLang="ko-KR" sz="1800" dirty="0">
                <a:solidFill>
                  <a:srgbClr val="0033CC"/>
                </a:solidFill>
              </a:rPr>
              <a:t> </a:t>
            </a:r>
            <a:r>
              <a:rPr lang="en-US" altLang="ko-KR" sz="1800" dirty="0"/>
              <a:t>in the </a:t>
            </a:r>
            <a:r>
              <a:rPr lang="en-US" altLang="ko-KR" sz="1600" b="1" dirty="0">
                <a:latin typeface="Courier New" panose="02070309020205020404" pitchFamily="49" charset="0"/>
              </a:rPr>
              <a:t>Optimizer</a:t>
            </a:r>
            <a:r>
              <a:rPr lang="en-US" altLang="ko-KR" sz="1800" dirty="0"/>
              <a:t> class hierarchy</a:t>
            </a:r>
          </a:p>
          <a:p>
            <a:pPr marL="611188" lvl="1" indent="-287338" eaLnBrk="1" latinLnBrk="0" hangingPunct="1"/>
            <a:r>
              <a:rPr lang="en-US" altLang="ko-KR" sz="1600" dirty="0"/>
              <a:t>Accordingly, many problem-dependent </a:t>
            </a:r>
            <a:br>
              <a:rPr lang="en-US" altLang="ko-KR" sz="1600" dirty="0"/>
            </a:br>
            <a:r>
              <a:rPr lang="en-US" altLang="ko-KR" sz="1600" dirty="0"/>
              <a:t>methods for </a:t>
            </a:r>
            <a:r>
              <a:rPr lang="en-US" altLang="ko-KR" sz="1400" b="1" dirty="0">
                <a:latin typeface="Courier New" panose="02070309020205020404" pitchFamily="49" charset="0"/>
              </a:rPr>
              <a:t>GA</a:t>
            </a:r>
            <a:r>
              <a:rPr lang="en-US" altLang="ko-KR" sz="1600" dirty="0"/>
              <a:t> are added to the </a:t>
            </a:r>
            <a:r>
              <a:rPr lang="en-US" altLang="ko-KR" sz="1400" b="1" dirty="0">
                <a:latin typeface="Courier New" panose="02070309020205020404" pitchFamily="49" charset="0"/>
              </a:rPr>
              <a:t>Problem</a:t>
            </a:r>
            <a:r>
              <a:rPr lang="en-US" altLang="ko-KR" sz="1600" dirty="0"/>
              <a:t> </a:t>
            </a:r>
            <a:br>
              <a:rPr lang="en-US" altLang="ko-KR" sz="1600" dirty="0"/>
            </a:br>
            <a:r>
              <a:rPr lang="en-US" altLang="ko-KR" sz="1600" dirty="0"/>
              <a:t>class</a:t>
            </a:r>
          </a:p>
          <a:p>
            <a:pPr marL="611188" lvl="1" indent="-287338" eaLnBrk="1" latinLnBrk="0" hangingPunct="1"/>
            <a:endParaRPr lang="en-US" altLang="ko-KR" sz="1800" dirty="0"/>
          </a:p>
          <a:p>
            <a:pPr marL="287338" indent="-287338" eaLnBrk="1" latinLnBrk="0" hangingPunct="1"/>
            <a:r>
              <a:rPr lang="en-US" altLang="ko-KR" sz="1600" b="1" dirty="0">
                <a:latin typeface="Courier New" panose="02070309020205020404" pitchFamily="49" charset="0"/>
              </a:rPr>
              <a:t>GA</a:t>
            </a:r>
            <a:r>
              <a:rPr lang="en-US" altLang="ko-KR" sz="1800" dirty="0"/>
              <a:t> has seven variables:</a:t>
            </a:r>
          </a:p>
          <a:p>
            <a:pPr marL="611188" lvl="1" indent="-287338" eaLnBrk="1" latinLnBrk="0" hangingPunct="1"/>
            <a:r>
              <a:rPr lang="en-US" altLang="ko-KR" sz="1400" b="1" dirty="0" err="1">
                <a:latin typeface="Courier New" panose="02070309020205020404" pitchFamily="49" charset="0"/>
              </a:rPr>
              <a:t>popSize</a:t>
            </a:r>
            <a:r>
              <a:rPr lang="en-US" altLang="ko-KR" sz="1400" dirty="0"/>
              <a:t>: population size (</a:t>
            </a:r>
            <a:r>
              <a:rPr lang="en-US" sz="1400" dirty="0"/>
              <a:t>size of the solution set</a:t>
            </a:r>
            <a:r>
              <a:rPr lang="en-US" altLang="ko-KR" sz="1400" dirty="0"/>
              <a:t>)</a:t>
            </a:r>
          </a:p>
          <a:p>
            <a:pPr marL="611188" lvl="1" indent="-287338" eaLnBrk="1" latinLnBrk="0" hangingPunct="1"/>
            <a:r>
              <a:rPr lang="en-US" altLang="ko-KR" sz="1400" b="1" dirty="0" err="1">
                <a:latin typeface="Courier New" panose="02070309020205020404" pitchFamily="49" charset="0"/>
              </a:rPr>
              <a:t>uXp</a:t>
            </a:r>
            <a:r>
              <a:rPr lang="en-US" altLang="ko-KR" sz="1400" dirty="0"/>
              <a:t>: swap probability for </a:t>
            </a:r>
            <a:r>
              <a:rPr lang="en-US" altLang="ko-KR" sz="1400" u="sng" dirty="0"/>
              <a:t>uniform crossover</a:t>
            </a:r>
            <a:br>
              <a:rPr lang="en-US" altLang="ko-KR" sz="1400" dirty="0"/>
            </a:br>
            <a:r>
              <a:rPr lang="en-US" altLang="ko-KR" sz="1400" dirty="0"/>
              <a:t>used </a:t>
            </a:r>
            <a:r>
              <a:rPr lang="en-US" altLang="ko-KR" sz="1400" u="sng" dirty="0"/>
              <a:t>in numerical optimization </a:t>
            </a:r>
            <a:r>
              <a:rPr lang="en-US" altLang="ko-KR" sz="1400" dirty="0"/>
              <a:t>(</a:t>
            </a:r>
            <a:r>
              <a:rPr lang="en-US" sz="1400" dirty="0"/>
              <a:t>determine whether or not </a:t>
            </a:r>
            <a:br>
              <a:rPr lang="en-US" sz="1400" dirty="0"/>
            </a:br>
            <a:r>
              <a:rPr lang="en-US" sz="1400" dirty="0"/>
              <a:t>to cross over at each position of a solution of length</a:t>
            </a:r>
            <a:r>
              <a:rPr lang="ko-KR" altLang="en-US" sz="1400" dirty="0"/>
              <a:t> </a:t>
            </a:r>
            <a:r>
              <a:rPr lang="en-US" altLang="ko-KR" sz="1400" i="1" dirty="0">
                <a:latin typeface="Times New Roman" panose="02020603050405020304" pitchFamily="18" charset="0"/>
              </a:rPr>
              <a:t>l</a:t>
            </a:r>
            <a:r>
              <a:rPr lang="en-US" altLang="ko-KR" sz="1400" dirty="0"/>
              <a:t>)</a:t>
            </a:r>
          </a:p>
          <a:p>
            <a:pPr marL="611188" lvl="1" indent="-287338" eaLnBrk="1" latinLnBrk="0" hangingPunct="1"/>
            <a:r>
              <a:rPr lang="en-US" altLang="ko-KR" sz="1400" b="1" dirty="0" err="1">
                <a:latin typeface="Courier New" panose="02070309020205020404" pitchFamily="49" charset="0"/>
              </a:rPr>
              <a:t>mrF</a:t>
            </a:r>
            <a:r>
              <a:rPr lang="en-US" altLang="ko-KR" sz="1400" dirty="0"/>
              <a:t>: multiplication factor to </a:t>
            </a:r>
            <a:r>
              <a:rPr lang="en-US" altLang="ko-KR" sz="1400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ko-KR" sz="1400" dirty="0">
                <a:latin typeface="Times New Roman" panose="02020603050405020304" pitchFamily="18" charset="0"/>
              </a:rPr>
              <a:t>1/</a:t>
            </a:r>
            <a:r>
              <a:rPr lang="en-US" altLang="ko-KR" sz="1400" i="1" dirty="0">
                <a:latin typeface="Times New Roman" panose="02020603050405020304" pitchFamily="18" charset="0"/>
              </a:rPr>
              <a:t>l</a:t>
            </a:r>
            <a:r>
              <a:rPr lang="en-US" altLang="ko-KR" sz="1400" dirty="0">
                <a:latin typeface="Times New Roman" panose="02020603050405020304" pitchFamily="18" charset="0"/>
              </a:rPr>
              <a:t>)</a:t>
            </a:r>
            <a:r>
              <a:rPr lang="en-US" altLang="ko-KR" sz="1400" dirty="0"/>
              <a:t> for bit-flip </a:t>
            </a:r>
            <a:br>
              <a:rPr lang="en-US" altLang="ko-KR" sz="1400" dirty="0"/>
            </a:br>
            <a:r>
              <a:rPr lang="en-US" altLang="ko-KR" sz="1400" u="sng" dirty="0"/>
              <a:t>mutation</a:t>
            </a:r>
            <a:r>
              <a:rPr lang="en-US" altLang="ko-KR" sz="1400" dirty="0"/>
              <a:t> used </a:t>
            </a:r>
            <a:r>
              <a:rPr lang="en-US" altLang="ko-KR" sz="1400" u="sng" dirty="0"/>
              <a:t>in numerical optimization </a:t>
            </a:r>
            <a:r>
              <a:rPr lang="en-US" altLang="ko-KR" sz="1400" dirty="0"/>
              <a:t>(</a:t>
            </a:r>
            <a:r>
              <a:rPr lang="en-US" sz="1400" dirty="0"/>
              <a:t>A value used to </a:t>
            </a:r>
            <a:br>
              <a:rPr lang="en-US" sz="1400" dirty="0"/>
            </a:br>
            <a:r>
              <a:rPr lang="en-US" sz="1400" dirty="0"/>
              <a:t>determine the mutation probability</a:t>
            </a:r>
            <a:r>
              <a:rPr lang="en-US" altLang="ko-KR" sz="1400" dirty="0"/>
              <a:t>)</a:t>
            </a:r>
            <a:endParaRPr lang="en-US" altLang="ko-KR" sz="1400" b="1" dirty="0">
              <a:latin typeface="Courier New" panose="02070309020205020404" pitchFamily="49" charset="0"/>
            </a:endParaRPr>
          </a:p>
          <a:p>
            <a:pPr marL="611188" lvl="1" indent="-287338" eaLnBrk="1" latinLnBrk="0" hangingPunct="1"/>
            <a:r>
              <a:rPr lang="en-US" altLang="ko-KR" sz="1400" b="1" dirty="0">
                <a:latin typeface="Courier New" panose="02070309020205020404" pitchFamily="49" charset="0"/>
              </a:rPr>
              <a:t>XR</a:t>
            </a:r>
            <a:r>
              <a:rPr lang="en-US" altLang="ko-KR" sz="1400" dirty="0"/>
              <a:t>: </a:t>
            </a:r>
            <a:r>
              <a:rPr lang="en-US" altLang="ko-KR" sz="1400" u="sng" dirty="0"/>
              <a:t>crossover rate</a:t>
            </a:r>
            <a:r>
              <a:rPr lang="en-US" altLang="ko-KR" sz="1400" dirty="0"/>
              <a:t> for the permutation code</a:t>
            </a:r>
            <a:br>
              <a:rPr lang="en-US" altLang="ko-KR" sz="1400" dirty="0"/>
            </a:br>
            <a:r>
              <a:rPr lang="en-US" altLang="ko-KR" sz="1400" u="sng" dirty="0"/>
              <a:t>for TSP </a:t>
            </a:r>
            <a:r>
              <a:rPr lang="en-US" altLang="ko-KR" sz="1400" dirty="0"/>
              <a:t>(</a:t>
            </a:r>
            <a:r>
              <a:rPr lang="en-US" sz="1400" dirty="0"/>
              <a:t>The probability that determines whether </a:t>
            </a:r>
            <a:br>
              <a:rPr lang="en-US" sz="1400" dirty="0"/>
            </a:br>
            <a:r>
              <a:rPr lang="en-US" sz="1400" dirty="0"/>
              <a:t>or not to perform the crossover operation</a:t>
            </a:r>
            <a:r>
              <a:rPr lang="en-US" altLang="ko-KR" sz="1400" dirty="0"/>
              <a:t>)</a:t>
            </a:r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1A175514-940A-90A2-A5AA-570D90246E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pPr latinLnBrk="0"/>
            <a:r>
              <a:rPr lang="en-US" altLang="ko-KR">
                <a:solidFill>
                  <a:srgbClr val="0033CC"/>
                </a:solidFill>
              </a:rPr>
              <a:t>Adding Genetic Algorithm</a:t>
            </a:r>
          </a:p>
        </p:txBody>
      </p:sp>
      <p:sp>
        <p:nvSpPr>
          <p:cNvPr id="18434" name="바닥글 개체 틀 4">
            <a:extLst>
              <a:ext uri="{FF2B5EF4-FFF2-40B4-BE49-F238E27FC236}">
                <a16:creationId xmlns:a16="http://schemas.microsoft.com/office/drawing/2014/main" id="{5E132CF4-EFEE-871A-B30C-903044CA37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latinLnBrk="0">
              <a:defRPr/>
            </a:pPr>
            <a:r>
              <a:rPr lang="en-US" altLang="ko-KR"/>
              <a:t>Search Algorithms: Object-Oriented Implementation (Part F)</a:t>
            </a:r>
            <a:endParaRPr lang="ko-KR" altLang="ko-KR"/>
          </a:p>
        </p:txBody>
      </p:sp>
      <p:sp>
        <p:nvSpPr>
          <p:cNvPr id="9221" name="슬라이드 번호 개체 틀 8">
            <a:extLst>
              <a:ext uri="{FF2B5EF4-FFF2-40B4-BE49-F238E27FC236}">
                <a16:creationId xmlns:a16="http://schemas.microsoft.com/office/drawing/2014/main" id="{B87E3EBF-1D10-26CC-B8BB-2B96EC4A5B6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fld id="{6F115B5E-31FF-4A46-82A4-6EAFB5402766}" type="slidenum">
              <a:rPr lang="ko-KR" altLang="en-US" sz="1200">
                <a:solidFill>
                  <a:srgbClr val="898989"/>
                </a:solidFill>
                <a:latin typeface="Book Antiqua" panose="02040602050305030304" pitchFamily="18" charset="0"/>
              </a:rPr>
              <a:pPr latinLnBrk="0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20</a:t>
            </a:fld>
            <a:endParaRPr lang="en-US" altLang="ko-KR" sz="1200">
              <a:solidFill>
                <a:srgbClr val="898989"/>
              </a:solidFill>
              <a:latin typeface="Book Antiqua" panose="02040602050305030304" pitchFamily="18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CECECE6-5D30-6E72-0525-89B2125DE269}"/>
              </a:ext>
            </a:extLst>
          </p:cNvPr>
          <p:cNvSpPr/>
          <p:nvPr/>
        </p:nvSpPr>
        <p:spPr>
          <a:xfrm>
            <a:off x="6443663" y="1862138"/>
            <a:ext cx="2160587" cy="36036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3B058F-784C-7506-D83B-B82C60B9801B}"/>
              </a:ext>
            </a:extLst>
          </p:cNvPr>
          <p:cNvSpPr txBox="1"/>
          <p:nvPr/>
        </p:nvSpPr>
        <p:spPr>
          <a:xfrm>
            <a:off x="6443663" y="4103688"/>
            <a:ext cx="2160587" cy="206216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</a:p>
          <a:p>
            <a:pPr>
              <a:defRPr/>
            </a:pP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setVariables</a:t>
            </a:r>
            <a:endParaRPr lang="en-US" altLang="ko-KR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defRPr/>
            </a:pP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displaySettings</a:t>
            </a:r>
            <a:endParaRPr lang="en-US" altLang="ko-KR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defRPr/>
            </a:pP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run</a:t>
            </a:r>
          </a:p>
          <a:p>
            <a:pPr>
              <a:defRPr/>
            </a:pP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evalAndFindBest</a:t>
            </a:r>
            <a:endParaRPr lang="en-US" altLang="ko-KR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defRPr/>
            </a:pP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selectParents</a:t>
            </a:r>
            <a:endParaRPr lang="en-US" altLang="ko-KR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defRPr/>
            </a:pP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selectTwo</a:t>
            </a:r>
            <a:endParaRPr lang="en-US" altLang="ko-KR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defRPr/>
            </a:pP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binaryTournament</a:t>
            </a:r>
            <a:endParaRPr lang="en-US" altLang="ko-KR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B8F23D-5673-4B27-6D60-E9B013DB3E71}"/>
              </a:ext>
            </a:extLst>
          </p:cNvPr>
          <p:cNvSpPr txBox="1"/>
          <p:nvPr/>
        </p:nvSpPr>
        <p:spPr>
          <a:xfrm>
            <a:off x="6443663" y="2255838"/>
            <a:ext cx="2160587" cy="18161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popSize</a:t>
            </a:r>
            <a:endParaRPr lang="en-US" altLang="ko-KR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defRPr/>
            </a:pP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uXp</a:t>
            </a:r>
            <a:endParaRPr lang="en-US" altLang="ko-KR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defRPr/>
            </a:pP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mrF</a:t>
            </a:r>
            <a:endParaRPr lang="en-US" altLang="ko-KR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defRPr/>
            </a:pP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XR</a:t>
            </a:r>
          </a:p>
          <a:p>
            <a:pPr>
              <a:defRPr/>
            </a:pP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mR</a:t>
            </a:r>
            <a:endParaRPr lang="en-US" altLang="ko-KR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defRPr/>
            </a:pP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pC</a:t>
            </a:r>
            <a:endParaRPr lang="en-US" altLang="ko-KR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defRPr/>
            </a:pP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pM</a:t>
            </a:r>
            <a:endParaRPr lang="en-US" altLang="ko-KR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왼쪽 중괄호 1">
            <a:extLst>
              <a:ext uri="{FF2B5EF4-FFF2-40B4-BE49-F238E27FC236}">
                <a16:creationId xmlns:a16="http://schemas.microsoft.com/office/drawing/2014/main" id="{C5A7CD89-4C36-E285-A974-936114CCC478}"/>
              </a:ext>
            </a:extLst>
          </p:cNvPr>
          <p:cNvSpPr/>
          <p:nvPr/>
        </p:nvSpPr>
        <p:spPr>
          <a:xfrm>
            <a:off x="519876" y="3785415"/>
            <a:ext cx="266519" cy="1512019"/>
          </a:xfrm>
          <a:prstGeom prst="leftBrace">
            <a:avLst>
              <a:gd name="adj1" fmla="val 68005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왼쪽 중괄호 2">
            <a:extLst>
              <a:ext uri="{FF2B5EF4-FFF2-40B4-BE49-F238E27FC236}">
                <a16:creationId xmlns:a16="http://schemas.microsoft.com/office/drawing/2014/main" id="{334A760D-6996-873C-DCF0-91F64C66BD1C}"/>
              </a:ext>
            </a:extLst>
          </p:cNvPr>
          <p:cNvSpPr/>
          <p:nvPr/>
        </p:nvSpPr>
        <p:spPr>
          <a:xfrm>
            <a:off x="519876" y="5388456"/>
            <a:ext cx="266519" cy="632832"/>
          </a:xfrm>
          <a:prstGeom prst="leftBrace">
            <a:avLst>
              <a:gd name="adj1" fmla="val 68005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8DD6E0-5AC8-CADC-C789-2DFA089A2405}"/>
              </a:ext>
            </a:extLst>
          </p:cNvPr>
          <p:cNvSpPr txBox="1"/>
          <p:nvPr/>
        </p:nvSpPr>
        <p:spPr>
          <a:xfrm>
            <a:off x="95180" y="4282692"/>
            <a:ext cx="8117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numerical</a:t>
            </a:r>
          </a:p>
          <a:p>
            <a:r>
              <a:rPr lang="en-US" altLang="ko-KR" sz="10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opt.</a:t>
            </a:r>
            <a:endParaRPr lang="ko-KR" altLang="en-US" sz="10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09EF67-DD35-813B-02B3-85FFFFDEBDC9}"/>
              </a:ext>
            </a:extLst>
          </p:cNvPr>
          <p:cNvSpPr txBox="1"/>
          <p:nvPr/>
        </p:nvSpPr>
        <p:spPr>
          <a:xfrm>
            <a:off x="113994" y="5581761"/>
            <a:ext cx="81176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TSP</a:t>
            </a:r>
            <a:endParaRPr lang="ko-KR" altLang="en-US" sz="10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3">
            <a:extLst>
              <a:ext uri="{FF2B5EF4-FFF2-40B4-BE49-F238E27FC236}">
                <a16:creationId xmlns:a16="http://schemas.microsoft.com/office/drawing/2014/main" id="{B5CB62AD-0FB5-D19D-C49E-46CEA97C0912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>
          <a:xfrm>
            <a:off x="457200" y="981075"/>
            <a:ext cx="8229600" cy="5256213"/>
          </a:xfrm>
        </p:spPr>
        <p:txBody>
          <a:bodyPr/>
          <a:lstStyle/>
          <a:p>
            <a:pPr marL="611188" lvl="1" indent="-287338" eaLnBrk="1" hangingPunct="1">
              <a:defRPr/>
            </a:pPr>
            <a:r>
              <a:rPr lang="en-US" altLang="ko-KR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mR</a:t>
            </a:r>
            <a:r>
              <a:rPr lang="en-US" altLang="ko-KR" dirty="0">
                <a:cs typeface="Courier New" panose="02070309020205020404" pitchFamily="49" charset="0"/>
              </a:rPr>
              <a:t>: </a:t>
            </a:r>
            <a:r>
              <a:rPr lang="en-US" altLang="ko-KR" u="sng" dirty="0">
                <a:cs typeface="Courier New" panose="02070309020205020404" pitchFamily="49" charset="0"/>
              </a:rPr>
              <a:t>mutation rate </a:t>
            </a:r>
            <a:r>
              <a:rPr lang="en-US" altLang="ko-KR" dirty="0">
                <a:cs typeface="Courier New" panose="02070309020205020404" pitchFamily="49" charset="0"/>
              </a:rPr>
              <a:t>for the permutation code for solving </a:t>
            </a:r>
            <a:r>
              <a:rPr lang="en-US" altLang="ko-KR" u="sng" dirty="0">
                <a:cs typeface="Courier New" panose="02070309020205020404" pitchFamily="49" charset="0"/>
              </a:rPr>
              <a:t>TSP</a:t>
            </a:r>
          </a:p>
          <a:p>
            <a:pPr marL="611188" lvl="1" indent="-287338" eaLnBrk="1" hangingPunct="1">
              <a:defRPr/>
            </a:pPr>
            <a:r>
              <a:rPr lang="en-US" altLang="ko-KR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pC</a:t>
            </a:r>
            <a:r>
              <a:rPr lang="en-US" altLang="ko-KR" dirty="0"/>
              <a:t>: crossover probability (</a:t>
            </a:r>
            <a:r>
              <a:rPr lang="en-US" altLang="ko-KR" sz="1800" b="1" dirty="0" err="1">
                <a:latin typeface="Courier New" panose="02070309020205020404" pitchFamily="49" charset="0"/>
              </a:rPr>
              <a:t>uXp</a:t>
            </a:r>
            <a:r>
              <a:rPr lang="en-US" altLang="ko-KR" dirty="0"/>
              <a:t> or </a:t>
            </a:r>
            <a:r>
              <a:rPr lang="en-US" altLang="ko-KR" sz="1800" b="1" dirty="0">
                <a:latin typeface="Courier New" panose="02070309020205020404" pitchFamily="49" charset="0"/>
              </a:rPr>
              <a:t>XR</a:t>
            </a:r>
            <a:r>
              <a:rPr lang="en-US" altLang="ko-KR" dirty="0"/>
              <a:t>)</a:t>
            </a:r>
          </a:p>
          <a:p>
            <a:pPr marL="611188" lvl="1" indent="-287338" eaLnBrk="1" hangingPunct="1">
              <a:defRPr/>
            </a:pPr>
            <a:r>
              <a:rPr lang="en-US" altLang="ko-KR" sz="1800" b="1" dirty="0" err="1">
                <a:latin typeface="Courier New" panose="02070309020205020404" pitchFamily="49" charset="0"/>
              </a:rPr>
              <a:t>pM</a:t>
            </a:r>
            <a:r>
              <a:rPr lang="en-US" altLang="ko-KR" dirty="0"/>
              <a:t>: mutation probability (</a:t>
            </a:r>
            <a:r>
              <a:rPr lang="en-US" altLang="ko-KR" sz="1800" b="1" dirty="0" err="1">
                <a:latin typeface="Courier New" panose="02070309020205020404" pitchFamily="49" charset="0"/>
              </a:rPr>
              <a:t>mrF</a:t>
            </a:r>
            <a:r>
              <a:rPr lang="en-US" altLang="ko-KR" dirty="0"/>
              <a:t> or </a:t>
            </a:r>
            <a:r>
              <a:rPr lang="en-US" altLang="ko-KR" sz="1800" b="1" dirty="0" err="1">
                <a:latin typeface="Courier New" panose="02070309020205020404" pitchFamily="49" charset="0"/>
              </a:rPr>
              <a:t>mR</a:t>
            </a:r>
            <a:r>
              <a:rPr lang="en-US" altLang="ko-KR" dirty="0"/>
              <a:t>)</a:t>
            </a:r>
          </a:p>
          <a:p>
            <a:pPr marL="286525" indent="-287338" eaLnBrk="1" hangingPunct="1">
              <a:defRPr/>
            </a:pPr>
            <a:endParaRPr lang="en-US" altLang="ko-KR" dirty="0"/>
          </a:p>
          <a:p>
            <a:pPr marL="286525" indent="-287338" eaLnBrk="1" hangingPunct="1">
              <a:defRPr/>
            </a:pPr>
            <a:endParaRPr lang="en-US" altLang="ko-KR" dirty="0"/>
          </a:p>
          <a:p>
            <a:pPr marL="286525" indent="-287338" eaLnBrk="1" hangingPunct="1">
              <a:defRPr/>
            </a:pPr>
            <a:r>
              <a:rPr lang="en-US" altLang="ko-KR" dirty="0"/>
              <a:t>The </a:t>
            </a:r>
            <a:r>
              <a:rPr lang="en-US" altLang="ko-KR" sz="1800" b="1" dirty="0" err="1">
                <a:latin typeface="Courier New" panose="02070309020205020404" pitchFamily="49" charset="0"/>
              </a:rPr>
              <a:t>setVariables</a:t>
            </a:r>
            <a:r>
              <a:rPr lang="en-US" altLang="ko-KR" dirty="0"/>
              <a:t> method, after setting </a:t>
            </a:r>
            <a:r>
              <a:rPr lang="en-US" altLang="ko-KR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popSize</a:t>
            </a:r>
            <a:r>
              <a:rPr lang="en-US" altLang="ko-KR" dirty="0"/>
              <a:t>, sets the variables (</a:t>
            </a:r>
            <a:r>
              <a:rPr lang="en-US" altLang="ko-KR" sz="1800" b="1" dirty="0" err="1">
                <a:latin typeface="Courier New" panose="02070309020205020404" pitchFamily="49" charset="0"/>
              </a:rPr>
              <a:t>pC</a:t>
            </a:r>
            <a:r>
              <a:rPr lang="en-US" altLang="ko-KR" dirty="0"/>
              <a:t>, </a:t>
            </a:r>
            <a:r>
              <a:rPr lang="en-US" altLang="ko-KR" sz="1800" b="1" dirty="0" err="1">
                <a:latin typeface="Courier New" panose="02070309020205020404" pitchFamily="49" charset="0"/>
              </a:rPr>
              <a:t>pM</a:t>
            </a:r>
            <a:r>
              <a:rPr lang="en-US" altLang="ko-KR" dirty="0"/>
              <a:t>) to either the values of (</a:t>
            </a:r>
            <a:r>
              <a:rPr lang="en-US" altLang="ko-KR" sz="1800" b="1" dirty="0" err="1">
                <a:latin typeface="Courier New" panose="02070309020205020404" pitchFamily="49" charset="0"/>
              </a:rPr>
              <a:t>uXp</a:t>
            </a:r>
            <a:r>
              <a:rPr lang="en-US" altLang="ko-KR" dirty="0"/>
              <a:t>, </a:t>
            </a:r>
            <a:r>
              <a:rPr lang="en-US" altLang="ko-KR" sz="1800" b="1" dirty="0" err="1">
                <a:latin typeface="Courier New" panose="02070309020205020404" pitchFamily="49" charset="0"/>
              </a:rPr>
              <a:t>mrF</a:t>
            </a:r>
            <a:r>
              <a:rPr lang="en-US" altLang="ko-KR" dirty="0"/>
              <a:t>) or those of (</a:t>
            </a:r>
            <a:r>
              <a:rPr lang="en-US" altLang="ko-KR" sz="1800" b="1" dirty="0">
                <a:latin typeface="Courier New" panose="02070309020205020404" pitchFamily="49" charset="0"/>
              </a:rPr>
              <a:t>XR</a:t>
            </a:r>
            <a:r>
              <a:rPr lang="en-US" altLang="ko-KR" dirty="0"/>
              <a:t>, </a:t>
            </a:r>
            <a:r>
              <a:rPr lang="en-US" altLang="ko-KR" sz="1800" b="1" dirty="0" err="1">
                <a:latin typeface="Courier New" panose="02070309020205020404" pitchFamily="49" charset="0"/>
              </a:rPr>
              <a:t>mR</a:t>
            </a:r>
            <a:r>
              <a:rPr lang="en-US" altLang="ko-KR" dirty="0"/>
              <a:t>) depending on whether the problem to solve is numerical optimization or TSP, respectively</a:t>
            </a:r>
          </a:p>
          <a:p>
            <a:pPr marL="610525" lvl="1" indent="-287338" eaLnBrk="1" hangingPunct="1">
              <a:defRPr/>
            </a:pPr>
            <a:r>
              <a:rPr lang="en-US" altLang="ko-KR" dirty="0"/>
              <a:t>While (</a:t>
            </a:r>
            <a:r>
              <a:rPr lang="en-US" altLang="ko-KR" sz="1800" b="1" dirty="0" err="1">
                <a:latin typeface="Courier New" panose="02070309020205020404" pitchFamily="49" charset="0"/>
              </a:rPr>
              <a:t>pC</a:t>
            </a:r>
            <a:r>
              <a:rPr lang="en-US" altLang="ko-KR" dirty="0"/>
              <a:t>, </a:t>
            </a:r>
            <a:r>
              <a:rPr lang="en-US" altLang="ko-KR" sz="1800" b="1" dirty="0" err="1">
                <a:latin typeface="Courier New" panose="02070309020205020404" pitchFamily="49" charset="0"/>
              </a:rPr>
              <a:t>pM</a:t>
            </a:r>
            <a:r>
              <a:rPr lang="en-US" altLang="ko-KR" dirty="0"/>
              <a:t>) are the parameters of the search algorithm, the user only gives the values of (</a:t>
            </a:r>
            <a:r>
              <a:rPr lang="en-US" altLang="ko-KR" sz="1800" b="1" dirty="0" err="1">
                <a:latin typeface="Courier New" panose="02070309020205020404" pitchFamily="49" charset="0"/>
              </a:rPr>
              <a:t>uXp</a:t>
            </a:r>
            <a:r>
              <a:rPr lang="en-US" altLang="ko-KR" dirty="0"/>
              <a:t>, </a:t>
            </a:r>
            <a:r>
              <a:rPr lang="en-US" altLang="ko-KR" sz="1800" b="1" dirty="0" err="1">
                <a:latin typeface="Courier New" panose="02070309020205020404" pitchFamily="49" charset="0"/>
              </a:rPr>
              <a:t>mrF</a:t>
            </a:r>
            <a:r>
              <a:rPr lang="en-US" altLang="ko-KR" dirty="0"/>
              <a:t>) or (</a:t>
            </a:r>
            <a:r>
              <a:rPr lang="en-US" altLang="ko-KR" sz="1800" b="1" dirty="0">
                <a:latin typeface="Courier New" panose="02070309020205020404" pitchFamily="49" charset="0"/>
              </a:rPr>
              <a:t>XR</a:t>
            </a:r>
            <a:r>
              <a:rPr lang="en-US" altLang="ko-KR" dirty="0"/>
              <a:t>, </a:t>
            </a:r>
            <a:r>
              <a:rPr lang="en-US" altLang="ko-KR" sz="1800" b="1" dirty="0" err="1">
                <a:latin typeface="Courier New" panose="02070309020205020404" pitchFamily="49" charset="0"/>
              </a:rPr>
              <a:t>mR</a:t>
            </a:r>
            <a:r>
              <a:rPr lang="en-US" altLang="ko-KR" dirty="0"/>
              <a:t>)</a:t>
            </a:r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175B4753-7004-EF5A-732C-73D3F84C1E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r>
              <a:rPr lang="en-US" altLang="ko-KR">
                <a:solidFill>
                  <a:srgbClr val="99CCFF"/>
                </a:solidFill>
              </a:rPr>
              <a:t>Adding Genetic Algorithm</a:t>
            </a:r>
          </a:p>
        </p:txBody>
      </p:sp>
      <p:sp>
        <p:nvSpPr>
          <p:cNvPr id="18434" name="바닥글 개체 틀 4">
            <a:extLst>
              <a:ext uri="{FF2B5EF4-FFF2-40B4-BE49-F238E27FC236}">
                <a16:creationId xmlns:a16="http://schemas.microsoft.com/office/drawing/2014/main" id="{157D1F7A-CA48-3DE3-D7CC-143AEA14C94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Search Algorithms: Object-Oriented Implementation (Part F)</a:t>
            </a:r>
            <a:endParaRPr lang="ko-KR" altLang="ko-KR"/>
          </a:p>
        </p:txBody>
      </p:sp>
      <p:sp>
        <p:nvSpPr>
          <p:cNvPr id="11269" name="슬라이드 번호 개체 틀 8">
            <a:extLst>
              <a:ext uri="{FF2B5EF4-FFF2-40B4-BE49-F238E27FC236}">
                <a16:creationId xmlns:a16="http://schemas.microsoft.com/office/drawing/2014/main" id="{1E49DDD1-B9EC-A4D8-8B4A-C451D4446B9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574108B6-1315-4ADE-A81B-1B99E7B78EF4}" type="slidenum">
              <a:rPr lang="ko-KR" altLang="en-US" sz="1200">
                <a:solidFill>
                  <a:srgbClr val="898989"/>
                </a:solidFill>
                <a:latin typeface="Book Antiqua" panose="02040602050305030304" pitchFamily="18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21</a:t>
            </a:fld>
            <a:endParaRPr lang="en-US" altLang="ko-KR" sz="1200">
              <a:solidFill>
                <a:srgbClr val="898989"/>
              </a:solidFill>
              <a:latin typeface="Book Antiqua" panose="02040602050305030304" pitchFamily="18" charset="0"/>
            </a:endParaRP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1C54E98C-C2D7-F214-A25B-2CB0EA1E8599}"/>
              </a:ext>
            </a:extLst>
          </p:cNvPr>
          <p:cNvCxnSpPr/>
          <p:nvPr/>
        </p:nvCxnSpPr>
        <p:spPr>
          <a:xfrm flipV="1">
            <a:off x="3563938" y="2205038"/>
            <a:ext cx="431800" cy="309562"/>
          </a:xfrm>
          <a:prstGeom prst="straightConnector1">
            <a:avLst/>
          </a:prstGeom>
          <a:ln>
            <a:solidFill>
              <a:srgbClr val="800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71" name="TextBox 4">
            <a:extLst>
              <a:ext uri="{FF2B5EF4-FFF2-40B4-BE49-F238E27FC236}">
                <a16:creationId xmlns:a16="http://schemas.microsoft.com/office/drawing/2014/main" id="{0C311BC9-1E58-EB64-5080-092C3CE9B8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5875" y="2514600"/>
            <a:ext cx="165576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1600" dirty="0">
                <a:solidFill>
                  <a:srgbClr val="800080"/>
                </a:solidFill>
              </a:rPr>
              <a:t>For binary code (Numeric)</a:t>
            </a:r>
            <a:endParaRPr lang="ko-KR" altLang="en-US" sz="1600" dirty="0">
              <a:solidFill>
                <a:srgbClr val="800080"/>
              </a:solidFill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6040F3ED-C794-346C-88B3-6CC964515A97}"/>
              </a:ext>
            </a:extLst>
          </p:cNvPr>
          <p:cNvCxnSpPr/>
          <p:nvPr/>
        </p:nvCxnSpPr>
        <p:spPr>
          <a:xfrm flipH="1" flipV="1">
            <a:off x="4859338" y="2205038"/>
            <a:ext cx="504825" cy="309562"/>
          </a:xfrm>
          <a:prstGeom prst="straightConnector1">
            <a:avLst/>
          </a:prstGeom>
          <a:ln>
            <a:solidFill>
              <a:srgbClr val="800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73" name="TextBox 14">
            <a:extLst>
              <a:ext uri="{FF2B5EF4-FFF2-40B4-BE49-F238E27FC236}">
                <a16:creationId xmlns:a16="http://schemas.microsoft.com/office/drawing/2014/main" id="{4D2B2D76-94B0-1C3A-45B8-BB38B1C37D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2514600"/>
            <a:ext cx="302418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1600" dirty="0">
                <a:solidFill>
                  <a:srgbClr val="800080"/>
                </a:solidFill>
              </a:rPr>
              <a:t>For permutation code (TSP)</a:t>
            </a:r>
            <a:endParaRPr lang="ko-KR" altLang="en-US" sz="1600" dirty="0">
              <a:solidFill>
                <a:srgbClr val="800080"/>
              </a:solidFill>
            </a:endParaRP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DC9EF02D-D5C9-D5FF-32AD-C40D578E3622}"/>
              </a:ext>
            </a:extLst>
          </p:cNvPr>
          <p:cNvCxnSpPr/>
          <p:nvPr/>
        </p:nvCxnSpPr>
        <p:spPr>
          <a:xfrm flipV="1">
            <a:off x="3563938" y="1773238"/>
            <a:ext cx="431800" cy="741362"/>
          </a:xfrm>
          <a:prstGeom prst="straightConnector1">
            <a:avLst/>
          </a:prstGeom>
          <a:ln>
            <a:solidFill>
              <a:srgbClr val="800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67FC11DB-379D-8AD2-3D01-65D675929DEA}"/>
              </a:ext>
            </a:extLst>
          </p:cNvPr>
          <p:cNvCxnSpPr/>
          <p:nvPr/>
        </p:nvCxnSpPr>
        <p:spPr>
          <a:xfrm flipH="1" flipV="1">
            <a:off x="5003800" y="1773238"/>
            <a:ext cx="365125" cy="760412"/>
          </a:xfrm>
          <a:prstGeom prst="straightConnector1">
            <a:avLst/>
          </a:prstGeom>
          <a:ln>
            <a:solidFill>
              <a:srgbClr val="8000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4">
            <a:extLst>
              <a:ext uri="{FF2B5EF4-FFF2-40B4-BE49-F238E27FC236}">
                <a16:creationId xmlns:a16="http://schemas.microsoft.com/office/drawing/2014/main" id="{3A8EF3C1-1917-446D-B6EB-8E153D948C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9952" y="5445224"/>
            <a:ext cx="165576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1600" dirty="0">
                <a:solidFill>
                  <a:srgbClr val="800080"/>
                </a:solidFill>
              </a:rPr>
              <a:t>For Numeric</a:t>
            </a:r>
            <a:endParaRPr lang="ko-KR" altLang="en-US" sz="1600" dirty="0">
              <a:solidFill>
                <a:srgbClr val="800080"/>
              </a:solidFill>
            </a:endParaRPr>
          </a:p>
        </p:txBody>
      </p:sp>
      <p:sp>
        <p:nvSpPr>
          <p:cNvPr id="15" name="TextBox 4">
            <a:extLst>
              <a:ext uri="{FF2B5EF4-FFF2-40B4-BE49-F238E27FC236}">
                <a16:creationId xmlns:a16="http://schemas.microsoft.com/office/drawing/2014/main" id="{A2857E9A-C13C-44F2-A1A2-293628E749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104" y="5445224"/>
            <a:ext cx="165576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1600" dirty="0">
                <a:solidFill>
                  <a:srgbClr val="800080"/>
                </a:solidFill>
              </a:rPr>
              <a:t>For TSP</a:t>
            </a:r>
            <a:endParaRPr lang="ko-KR" altLang="en-US" sz="1600" dirty="0">
              <a:solidFill>
                <a:srgbClr val="800080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3">
            <a:extLst>
              <a:ext uri="{FF2B5EF4-FFF2-40B4-BE49-F238E27FC236}">
                <a16:creationId xmlns:a16="http://schemas.microsoft.com/office/drawing/2014/main" id="{97008D1B-5CAF-CE0C-27C2-2237333F2427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>
          <a:xfrm>
            <a:off x="457200" y="981075"/>
            <a:ext cx="8229600" cy="5256213"/>
          </a:xfrm>
        </p:spPr>
        <p:txBody>
          <a:bodyPr/>
          <a:lstStyle/>
          <a:p>
            <a:pPr marL="285750" indent="-287338" eaLnBrk="1" hangingPunct="1">
              <a:defRPr/>
            </a:pP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displaySetting</a:t>
            </a:r>
            <a:r>
              <a:rPr lang="en-US" altLang="ko-KR" sz="1800" dirty="0"/>
              <a:t> shows the population size and the parameter values used by the genetic operators</a:t>
            </a:r>
          </a:p>
          <a:p>
            <a:pPr marL="609750" lvl="1" indent="-287338" eaLnBrk="1" hangingPunct="1">
              <a:defRPr/>
            </a:pPr>
            <a:r>
              <a:rPr lang="en-US" altLang="ko-KR" sz="1600" b="1" dirty="0">
                <a:latin typeface="Courier New" panose="02070309020205020404" pitchFamily="49" charset="0"/>
              </a:rPr>
              <a:t>resolution</a:t>
            </a:r>
            <a:r>
              <a:rPr lang="en-US" altLang="ko-KR" sz="1600" b="1" dirty="0"/>
              <a:t>, </a:t>
            </a:r>
            <a:r>
              <a:rPr lang="en-US" altLang="ko-KR" sz="1600" b="1" dirty="0" err="1">
                <a:latin typeface="Courier New" panose="02070309020205020404" pitchFamily="49" charset="0"/>
              </a:rPr>
              <a:t>uXp</a:t>
            </a:r>
            <a:r>
              <a:rPr lang="en-US" altLang="ko-KR" sz="1600" b="1" dirty="0"/>
              <a:t>,</a:t>
            </a:r>
            <a:r>
              <a:rPr lang="en-US" altLang="ko-KR" sz="1600" dirty="0"/>
              <a:t> and </a:t>
            </a:r>
            <a:r>
              <a:rPr lang="en-US" altLang="ko-KR" sz="1600" b="1" dirty="0" err="1">
                <a:latin typeface="Courier New" panose="02070309020205020404" pitchFamily="49" charset="0"/>
              </a:rPr>
              <a:t>mrF</a:t>
            </a:r>
            <a:r>
              <a:rPr lang="en-US" altLang="ko-KR" sz="1600" dirty="0"/>
              <a:t> for a numerical optimization problem</a:t>
            </a:r>
          </a:p>
          <a:p>
            <a:pPr marL="609750" lvl="1" indent="-287338" eaLnBrk="1" hangingPunct="1">
              <a:defRPr/>
            </a:pPr>
            <a:r>
              <a:rPr lang="en-US" altLang="ko-KR" sz="1600" b="1" dirty="0">
                <a:latin typeface="Courier New" panose="02070309020205020404" pitchFamily="49" charset="0"/>
              </a:rPr>
              <a:t>XR</a:t>
            </a:r>
            <a:r>
              <a:rPr lang="en-US" altLang="ko-KR" sz="1600" dirty="0"/>
              <a:t> and </a:t>
            </a:r>
            <a:r>
              <a:rPr lang="en-US" altLang="ko-KR" sz="1600" b="1" dirty="0" err="1">
                <a:latin typeface="Courier New" panose="02070309020205020404" pitchFamily="49" charset="0"/>
              </a:rPr>
              <a:t>mR</a:t>
            </a:r>
            <a:r>
              <a:rPr lang="en-US" altLang="ko-KR" sz="1600" dirty="0"/>
              <a:t> for a TSP</a:t>
            </a:r>
          </a:p>
          <a:p>
            <a:pPr marL="285750" indent="-287338" eaLnBrk="1" hangingPunct="1">
              <a:defRPr/>
            </a:pPr>
            <a:endParaRPr lang="en-US" altLang="ko-KR" sz="1400" dirty="0"/>
          </a:p>
          <a:p>
            <a:pPr marL="285750" indent="-287338" eaLnBrk="1" hangingPunct="1">
              <a:defRPr/>
            </a:pPr>
            <a:r>
              <a:rPr lang="en-US" altLang="ko-KR" sz="1800" dirty="0"/>
              <a:t>The genetic algorithm itself is implemented as the 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run</a:t>
            </a:r>
            <a:r>
              <a:rPr lang="en-US" altLang="ko-KR" sz="1800" dirty="0">
                <a:cs typeface="Courier New" panose="02070309020205020404" pitchFamily="49" charset="0"/>
              </a:rPr>
              <a:t> method of the class</a:t>
            </a:r>
          </a:p>
          <a:p>
            <a:pPr marL="609600" lvl="1" indent="-287338" eaLnBrk="1" hangingPunct="1">
              <a:defRPr/>
            </a:pPr>
            <a:r>
              <a:rPr lang="en-US" altLang="ko-KR" sz="1400" dirty="0">
                <a:latin typeface="나눔스퀘어_ac" panose="020B0600000101010101" pitchFamily="50" charset="-127"/>
                <a:ea typeface="나눔스퀘어_ac" panose="020B0600000101010101" pitchFamily="50" charset="-127"/>
                <a:cs typeface="Courier New" panose="02070309020205020404" pitchFamily="49" charset="0"/>
              </a:rPr>
              <a:t>(note) </a:t>
            </a:r>
            <a:r>
              <a:rPr lang="en-US" altLang="ko-KR" sz="1600" dirty="0">
                <a:cs typeface="Courier New" panose="02070309020205020404" pitchFamily="49" charset="0"/>
              </a:rPr>
              <a:t>Among the many different genetic algorithms, our implementation is just one of them. </a:t>
            </a:r>
            <a:r>
              <a:rPr lang="en-US" altLang="ko-KR" sz="1600" dirty="0">
                <a:ea typeface="나눔스퀘어_ac" panose="020B0600000101010101" pitchFamily="50" charset="-127"/>
              </a:rPr>
              <a:t>In</a:t>
            </a:r>
            <a:r>
              <a:rPr lang="ko-KR" altLang="en-US" sz="1600" dirty="0">
                <a:ea typeface="나눔스퀘어_ac" panose="020B0600000101010101" pitchFamily="50" charset="-127"/>
              </a:rPr>
              <a:t> </a:t>
            </a:r>
            <a:r>
              <a:rPr lang="en-US" altLang="ko-KR" sz="1600" dirty="0">
                <a:ea typeface="나눔스퀘어_ac" panose="020B0600000101010101" pitchFamily="50" charset="-127"/>
              </a:rPr>
              <a:t>other</a:t>
            </a:r>
            <a:r>
              <a:rPr lang="ko-KR" altLang="en-US" sz="1600" dirty="0">
                <a:ea typeface="나눔스퀘어_ac" panose="020B0600000101010101" pitchFamily="50" charset="-127"/>
              </a:rPr>
              <a:t> </a:t>
            </a:r>
            <a:r>
              <a:rPr lang="en-US" altLang="ko-KR" sz="1600" dirty="0">
                <a:ea typeface="나눔스퀘어_ac" panose="020B0600000101010101" pitchFamily="50" charset="-127"/>
              </a:rPr>
              <a:t>words, there are diverse ways to implement GA</a:t>
            </a:r>
          </a:p>
          <a:p>
            <a:pPr marL="609600" lvl="1" indent="-287338" eaLnBrk="1" hangingPunct="1">
              <a:defRPr/>
            </a:pPr>
            <a:r>
              <a:rPr lang="en-US" altLang="ko-KR" sz="1600" dirty="0">
                <a:cs typeface="Courier New" panose="02070309020205020404" pitchFamily="49" charset="0"/>
              </a:rPr>
              <a:t>The </a:t>
            </a:r>
            <a:r>
              <a:rPr lang="en-US" altLang="ko-KR" sz="1600" u="sng" dirty="0">
                <a:cs typeface="Courier New" panose="02070309020205020404" pitchFamily="49" charset="0"/>
              </a:rPr>
              <a:t>population</a:t>
            </a:r>
            <a:r>
              <a:rPr lang="en-US" altLang="ko-KR" sz="1600" dirty="0">
                <a:cs typeface="Courier New" panose="02070309020205020404" pitchFamily="49" charset="0"/>
              </a:rPr>
              <a:t> is a list of individuals</a:t>
            </a:r>
          </a:p>
          <a:p>
            <a:pPr marL="609600" lvl="1" indent="-287338" eaLnBrk="1" hangingPunct="1">
              <a:defRPr/>
            </a:pPr>
            <a:r>
              <a:rPr lang="en-US" altLang="ko-KR" sz="1600" dirty="0">
                <a:cs typeface="Courier New" panose="02070309020205020404" pitchFamily="49" charset="0"/>
              </a:rPr>
              <a:t>An </a:t>
            </a:r>
            <a:r>
              <a:rPr lang="en-US" altLang="ko-KR" sz="1600" u="sng" dirty="0">
                <a:cs typeface="Courier New" panose="02070309020205020404" pitchFamily="49" charset="0"/>
              </a:rPr>
              <a:t>individual</a:t>
            </a:r>
            <a:r>
              <a:rPr lang="en-US" altLang="ko-KR" sz="1600" dirty="0">
                <a:cs typeface="Courier New" panose="02070309020205020404" pitchFamily="49" charset="0"/>
              </a:rPr>
              <a:t> is a list of a pair: [</a:t>
            </a:r>
            <a:r>
              <a:rPr lang="en-US" altLang="ko-KR" sz="1600" i="1" dirty="0">
                <a:cs typeface="Courier New" panose="02070309020205020404" pitchFamily="49" charset="0"/>
              </a:rPr>
              <a:t>fitness</a:t>
            </a:r>
            <a:r>
              <a:rPr lang="en-US" altLang="ko-KR" sz="1600" dirty="0">
                <a:cs typeface="Courier New" panose="02070309020205020404" pitchFamily="49" charset="0"/>
              </a:rPr>
              <a:t>, </a:t>
            </a:r>
            <a:r>
              <a:rPr lang="en-US" altLang="ko-KR" sz="1600" i="1" dirty="0">
                <a:cs typeface="Courier New" panose="02070309020205020404" pitchFamily="49" charset="0"/>
              </a:rPr>
              <a:t>chromosome</a:t>
            </a:r>
            <a:r>
              <a:rPr lang="en-US" altLang="ko-KR" sz="1600" dirty="0">
                <a:cs typeface="Courier New" panose="02070309020205020404" pitchFamily="49" charset="0"/>
              </a:rPr>
              <a:t>]</a:t>
            </a:r>
          </a:p>
          <a:p>
            <a:pPr marL="897600" lvl="2" indent="-287338" eaLnBrk="1" hangingPunct="1">
              <a:defRPr/>
            </a:pPr>
            <a:r>
              <a:rPr lang="en-US" sz="1400" dirty="0"/>
              <a:t>That is, the first item in the list storing each solution is the </a:t>
            </a:r>
            <a:r>
              <a:rPr lang="en-US" sz="1400" b="1" dirty="0"/>
              <a:t>fitness</a:t>
            </a:r>
            <a:r>
              <a:rPr lang="en-US" sz="1400" dirty="0"/>
              <a:t> score.</a:t>
            </a:r>
            <a:endParaRPr lang="en-US" altLang="ko-KR" sz="1400" dirty="0">
              <a:latin typeface="나눔스퀘어_ac" panose="020B0600000101010101" pitchFamily="50" charset="-127"/>
              <a:ea typeface="나눔스퀘어_ac" panose="020B0600000101010101" pitchFamily="50" charset="-127"/>
              <a:cs typeface="Courier New" panose="02070309020205020404" pitchFamily="49" charset="0"/>
            </a:endParaRPr>
          </a:p>
          <a:p>
            <a:pPr marL="609600" lvl="1" indent="-287338" eaLnBrk="1" hangingPunct="1">
              <a:defRPr/>
            </a:pPr>
            <a:r>
              <a:rPr lang="en-US" altLang="ko-KR" sz="1600" dirty="0">
                <a:cs typeface="Courier New" panose="02070309020205020404" pitchFamily="49" charset="0"/>
              </a:rPr>
              <a:t>The </a:t>
            </a:r>
            <a:r>
              <a:rPr lang="en-US" altLang="ko-KR" sz="1600" b="1" dirty="0">
                <a:latin typeface="Courier New" panose="02070309020205020404" pitchFamily="49" charset="0"/>
              </a:rPr>
              <a:t>run</a:t>
            </a:r>
            <a:r>
              <a:rPr lang="en-US" altLang="ko-KR" sz="1600" dirty="0"/>
              <a:t> method makes calls to some methods of </a:t>
            </a:r>
            <a:r>
              <a:rPr lang="en-US" altLang="ko-KR" sz="1600" b="1" dirty="0">
                <a:latin typeface="Courier New" panose="02070309020205020404" pitchFamily="49" charset="0"/>
              </a:rPr>
              <a:t>Problem</a:t>
            </a:r>
            <a:r>
              <a:rPr lang="en-US" altLang="ko-KR" sz="1600" dirty="0"/>
              <a:t> class and other methods within the 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GA</a:t>
            </a:r>
            <a:r>
              <a:rPr lang="en-US" altLang="ko-KR" sz="1600" dirty="0"/>
              <a:t> class</a:t>
            </a:r>
            <a:r>
              <a:rPr lang="en-US" altLang="ko-KR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(</a:t>
            </a:r>
            <a:r>
              <a:rPr lang="en-US" altLang="ko-KR" sz="1400" b="1" dirty="0">
                <a:latin typeface="Courier New" panose="02070309020205020404" pitchFamily="49" charset="0"/>
                <a:ea typeface="나눔스퀘어_ac" panose="020B0600000101010101" pitchFamily="50" charset="-127"/>
                <a:cs typeface="Courier New" panose="02070309020205020404" pitchFamily="49" charset="0"/>
              </a:rPr>
              <a:t>run</a:t>
            </a:r>
            <a:r>
              <a:rPr lang="en-US" altLang="ko-KR" sz="1400" dirty="0">
                <a:ea typeface="나눔스퀘어_ac" panose="020B0600000101010101" pitchFamily="50" charset="-127"/>
              </a:rPr>
              <a:t> use both </a:t>
            </a:r>
            <a:r>
              <a:rPr lang="en-US" altLang="ko-KR" sz="1400" b="1" dirty="0">
                <a:latin typeface="Courier New" panose="02070309020205020404" pitchFamily="49" charset="0"/>
                <a:ea typeface="나눔스퀘어_ac" panose="020B0600000101010101" pitchFamily="50" charset="-127"/>
                <a:cs typeface="Courier New" panose="02070309020205020404" pitchFamily="49" charset="0"/>
              </a:rPr>
              <a:t>Problem</a:t>
            </a:r>
            <a:r>
              <a:rPr lang="en-US" altLang="ko-KR" sz="1400" dirty="0">
                <a:ea typeface="나눔스퀘어_ac" panose="020B0600000101010101" pitchFamily="50" charset="-127"/>
              </a:rPr>
              <a:t> class and </a:t>
            </a:r>
            <a:r>
              <a:rPr lang="en-US" altLang="ko-KR" sz="1400" b="1" dirty="0">
                <a:latin typeface="Courier New" panose="02070309020205020404" pitchFamily="49" charset="0"/>
                <a:ea typeface="나눔스퀘어_ac" panose="020B0600000101010101" pitchFamily="50" charset="-127"/>
                <a:cs typeface="Courier New" panose="02070309020205020404" pitchFamily="49" charset="0"/>
              </a:rPr>
              <a:t>GA</a:t>
            </a:r>
            <a:r>
              <a:rPr lang="en-US" altLang="ko-KR" sz="1400" dirty="0">
                <a:ea typeface="나눔스퀘어_ac" panose="020B0600000101010101" pitchFamily="50" charset="-127"/>
              </a:rPr>
              <a:t> class methods)</a:t>
            </a:r>
            <a:endParaRPr lang="en-US" altLang="ko-KR" sz="1600" dirty="0">
              <a:ea typeface="나눔스퀘어_ac" panose="020B0600000101010101" pitchFamily="50" charset="-127"/>
            </a:endParaRPr>
          </a:p>
          <a:p>
            <a:pPr marL="609600" lvl="1" indent="-287338" eaLnBrk="1" hangingPunct="1">
              <a:defRPr/>
            </a:pPr>
            <a:endParaRPr lang="en-US" altLang="ko-KR" sz="1800" dirty="0"/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80F353B7-97BA-5362-CE55-A407F36B7B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r>
              <a:rPr lang="en-US" altLang="ko-KR">
                <a:solidFill>
                  <a:srgbClr val="99CCFF"/>
                </a:solidFill>
              </a:rPr>
              <a:t>Adding Genetic Algorithm</a:t>
            </a:r>
          </a:p>
        </p:txBody>
      </p:sp>
      <p:sp>
        <p:nvSpPr>
          <p:cNvPr id="18434" name="바닥글 개체 틀 4">
            <a:extLst>
              <a:ext uri="{FF2B5EF4-FFF2-40B4-BE49-F238E27FC236}">
                <a16:creationId xmlns:a16="http://schemas.microsoft.com/office/drawing/2014/main" id="{4BD668ED-FF2D-1B6D-7576-4940B31580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Search Algorithms: Object-Oriented Implementation (Part F)</a:t>
            </a:r>
            <a:endParaRPr lang="ko-KR" altLang="ko-KR"/>
          </a:p>
        </p:txBody>
      </p:sp>
      <p:sp>
        <p:nvSpPr>
          <p:cNvPr id="13317" name="슬라이드 번호 개체 틀 8">
            <a:extLst>
              <a:ext uri="{FF2B5EF4-FFF2-40B4-BE49-F238E27FC236}">
                <a16:creationId xmlns:a16="http://schemas.microsoft.com/office/drawing/2014/main" id="{8C38B600-9A60-519B-1B96-535EE40E8ED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952D0341-5F9C-4EF2-AD82-B6DB80FD74F4}" type="slidenum">
              <a:rPr lang="ko-KR" altLang="en-US" sz="1200">
                <a:solidFill>
                  <a:srgbClr val="898989"/>
                </a:solidFill>
                <a:latin typeface="Book Antiqua" panose="02040602050305030304" pitchFamily="18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22</a:t>
            </a:fld>
            <a:endParaRPr lang="en-US" altLang="ko-KR" sz="1200">
              <a:solidFill>
                <a:srgbClr val="898989"/>
              </a:solidFill>
              <a:latin typeface="Book Antiqua" panose="02040602050305030304" pitchFamily="18" charset="0"/>
            </a:endParaRPr>
          </a:p>
        </p:txBody>
      </p:sp>
      <p:sp>
        <p:nvSpPr>
          <p:cNvPr id="6" name="설명선: 선 5">
            <a:extLst>
              <a:ext uri="{FF2B5EF4-FFF2-40B4-BE49-F238E27FC236}">
                <a16:creationId xmlns:a16="http://schemas.microsoft.com/office/drawing/2014/main" id="{3895C804-34F3-4BA0-B9C8-089D4AADAC29}"/>
              </a:ext>
            </a:extLst>
          </p:cNvPr>
          <p:cNvSpPr/>
          <p:nvPr/>
        </p:nvSpPr>
        <p:spPr>
          <a:xfrm>
            <a:off x="323528" y="274638"/>
            <a:ext cx="1656184" cy="573583"/>
          </a:xfrm>
          <a:prstGeom prst="borderCallout1">
            <a:avLst>
              <a:gd name="adj1" fmla="val 100638"/>
              <a:gd name="adj2" fmla="val 10017"/>
              <a:gd name="adj3" fmla="val 268562"/>
              <a:gd name="adj4" fmla="val 48275"/>
            </a:avLst>
          </a:prstGeom>
          <a:ln w="12700">
            <a:solidFill>
              <a:srgbClr val="0033CC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resolution : number of bits for binary-encoding</a:t>
            </a:r>
            <a:endParaRPr lang="ko-KR" altLang="en-US" sz="1200" dirty="0">
              <a:solidFill>
                <a:schemeClr val="tx1"/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3">
            <a:extLst>
              <a:ext uri="{FF2B5EF4-FFF2-40B4-BE49-F238E27FC236}">
                <a16:creationId xmlns:a16="http://schemas.microsoft.com/office/drawing/2014/main" id="{271E5E77-0150-1E8A-B58F-879B6AA705F0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>
          <a:xfrm>
            <a:off x="457200" y="981075"/>
            <a:ext cx="8229600" cy="5256213"/>
          </a:xfrm>
        </p:spPr>
        <p:txBody>
          <a:bodyPr/>
          <a:lstStyle/>
          <a:p>
            <a:pPr marL="285750" indent="-287338" eaLnBrk="1" hangingPunct="1"/>
            <a:r>
              <a:rPr lang="en-US" altLang="ko-KR" sz="1800" b="1" dirty="0">
                <a:solidFill>
                  <a:srgbClr val="0033CC"/>
                </a:solidFill>
                <a:latin typeface="Courier New" panose="02070309020205020404" pitchFamily="49" charset="0"/>
              </a:rPr>
              <a:t>run(self, p)</a:t>
            </a:r>
            <a:r>
              <a:rPr lang="en-US" altLang="ko-KR" dirty="0">
                <a:solidFill>
                  <a:srgbClr val="0033CC"/>
                </a:solidFill>
              </a:rPr>
              <a:t>:</a:t>
            </a:r>
          </a:p>
          <a:p>
            <a:pPr marL="609600" lvl="1" indent="-287338" eaLnBrk="1" hangingPunct="1"/>
            <a:r>
              <a:rPr lang="en-US" altLang="ko-KR" sz="1800" dirty="0"/>
              <a:t>Generates an </a:t>
            </a:r>
            <a:r>
              <a:rPr lang="en-US" altLang="ko-KR" sz="1800" u="sng" dirty="0">
                <a:solidFill>
                  <a:srgbClr val="0033CC"/>
                </a:solidFill>
              </a:rPr>
              <a:t>initial population </a:t>
            </a:r>
            <a:r>
              <a:rPr lang="en-US" altLang="ko-KR" sz="1800" u="sng" dirty="0"/>
              <a:t>randomly </a:t>
            </a:r>
            <a:r>
              <a:rPr lang="en-US" altLang="ko-KR" sz="1800" dirty="0"/>
              <a:t>(</a:t>
            </a:r>
            <a:r>
              <a:rPr lang="en-US" altLang="ko-KR" sz="1600" b="1" dirty="0" err="1">
                <a:latin typeface="Courier New" panose="02070309020205020404" pitchFamily="49" charset="0"/>
              </a:rPr>
              <a:t>p.initializePop</a:t>
            </a:r>
            <a:r>
              <a:rPr lang="en-US" altLang="ko-KR" sz="1800" dirty="0"/>
              <a:t>)</a:t>
            </a:r>
          </a:p>
          <a:p>
            <a:pPr marL="609600" lvl="1" indent="-287338" eaLnBrk="1" hangingPunct="1"/>
            <a:r>
              <a:rPr lang="en-US" altLang="ko-KR" sz="1800" dirty="0"/>
              <a:t>Evaluates individuals in the initial population and </a:t>
            </a:r>
            <a:r>
              <a:rPr lang="en-US" altLang="ko-KR" sz="1800" u="sng" dirty="0"/>
              <a:t>identifies the best one </a:t>
            </a:r>
            <a:r>
              <a:rPr lang="en-US" altLang="ko-KR" sz="1800" dirty="0"/>
              <a:t>(</a:t>
            </a:r>
            <a:r>
              <a:rPr lang="en-US" altLang="ko-KR" sz="1600" b="1" dirty="0" err="1">
                <a:latin typeface="Courier New" panose="02070309020205020404" pitchFamily="49" charset="0"/>
              </a:rPr>
              <a:t>self.evalAndFindBest</a:t>
            </a:r>
            <a:r>
              <a:rPr lang="en-US" altLang="ko-KR" sz="1800" dirty="0"/>
              <a:t>)</a:t>
            </a:r>
          </a:p>
          <a:p>
            <a:pPr marL="609600" lvl="1" indent="-287338" eaLnBrk="1" hangingPunct="1"/>
            <a:r>
              <a:rPr lang="en-US" altLang="ko-KR" sz="1800" dirty="0"/>
              <a:t>Until termination, keeps </a:t>
            </a:r>
            <a:r>
              <a:rPr lang="en-US" altLang="ko-KR" sz="1800" u="sng" dirty="0"/>
              <a:t>applying the </a:t>
            </a:r>
            <a:r>
              <a:rPr lang="en-US" altLang="ko-KR" sz="1800" u="sng" dirty="0">
                <a:solidFill>
                  <a:srgbClr val="0033CC"/>
                </a:solidFill>
              </a:rPr>
              <a:t>genetic operators </a:t>
            </a:r>
            <a:r>
              <a:rPr lang="en-US" altLang="ko-KR" sz="1800" dirty="0"/>
              <a:t>(</a:t>
            </a:r>
            <a:r>
              <a:rPr lang="en-US" altLang="ko-KR" sz="1600" b="1" dirty="0" err="1">
                <a:latin typeface="Courier New" panose="02070309020205020404" pitchFamily="49" charset="0"/>
              </a:rPr>
              <a:t>self.selectParents</a:t>
            </a:r>
            <a:r>
              <a:rPr lang="en-US" altLang="ko-KR" sz="1800" dirty="0"/>
              <a:t>, </a:t>
            </a:r>
            <a:r>
              <a:rPr lang="en-US" altLang="ko-KR" sz="1600" b="1" dirty="0" err="1">
                <a:latin typeface="Courier New" panose="02070309020205020404" pitchFamily="49" charset="0"/>
              </a:rPr>
              <a:t>p.crossover</a:t>
            </a:r>
            <a:r>
              <a:rPr lang="en-US" altLang="ko-KR" sz="1800" dirty="0"/>
              <a:t>, </a:t>
            </a:r>
            <a:r>
              <a:rPr lang="en-US" altLang="ko-KR" sz="1600" b="1" dirty="0" err="1">
                <a:latin typeface="Courier New" panose="02070309020205020404" pitchFamily="49" charset="0"/>
              </a:rPr>
              <a:t>p.mutation</a:t>
            </a:r>
            <a:r>
              <a:rPr lang="en-US" altLang="ko-KR" sz="1800" dirty="0"/>
              <a:t>), updating the population </a:t>
            </a:r>
            <a:r>
              <a:rPr lang="en-US" altLang="ko-KR" sz="1600" dirty="0"/>
              <a:t>(= </a:t>
            </a:r>
            <a:r>
              <a:rPr lang="en-US" altLang="ko-KR" sz="1600" u="sng" dirty="0">
                <a:solidFill>
                  <a:srgbClr val="0033CC"/>
                </a:solidFill>
              </a:rPr>
              <a:t>generate next solution set</a:t>
            </a:r>
            <a:r>
              <a:rPr lang="en-US" altLang="ko-KR" sz="1600" dirty="0"/>
              <a:t>)</a:t>
            </a:r>
            <a:r>
              <a:rPr lang="en-US" altLang="ko-KR" sz="1800" dirty="0"/>
              <a:t>, and </a:t>
            </a:r>
            <a:r>
              <a:rPr lang="en-US" altLang="ko-KR" sz="1800" u="sng" dirty="0">
                <a:solidFill>
                  <a:srgbClr val="0033CC"/>
                </a:solidFill>
              </a:rPr>
              <a:t>updating the best-so-far</a:t>
            </a:r>
            <a:r>
              <a:rPr lang="en-US" altLang="ko-KR" sz="1800" u="sng" dirty="0"/>
              <a:t> individual</a:t>
            </a:r>
            <a:r>
              <a:rPr lang="en-US" altLang="ko-KR" sz="1800" dirty="0"/>
              <a:t> (</a:t>
            </a:r>
            <a:r>
              <a:rPr lang="en-US" altLang="ko-KR" sz="1600" b="1" dirty="0" err="1">
                <a:latin typeface="Courier New" panose="02070309020205020404" pitchFamily="49" charset="0"/>
              </a:rPr>
              <a:t>self.evalAndFindBest</a:t>
            </a:r>
            <a:r>
              <a:rPr lang="en-US" altLang="ko-KR" sz="1800" dirty="0"/>
              <a:t>)</a:t>
            </a:r>
          </a:p>
          <a:p>
            <a:pPr marL="609600" lvl="1" indent="-287338" eaLnBrk="1" hangingPunct="1"/>
            <a:r>
              <a:rPr lang="en-US" altLang="ko-KR" sz="1800" dirty="0"/>
              <a:t>Converts the best individual found to a form containing only the solution part (</a:t>
            </a:r>
            <a:r>
              <a:rPr lang="en-US" altLang="ko-KR" sz="1600" b="1" dirty="0" err="1">
                <a:latin typeface="Courier New" panose="02070309020205020404" pitchFamily="49" charset="0"/>
              </a:rPr>
              <a:t>p.indToSol</a:t>
            </a:r>
            <a:r>
              <a:rPr lang="en-US" altLang="ko-KR" sz="1800" dirty="0"/>
              <a:t>)</a:t>
            </a:r>
          </a:p>
          <a:p>
            <a:pPr marL="897600" lvl="2" indent="-287338" eaLnBrk="1" hangingPunct="1"/>
            <a:r>
              <a:rPr lang="en-US" altLang="ko-KR" sz="1400" dirty="0">
                <a:ea typeface="나눔스퀘어_ac" panose="020B0600000101010101" pitchFamily="50" charset="-127"/>
              </a:rPr>
              <a:t>Since each individual = [fitness, solution], the </a:t>
            </a:r>
            <a:r>
              <a:rPr lang="en-US" altLang="ko-KR" sz="1400" b="1" dirty="0" err="1">
                <a:latin typeface="Courier New" panose="02070309020205020404" pitchFamily="49" charset="0"/>
                <a:ea typeface="나눔스퀘어_ac" panose="020B0600000101010101" pitchFamily="50" charset="-127"/>
                <a:cs typeface="Courier New" panose="02070309020205020404" pitchFamily="49" charset="0"/>
              </a:rPr>
              <a:t>indToSol</a:t>
            </a:r>
            <a:r>
              <a:rPr lang="en-US" altLang="ko-KR" sz="1400" dirty="0">
                <a:ea typeface="나눔스퀘어_ac" panose="020B0600000101010101" pitchFamily="50" charset="-127"/>
              </a:rPr>
              <a:t> method is implemented to extract only the solution part.</a:t>
            </a:r>
          </a:p>
          <a:p>
            <a:pPr marL="897600" lvl="2" indent="-287338" eaLnBrk="1" hangingPunct="1"/>
            <a:r>
              <a:rPr lang="en-US" altLang="ko-KR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</a:t>
            </a:r>
            <a:r>
              <a:rPr lang="en-US" altLang="ko-KR" sz="1400" b="1" dirty="0" err="1">
                <a:latin typeface="Courier New" panose="02070309020205020404" pitchFamily="49" charset="0"/>
                <a:ea typeface="나눔스퀘어_ac" panose="020B0600000101010101" pitchFamily="50" charset="-127"/>
                <a:cs typeface="Courier New" panose="02070309020205020404" pitchFamily="49" charset="0"/>
              </a:rPr>
              <a:t>ind</a:t>
            </a:r>
            <a:r>
              <a:rPr lang="en-US" altLang="ko-KR" sz="1400" b="1" dirty="0">
                <a:latin typeface="Courier New" panose="02070309020205020404" pitchFamily="49" charset="0"/>
                <a:ea typeface="나눔스퀘어_ac" panose="020B0600000101010101" pitchFamily="50" charset="-127"/>
                <a:cs typeface="Courier New" panose="02070309020205020404" pitchFamily="49" charset="0"/>
              </a:rPr>
              <a:t> = individual</a:t>
            </a:r>
          </a:p>
          <a:p>
            <a:pPr marL="609600" lvl="1" indent="-287338" eaLnBrk="1" hangingPunct="1"/>
            <a:r>
              <a:rPr lang="en-US" altLang="ko-KR" sz="1800" dirty="0"/>
              <a:t>Stores the best solution (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p.storeResult</a:t>
            </a:r>
            <a:r>
              <a:rPr lang="en-US" altLang="ko-KR" sz="1800" dirty="0"/>
              <a:t>)</a:t>
            </a:r>
            <a:endParaRPr lang="en-US" altLang="ko-KR" sz="1800" b="1" dirty="0">
              <a:latin typeface="Courier New" panose="02070309020205020404" pitchFamily="49" charset="0"/>
            </a:endParaRPr>
          </a:p>
          <a:p>
            <a:pPr marL="609600" lvl="1" indent="-287338" eaLnBrk="1" hangingPunct="1"/>
            <a:endParaRPr lang="en-US" altLang="ko-KR" dirty="0"/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514D31BD-B010-6422-89BD-43E397569F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r>
              <a:rPr lang="en-US" altLang="ko-KR">
                <a:solidFill>
                  <a:srgbClr val="99CCFF"/>
                </a:solidFill>
              </a:rPr>
              <a:t>Adding Genetic Algorithm</a:t>
            </a:r>
          </a:p>
        </p:txBody>
      </p:sp>
      <p:sp>
        <p:nvSpPr>
          <p:cNvPr id="18434" name="바닥글 개체 틀 4">
            <a:extLst>
              <a:ext uri="{FF2B5EF4-FFF2-40B4-BE49-F238E27FC236}">
                <a16:creationId xmlns:a16="http://schemas.microsoft.com/office/drawing/2014/main" id="{103574A0-AC0F-2E33-7FC9-F50BB83F372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Search Algorithms: Object-Oriented Implementation (Part F)</a:t>
            </a:r>
            <a:endParaRPr lang="ko-KR" altLang="ko-KR"/>
          </a:p>
        </p:txBody>
      </p:sp>
      <p:sp>
        <p:nvSpPr>
          <p:cNvPr id="15365" name="슬라이드 번호 개체 틀 8">
            <a:extLst>
              <a:ext uri="{FF2B5EF4-FFF2-40B4-BE49-F238E27FC236}">
                <a16:creationId xmlns:a16="http://schemas.microsoft.com/office/drawing/2014/main" id="{F40ACF6D-0391-E7EB-E95E-8F3E4F6B177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6377EA25-9201-4231-AB1A-C7E462ED4967}" type="slidenum">
              <a:rPr lang="ko-KR" altLang="en-US" sz="1200">
                <a:solidFill>
                  <a:srgbClr val="898989"/>
                </a:solidFill>
                <a:latin typeface="Book Antiqua" panose="02040602050305030304" pitchFamily="18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23</a:t>
            </a:fld>
            <a:endParaRPr lang="en-US" altLang="ko-KR" sz="1200">
              <a:solidFill>
                <a:srgbClr val="898989"/>
              </a:solidFill>
              <a:latin typeface="Book Antiqua" panose="02040602050305030304" pitchFamily="18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3">
            <a:extLst>
              <a:ext uri="{FF2B5EF4-FFF2-40B4-BE49-F238E27FC236}">
                <a16:creationId xmlns:a16="http://schemas.microsoft.com/office/drawing/2014/main" id="{3DBEE90A-A74E-59B7-5C6A-3D780BA38DC8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>
          <a:xfrm>
            <a:off x="457200" y="981075"/>
            <a:ext cx="8229600" cy="5256213"/>
          </a:xfrm>
        </p:spPr>
        <p:txBody>
          <a:bodyPr/>
          <a:lstStyle/>
          <a:p>
            <a:pPr marL="285750" indent="-287338" eaLnBrk="1" hangingPunct="1"/>
            <a:r>
              <a:rPr lang="en-US" altLang="ko-KR" sz="1600" b="1" dirty="0" err="1">
                <a:latin typeface="Courier New" panose="02070309020205020404" pitchFamily="49" charset="0"/>
              </a:rPr>
              <a:t>evalAndFindBest</a:t>
            </a:r>
            <a:r>
              <a:rPr lang="en-US" altLang="ko-KR" sz="1600" b="1" dirty="0">
                <a:latin typeface="Courier New" panose="02070309020205020404" pitchFamily="49" charset="0"/>
              </a:rPr>
              <a:t>(self, pop, p)</a:t>
            </a:r>
            <a:r>
              <a:rPr lang="en-US" altLang="ko-KR" sz="1800" dirty="0"/>
              <a:t>:</a:t>
            </a:r>
          </a:p>
          <a:p>
            <a:pPr marL="609600" lvl="1" indent="-287338" eaLnBrk="1" hangingPunct="1"/>
            <a:r>
              <a:rPr lang="en-US" altLang="ko-KR" sz="1600" dirty="0"/>
              <a:t>Evaluates each individual in the population 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pop</a:t>
            </a:r>
            <a:r>
              <a:rPr lang="en-US" altLang="ko-KR" sz="1600" dirty="0"/>
              <a:t> (</a:t>
            </a:r>
            <a:r>
              <a:rPr lang="en-US" altLang="ko-KR" sz="1600" b="1" dirty="0" err="1">
                <a:latin typeface="Courier New" panose="02070309020205020404" pitchFamily="49" charset="0"/>
              </a:rPr>
              <a:t>p.evalInd</a:t>
            </a:r>
            <a:r>
              <a:rPr lang="en-US" altLang="ko-KR" sz="1600" dirty="0"/>
              <a:t>), identifies the best one, and returns it</a:t>
            </a:r>
          </a:p>
          <a:p>
            <a:pPr marL="285750" indent="-287338" eaLnBrk="1" hangingPunct="1"/>
            <a:r>
              <a:rPr lang="en-US" altLang="ko-KR" sz="1600" b="1" dirty="0" err="1">
                <a:latin typeface="Courier New" panose="02070309020205020404" pitchFamily="49" charset="0"/>
              </a:rPr>
              <a:t>selectParents</a:t>
            </a:r>
            <a:r>
              <a:rPr lang="en-US" altLang="ko-KR" sz="1600" b="1" dirty="0">
                <a:latin typeface="Courier New" panose="02070309020205020404" pitchFamily="49" charset="0"/>
              </a:rPr>
              <a:t>(self, pop)</a:t>
            </a:r>
            <a:r>
              <a:rPr lang="en-US" altLang="ko-KR" sz="1800" dirty="0"/>
              <a:t>:</a:t>
            </a:r>
          </a:p>
          <a:p>
            <a:pPr marL="609600" lvl="1" indent="-287338" eaLnBrk="1" hangingPunct="1"/>
            <a:r>
              <a:rPr lang="en-US" altLang="ko-KR" sz="1600" dirty="0"/>
              <a:t>Performs binary tournament selection </a:t>
            </a:r>
            <a:r>
              <a:rPr lang="en-US" altLang="ko-KR" sz="1600" dirty="0">
                <a:solidFill>
                  <a:srgbClr val="0033CC"/>
                </a:solidFill>
              </a:rPr>
              <a:t>twice</a:t>
            </a:r>
            <a:r>
              <a:rPr lang="en-US" altLang="ko-KR" sz="1600" dirty="0"/>
              <a:t> (</a:t>
            </a:r>
            <a:r>
              <a:rPr lang="en-US" altLang="ko-KR" sz="1600" b="1" dirty="0" err="1">
                <a:latin typeface="Courier New" panose="02070309020205020404" pitchFamily="49" charset="0"/>
              </a:rPr>
              <a:t>self.selectTwo</a:t>
            </a:r>
            <a:r>
              <a:rPr lang="en-US" altLang="ko-KR" sz="1600" b="1" dirty="0">
                <a:latin typeface="Courier New" panose="02070309020205020404" pitchFamily="49" charset="0"/>
              </a:rPr>
              <a:t>, </a:t>
            </a:r>
            <a:r>
              <a:rPr lang="en-US" altLang="ko-KR" sz="1600" b="1" dirty="0" err="1">
                <a:latin typeface="Courier New" panose="02070309020205020404" pitchFamily="49" charset="0"/>
              </a:rPr>
              <a:t>self.binaryTournament</a:t>
            </a:r>
            <a:r>
              <a:rPr lang="en-US" altLang="ko-KR" sz="1600" dirty="0"/>
              <a:t>) and returns the selected parents</a:t>
            </a:r>
          </a:p>
          <a:p>
            <a:pPr marL="609600" lvl="1" indent="-287338" eaLnBrk="1" hangingPunct="1"/>
            <a:r>
              <a:rPr lang="en-US" altLang="ko-KR" sz="1400" u="sng" dirty="0">
                <a:ea typeface="나눔스퀘어_ac" panose="020B0600000101010101" pitchFamily="50" charset="-127"/>
              </a:rPr>
              <a:t>Selects two solutions</a:t>
            </a:r>
            <a:r>
              <a:rPr lang="en-US" altLang="ko-KR" sz="1400" dirty="0">
                <a:ea typeface="나눔스퀘어_ac" panose="020B0600000101010101" pitchFamily="50" charset="-127"/>
              </a:rPr>
              <a:t> by performing the process of randomly selecting two parents using </a:t>
            </a:r>
            <a:r>
              <a:rPr lang="en-US" altLang="ko-KR" sz="1400" b="1" dirty="0" err="1">
                <a:latin typeface="Courier New" panose="02070309020205020404" pitchFamily="49" charset="0"/>
                <a:ea typeface="나눔스퀘어_ac" panose="020B0600000101010101" pitchFamily="50" charset="-127"/>
                <a:cs typeface="Courier New" panose="02070309020205020404" pitchFamily="49" charset="0"/>
              </a:rPr>
              <a:t>selectTwo</a:t>
            </a:r>
            <a:r>
              <a:rPr lang="en-US" altLang="ko-KR" sz="1400" dirty="0">
                <a:ea typeface="나눔스퀘어_ac" panose="020B0600000101010101" pitchFamily="50" charset="-127"/>
              </a:rPr>
              <a:t> and </a:t>
            </a:r>
            <a:r>
              <a:rPr lang="en-US" altLang="ko-KR" sz="1400" u="sng" dirty="0">
                <a:ea typeface="나눔스퀘어_ac" panose="020B0600000101010101" pitchFamily="50" charset="-127"/>
              </a:rPr>
              <a:t>then choosing the parent with the lower fitness score </a:t>
            </a:r>
            <a:r>
              <a:rPr lang="en-US" altLang="ko-KR" sz="1400" dirty="0">
                <a:ea typeface="나눔스퀘어_ac" panose="020B0600000101010101" pitchFamily="50" charset="-127"/>
              </a:rPr>
              <a:t>via </a:t>
            </a:r>
            <a:r>
              <a:rPr lang="en-US" altLang="ko-KR" sz="1400" b="1" dirty="0" err="1">
                <a:latin typeface="Courier New" panose="02070309020205020404" pitchFamily="49" charset="0"/>
                <a:ea typeface="나눔스퀘어_ac" panose="020B0600000101010101" pitchFamily="50" charset="-127"/>
                <a:cs typeface="Courier New" panose="02070309020205020404" pitchFamily="49" charset="0"/>
              </a:rPr>
              <a:t>binaryTournament</a:t>
            </a:r>
            <a:r>
              <a:rPr lang="en-US" altLang="ko-KR" sz="1400" dirty="0">
                <a:ea typeface="나눔스퀘어_ac" panose="020B0600000101010101" pitchFamily="50" charset="-127"/>
              </a:rPr>
              <a:t>, repeating this process twice.</a:t>
            </a:r>
          </a:p>
          <a:p>
            <a:pPr marL="285750" indent="-287338" eaLnBrk="1" hangingPunct="1"/>
            <a:r>
              <a:rPr lang="en-US" altLang="ko-KR" sz="1600" b="1" dirty="0" err="1">
                <a:latin typeface="Courier New" panose="02070309020205020404" pitchFamily="49" charset="0"/>
              </a:rPr>
              <a:t>selectTwo</a:t>
            </a:r>
            <a:r>
              <a:rPr lang="en-US" altLang="ko-KR" sz="1600" b="1" dirty="0">
                <a:latin typeface="Courier New" panose="02070309020205020404" pitchFamily="49" charset="0"/>
              </a:rPr>
              <a:t>(self, pop)</a:t>
            </a:r>
            <a:r>
              <a:rPr lang="en-US" altLang="ko-KR" sz="1600" dirty="0"/>
              <a:t>:</a:t>
            </a:r>
          </a:p>
          <a:p>
            <a:pPr marL="609600" lvl="1" indent="-287338" eaLnBrk="1" hangingPunct="1"/>
            <a:r>
              <a:rPr lang="en-US" altLang="ko-KR" sz="1600" dirty="0"/>
              <a:t>Selects two random individuals in </a:t>
            </a:r>
            <a:r>
              <a:rPr lang="en-US" altLang="ko-KR" sz="1600" b="1" dirty="0">
                <a:latin typeface="Courier New" panose="02070309020205020404" pitchFamily="49" charset="0"/>
              </a:rPr>
              <a:t>pop</a:t>
            </a:r>
            <a:r>
              <a:rPr lang="en-US" altLang="ko-KR" sz="1600" dirty="0"/>
              <a:t> and returns them</a:t>
            </a:r>
          </a:p>
          <a:p>
            <a:pPr marL="285750" indent="-287338" eaLnBrk="1" hangingPunct="1"/>
            <a:r>
              <a:rPr lang="en-US" altLang="ko-KR" sz="1600" b="1" dirty="0" err="1">
                <a:latin typeface="Courier New" panose="02070309020205020404" pitchFamily="49" charset="0"/>
              </a:rPr>
              <a:t>binaryTournament</a:t>
            </a:r>
            <a:r>
              <a:rPr lang="en-US" altLang="ko-KR" sz="1600" b="1" dirty="0">
                <a:latin typeface="Courier New" panose="02070309020205020404" pitchFamily="49" charset="0"/>
              </a:rPr>
              <a:t>(self, ind1, ind2)</a:t>
            </a:r>
            <a:r>
              <a:rPr lang="en-US" altLang="ko-KR" sz="1600" dirty="0"/>
              <a:t>:</a:t>
            </a:r>
          </a:p>
          <a:p>
            <a:pPr marL="609600" lvl="1" indent="-287338" eaLnBrk="1" hangingPunct="1"/>
            <a:r>
              <a:rPr lang="en-US" altLang="ko-KR" sz="1400" dirty="0">
                <a:ea typeface="나눔스퀘어_ac" panose="020B0600000101010101" pitchFamily="50" charset="-127"/>
              </a:rPr>
              <a:t>Returns the better solution between the two solutions (</a:t>
            </a:r>
            <a:r>
              <a:rPr lang="en-US" altLang="ko-KR" sz="1400" b="1" dirty="0">
                <a:latin typeface="Courier New" panose="02070309020205020404" pitchFamily="49" charset="0"/>
                <a:ea typeface="나눔스퀘어_ac" panose="020B0600000101010101" pitchFamily="50" charset="-127"/>
                <a:cs typeface="Courier New" panose="02070309020205020404" pitchFamily="49" charset="0"/>
              </a:rPr>
              <a:t>ind1</a:t>
            </a:r>
            <a:r>
              <a:rPr lang="en-US" altLang="ko-KR" sz="1400" dirty="0">
                <a:ea typeface="나눔스퀘어_ac" panose="020B0600000101010101" pitchFamily="50" charset="-127"/>
              </a:rPr>
              <a:t>, </a:t>
            </a:r>
            <a:r>
              <a:rPr lang="en-US" altLang="ko-KR" sz="1400" b="1" dirty="0">
                <a:latin typeface="Courier New" panose="02070309020205020404" pitchFamily="49" charset="0"/>
                <a:ea typeface="나눔스퀘어_ac" panose="020B0600000101010101" pitchFamily="50" charset="-127"/>
                <a:cs typeface="Courier New" panose="02070309020205020404" pitchFamily="49" charset="0"/>
              </a:rPr>
              <a:t>ind2</a:t>
            </a:r>
            <a:r>
              <a:rPr lang="en-US" altLang="ko-KR" sz="1400" dirty="0">
                <a:ea typeface="나눔스퀘어_ac" panose="020B0600000101010101" pitchFamily="50" charset="-127"/>
              </a:rPr>
              <a:t>).</a:t>
            </a:r>
            <a:endParaRPr lang="en-US" altLang="ko-KR" sz="1400" b="1" dirty="0">
              <a:ea typeface="나눔스퀘어_ac" panose="020B0600000101010101" pitchFamily="50" charset="-127"/>
            </a:endParaRPr>
          </a:p>
          <a:p>
            <a:pPr marL="609600" lvl="1" indent="-287338" eaLnBrk="1" hangingPunct="1"/>
            <a:r>
              <a:rPr lang="en-US" altLang="ko-KR" sz="1400" dirty="0">
                <a:ea typeface="나눔스퀘어_ac" panose="020B0600000101010101" pitchFamily="50" charset="-127"/>
              </a:rPr>
              <a:t>Returns the individual (solution) whose fitness score (which is </a:t>
            </a:r>
            <a:r>
              <a:rPr lang="en-US" altLang="ko-KR" sz="1400" b="1" dirty="0">
                <a:latin typeface="Courier New" panose="02070309020205020404" pitchFamily="49" charset="0"/>
                <a:ea typeface="나눔스퀘어_ac" panose="020B0600000101010101" pitchFamily="50" charset="-127"/>
                <a:cs typeface="Courier New" panose="02070309020205020404" pitchFamily="49" charset="0"/>
              </a:rPr>
              <a:t>ind1[0]</a:t>
            </a:r>
            <a:r>
              <a:rPr lang="en-US" altLang="ko-KR" sz="1400" dirty="0">
                <a:ea typeface="나눔스퀘어_ac" panose="020B0600000101010101" pitchFamily="50" charset="-127"/>
              </a:rPr>
              <a:t>, </a:t>
            </a:r>
            <a:r>
              <a:rPr lang="en-US" altLang="ko-KR" sz="1400" b="1" dirty="0">
                <a:latin typeface="Courier New" panose="02070309020205020404" pitchFamily="49" charset="0"/>
                <a:ea typeface="나눔스퀘어_ac" panose="020B0600000101010101" pitchFamily="50" charset="-127"/>
                <a:cs typeface="Courier New" panose="02070309020205020404" pitchFamily="49" charset="0"/>
              </a:rPr>
              <a:t>ind2[0]</a:t>
            </a:r>
            <a:r>
              <a:rPr lang="en-US" altLang="ko-KR" sz="1400" dirty="0">
                <a:ea typeface="나눔스퀘어_ac" panose="020B0600000101010101" pitchFamily="50" charset="-127"/>
              </a:rPr>
              <a:t>) is "smaller".</a:t>
            </a:r>
          </a:p>
          <a:p>
            <a:pPr marL="897600" lvl="2" indent="-287338" eaLnBrk="1" hangingPunct="1"/>
            <a:r>
              <a:rPr lang="en-US" sz="1400" dirty="0"/>
              <a:t>The </a:t>
            </a:r>
            <a:r>
              <a:rPr lang="en-US" sz="1400" b="1" dirty="0">
                <a:solidFill>
                  <a:srgbClr val="FF0000"/>
                </a:solidFill>
              </a:rPr>
              <a:t>fitness score</a:t>
            </a:r>
            <a:r>
              <a:rPr lang="en-US" sz="1400" dirty="0"/>
              <a:t> is the result of the evaluation, and since we are solving a </a:t>
            </a:r>
            <a:r>
              <a:rPr lang="en-US" sz="1400" b="1" dirty="0">
                <a:solidFill>
                  <a:srgbClr val="0033CC"/>
                </a:solidFill>
              </a:rPr>
              <a:t>minimization</a:t>
            </a:r>
            <a:r>
              <a:rPr lang="en-US" sz="1400" dirty="0"/>
              <a:t> problem, the solution with the </a:t>
            </a:r>
            <a:r>
              <a:rPr lang="en-US" sz="1400" u="sng" dirty="0"/>
              <a:t>"smaller" fitness score is the "better" solution</a:t>
            </a:r>
            <a:r>
              <a:rPr lang="en-US" sz="1400" dirty="0"/>
              <a:t>.</a:t>
            </a:r>
            <a:endParaRPr lang="en-US" altLang="ko-KR" sz="14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15B9C2D9-0128-373E-4842-72BA1BD93C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r>
              <a:rPr lang="en-US" altLang="ko-KR">
                <a:solidFill>
                  <a:srgbClr val="99CCFF"/>
                </a:solidFill>
              </a:rPr>
              <a:t>Adding Genetic Algorithm</a:t>
            </a:r>
          </a:p>
        </p:txBody>
      </p:sp>
      <p:sp>
        <p:nvSpPr>
          <p:cNvPr id="18434" name="바닥글 개체 틀 4">
            <a:extLst>
              <a:ext uri="{FF2B5EF4-FFF2-40B4-BE49-F238E27FC236}">
                <a16:creationId xmlns:a16="http://schemas.microsoft.com/office/drawing/2014/main" id="{63B7AE57-2201-1819-A7B8-F2BEFA25906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Search Algorithms: Object-Oriented Implementation (Part F)</a:t>
            </a:r>
            <a:endParaRPr lang="ko-KR" altLang="ko-KR"/>
          </a:p>
        </p:txBody>
      </p:sp>
      <p:sp>
        <p:nvSpPr>
          <p:cNvPr id="17413" name="슬라이드 번호 개체 틀 8">
            <a:extLst>
              <a:ext uri="{FF2B5EF4-FFF2-40B4-BE49-F238E27FC236}">
                <a16:creationId xmlns:a16="http://schemas.microsoft.com/office/drawing/2014/main" id="{AD29143F-A36C-AD41-DFAC-9AA9292BAB9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F672BF43-6987-41B4-98CB-A7AE3FCD94D4}" type="slidenum">
              <a:rPr lang="ko-KR" altLang="en-US" sz="1200">
                <a:solidFill>
                  <a:srgbClr val="898989"/>
                </a:solidFill>
                <a:latin typeface="Book Antiqua" panose="02040602050305030304" pitchFamily="18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24</a:t>
            </a:fld>
            <a:endParaRPr lang="en-US" altLang="ko-KR" sz="1200">
              <a:solidFill>
                <a:srgbClr val="898989"/>
              </a:solidFill>
              <a:latin typeface="Book Antiqua" panose="02040602050305030304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3">
            <a:extLst>
              <a:ext uri="{FF2B5EF4-FFF2-40B4-BE49-F238E27FC236}">
                <a16:creationId xmlns:a16="http://schemas.microsoft.com/office/drawing/2014/main" id="{F9453E38-5973-157A-143D-25AE3C57C085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>
          <a:xfrm>
            <a:off x="457200" y="981075"/>
            <a:ext cx="8229600" cy="5256213"/>
          </a:xfrm>
        </p:spPr>
        <p:txBody>
          <a:bodyPr/>
          <a:lstStyle/>
          <a:p>
            <a:pPr marL="287338" indent="-287338" eaLnBrk="1" hangingPunct="1">
              <a:defRPr/>
            </a:pPr>
            <a:r>
              <a:rPr lang="en-US" altLang="ko-KR" dirty="0"/>
              <a:t>A variable named </a:t>
            </a:r>
            <a:r>
              <a:rPr lang="en-US" altLang="ko-K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resolution</a:t>
            </a:r>
            <a:r>
              <a:rPr lang="en-US" altLang="ko-KR" dirty="0"/>
              <a:t> is newly added </a:t>
            </a:r>
          </a:p>
          <a:p>
            <a:pPr marL="611188" lvl="1" indent="-287338" eaLnBrk="1" hangingPunct="1">
              <a:defRPr/>
            </a:pPr>
            <a:r>
              <a:rPr lang="en-US" altLang="ko-KR" sz="1600" dirty="0"/>
              <a:t>It represents the </a:t>
            </a:r>
            <a:r>
              <a:rPr lang="en-US" altLang="ko-KR" sz="1600" u="sng" dirty="0"/>
              <a:t>length of the binary string </a:t>
            </a:r>
            <a:r>
              <a:rPr lang="en-US" altLang="ko-KR" sz="1600" dirty="0"/>
              <a:t>for each variable for a </a:t>
            </a:r>
            <a:r>
              <a:rPr lang="en-US" altLang="ko-KR" sz="1600" u="sng" dirty="0"/>
              <a:t>numeric optimization </a:t>
            </a:r>
            <a:r>
              <a:rPr lang="en-US" altLang="ko-KR" sz="1600" dirty="0"/>
              <a:t>problem</a:t>
            </a:r>
          </a:p>
          <a:p>
            <a:pPr marL="611188" lvl="1" indent="-287338" eaLnBrk="1" hangingPunct="1">
              <a:defRPr/>
            </a:pPr>
            <a:r>
              <a:rPr lang="en-US" altLang="ko-KR" sz="1600" dirty="0"/>
              <a:t>It is referenced by the methods in both the classes </a:t>
            </a:r>
            <a:r>
              <a:rPr lang="en-US" altLang="ko-KR" sz="1600" b="1" dirty="0">
                <a:latin typeface="Courier New" panose="02070309020205020404" pitchFamily="49" charset="0"/>
              </a:rPr>
              <a:t>Optimizer</a:t>
            </a:r>
            <a:r>
              <a:rPr lang="en-US" altLang="ko-KR" sz="1600" dirty="0"/>
              <a:t> and </a:t>
            </a:r>
            <a:r>
              <a:rPr lang="en-US" altLang="ko-KR" sz="1600" b="1" dirty="0">
                <a:latin typeface="Courier New" panose="02070309020205020404" pitchFamily="49" charset="0"/>
              </a:rPr>
              <a:t>Problem</a:t>
            </a:r>
            <a:endParaRPr lang="en-US" altLang="ko-KR" sz="1600" dirty="0"/>
          </a:p>
          <a:p>
            <a:pPr marL="287338" indent="-287338" eaLnBrk="1" hangingPunct="1">
              <a:defRPr/>
            </a:pPr>
            <a:endParaRPr lang="en-US" altLang="ko-KR" dirty="0"/>
          </a:p>
          <a:p>
            <a:pPr marL="287338" indent="-287338" eaLnBrk="1" hangingPunct="1">
              <a:defRPr/>
            </a:pPr>
            <a:r>
              <a:rPr lang="en-US" altLang="ko-KR" dirty="0"/>
              <a:t>The </a:t>
            </a:r>
            <a:r>
              <a:rPr lang="en-US" altLang="ko-KR" sz="1800" b="1" dirty="0" err="1">
                <a:latin typeface="Courier New" panose="02070309020205020404" pitchFamily="49" charset="0"/>
              </a:rPr>
              <a:t>setVariables</a:t>
            </a:r>
            <a:r>
              <a:rPr lang="en-US" altLang="ko-KR" dirty="0"/>
              <a:t> method is accordingly changed</a:t>
            </a:r>
          </a:p>
          <a:p>
            <a:pPr marL="287338" indent="-287338" eaLnBrk="1" hangingPunct="1">
              <a:defRPr/>
            </a:pPr>
            <a:endParaRPr lang="en-US" altLang="ko-KR" dirty="0"/>
          </a:p>
          <a:p>
            <a:pPr marL="287338" indent="-287338" eaLnBrk="1" hangingPunct="1">
              <a:defRPr/>
            </a:pPr>
            <a:r>
              <a:rPr lang="en-US" altLang="ko-KR" dirty="0"/>
              <a:t>Changes to the main program is minimal</a:t>
            </a:r>
          </a:p>
          <a:p>
            <a:pPr marL="611338" lvl="1" indent="-287338" eaLnBrk="1" hangingPunct="1">
              <a:defRPr/>
            </a:pPr>
            <a:r>
              <a:rPr lang="en-US" altLang="ko-KR" sz="1600" b="1" dirty="0" err="1">
                <a:latin typeface="Courier New" panose="02070309020205020404" pitchFamily="49" charset="0"/>
              </a:rPr>
              <a:t>readPlan</a:t>
            </a:r>
            <a:r>
              <a:rPr lang="en-US" altLang="ko-KR" sz="1600" dirty="0"/>
              <a:t> is revised to read in more parameter values such as the population size, crossover rate, mutation rate, etc.</a:t>
            </a:r>
          </a:p>
          <a:p>
            <a:pPr marL="611338" lvl="1" indent="-287338" eaLnBrk="1" hangingPunct="1">
              <a:defRPr/>
            </a:pP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createOptimizer</a:t>
            </a:r>
            <a:r>
              <a:rPr lang="en-US" altLang="ko-KR" sz="1600" dirty="0"/>
              <a:t> is revised to include GA as its 6</a:t>
            </a:r>
            <a:r>
              <a:rPr lang="en-US" altLang="ko-KR" sz="1600" baseline="30000" dirty="0"/>
              <a:t>th</a:t>
            </a:r>
            <a:r>
              <a:rPr lang="en-US" altLang="ko-KR" sz="1600" dirty="0"/>
              <a:t> optimizer</a:t>
            </a:r>
          </a:p>
          <a:p>
            <a:pPr marL="287338" indent="-287338" eaLnBrk="1" hangingPunct="1">
              <a:defRPr/>
            </a:pPr>
            <a:endParaRPr lang="en-US" altLang="ko-KR" dirty="0"/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723DE8CA-1B63-5014-6238-3C6EBFCD34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r>
              <a:rPr lang="en-US" altLang="ko-KR" sz="2400">
                <a:solidFill>
                  <a:srgbClr val="800080"/>
                </a:solidFill>
              </a:rPr>
              <a:t>Changes to ‘Setup’ Class</a:t>
            </a:r>
            <a:endParaRPr lang="en-US" altLang="ko-KR" sz="2400">
              <a:solidFill>
                <a:srgbClr val="99CCFF"/>
              </a:solidFill>
            </a:endParaRPr>
          </a:p>
        </p:txBody>
      </p:sp>
      <p:sp>
        <p:nvSpPr>
          <p:cNvPr id="18434" name="바닥글 개체 틀 4">
            <a:extLst>
              <a:ext uri="{FF2B5EF4-FFF2-40B4-BE49-F238E27FC236}">
                <a16:creationId xmlns:a16="http://schemas.microsoft.com/office/drawing/2014/main" id="{AB6A1079-87B0-FD3D-B5E0-FF48BA2AAF2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Search Algorithms: Object-Oriented Implementation (Part F)</a:t>
            </a:r>
            <a:endParaRPr lang="ko-KR" altLang="ko-KR"/>
          </a:p>
        </p:txBody>
      </p:sp>
      <p:sp>
        <p:nvSpPr>
          <p:cNvPr id="19461" name="슬라이드 번호 개체 틀 8">
            <a:extLst>
              <a:ext uri="{FF2B5EF4-FFF2-40B4-BE49-F238E27FC236}">
                <a16:creationId xmlns:a16="http://schemas.microsoft.com/office/drawing/2014/main" id="{CBE9383D-104A-1EAC-C6B3-42B20AB347D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351F76B3-B9C4-4A92-B5A9-9402FA6AF30D}" type="slidenum">
              <a:rPr lang="ko-KR" altLang="en-US" sz="1200">
                <a:solidFill>
                  <a:srgbClr val="898989"/>
                </a:solidFill>
                <a:latin typeface="Book Antiqua" panose="02040602050305030304" pitchFamily="18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25</a:t>
            </a:fld>
            <a:endParaRPr lang="en-US" altLang="ko-KR" sz="1200">
              <a:solidFill>
                <a:srgbClr val="898989"/>
              </a:solidFill>
              <a:latin typeface="Book Antiqua" panose="02040602050305030304" pitchFamily="18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7626565-EB50-8F2E-DDB4-D0D28C4B3E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6628" y="5151443"/>
            <a:ext cx="4030744" cy="114240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3">
            <a:extLst>
              <a:ext uri="{FF2B5EF4-FFF2-40B4-BE49-F238E27FC236}">
                <a16:creationId xmlns:a16="http://schemas.microsoft.com/office/drawing/2014/main" id="{D830A432-4D55-239E-3F5E-2E795D1B236C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>
          <a:xfrm>
            <a:off x="457200" y="981075"/>
            <a:ext cx="8229600" cy="5256213"/>
          </a:xfrm>
        </p:spPr>
        <p:txBody>
          <a:bodyPr/>
          <a:lstStyle/>
          <a:p>
            <a:pPr marL="287338" indent="-287338" eaLnBrk="1" latinLnBrk="0" hangingPunct="1"/>
            <a:r>
              <a:rPr lang="en-US" altLang="ko-KR" sz="1800" dirty="0"/>
              <a:t>Many methods are added to the classes </a:t>
            </a:r>
            <a:r>
              <a:rPr lang="en-US" altLang="ko-K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Numeric</a:t>
            </a:r>
            <a:r>
              <a:rPr lang="en-US" altLang="ko-KR" sz="1800" dirty="0"/>
              <a:t> and </a:t>
            </a:r>
            <a:r>
              <a:rPr lang="en-US" altLang="ko-KR" sz="1800" b="1" dirty="0">
                <a:latin typeface="Courier New" panose="02070309020205020404" pitchFamily="49" charset="0"/>
              </a:rPr>
              <a:t>Tsp</a:t>
            </a:r>
            <a:r>
              <a:rPr lang="en-US" altLang="ko-KR" sz="1800" dirty="0"/>
              <a:t> to support operations needed to conduct the search by genetic algorithm</a:t>
            </a:r>
          </a:p>
          <a:p>
            <a:pPr marL="287338" indent="-287338" eaLnBrk="1" latinLnBrk="0" hangingPunct="1"/>
            <a:endParaRPr lang="en-US" altLang="ko-KR" sz="1800" dirty="0"/>
          </a:p>
          <a:p>
            <a:pPr marL="287338" indent="-287338" eaLnBrk="1" latinLnBrk="0" hangingPunct="1"/>
            <a:r>
              <a:rPr lang="en-US" altLang="ko-KR" sz="1800" dirty="0"/>
              <a:t>We first describe the five methods that are commonly added to both </a:t>
            </a:r>
            <a:r>
              <a:rPr lang="en-US" altLang="ko-KR" sz="1800" b="1" dirty="0">
                <a:latin typeface="Courier New" panose="02070309020205020404" pitchFamily="49" charset="0"/>
              </a:rPr>
              <a:t>Numeric</a:t>
            </a:r>
            <a:r>
              <a:rPr lang="en-US" altLang="ko-KR" sz="1800" dirty="0"/>
              <a:t> and </a:t>
            </a:r>
            <a:r>
              <a:rPr lang="en-US" altLang="ko-KR" sz="1800" b="1" dirty="0">
                <a:latin typeface="Courier New" panose="02070309020205020404" pitchFamily="49" charset="0"/>
              </a:rPr>
              <a:t>Tsp</a:t>
            </a:r>
            <a:r>
              <a:rPr lang="en-US" altLang="ko-KR" sz="1800" dirty="0"/>
              <a:t> </a:t>
            </a:r>
          </a:p>
          <a:p>
            <a:pPr marL="611188" lvl="1" indent="-287338" eaLnBrk="1" latinLnBrk="0" hangingPunct="1"/>
            <a:r>
              <a:rPr lang="en-US" altLang="ko-KR" sz="1600" b="1" dirty="0" err="1">
                <a:latin typeface="Courier New" panose="02070309020205020404" pitchFamily="49" charset="0"/>
              </a:rPr>
              <a:t>initializePop</a:t>
            </a:r>
            <a:r>
              <a:rPr lang="en-US" altLang="ko-KR" sz="1600" b="1" dirty="0">
                <a:latin typeface="Courier New" panose="02070309020205020404" pitchFamily="49" charset="0"/>
              </a:rPr>
              <a:t>(self, size)</a:t>
            </a:r>
            <a:r>
              <a:rPr lang="en-US" altLang="ko-KR" sz="1600" dirty="0"/>
              <a:t>:</a:t>
            </a:r>
          </a:p>
          <a:p>
            <a:pPr marL="898525" lvl="2" indent="-287338" eaLnBrk="1" latinLnBrk="0" hangingPunct="1"/>
            <a:r>
              <a:rPr lang="en-US" altLang="ko-KR" sz="1600" dirty="0"/>
              <a:t>Makes a population of given </a:t>
            </a:r>
            <a:r>
              <a:rPr lang="en-US" altLang="ko-KR" sz="1600" b="1" dirty="0">
                <a:latin typeface="Courier New" panose="02070309020205020404" pitchFamily="49" charset="0"/>
              </a:rPr>
              <a:t>size</a:t>
            </a:r>
            <a:r>
              <a:rPr lang="en-US" altLang="ko-KR" sz="1600" dirty="0"/>
              <a:t> with randomly generated individuals, and returns it </a:t>
            </a:r>
            <a:r>
              <a:rPr lang="en-US" altLang="ko-KR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(= </a:t>
            </a:r>
            <a:r>
              <a:rPr lang="ko-KR" altLang="en-US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랜덤하게 </a:t>
            </a:r>
            <a:r>
              <a:rPr lang="en-US" altLang="ko-KR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size</a:t>
            </a:r>
            <a:r>
              <a:rPr lang="ko-KR" altLang="en-US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수 만큼의 솔루션을 생성</a:t>
            </a:r>
            <a:r>
              <a:rPr lang="en-US" altLang="ko-KR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)</a:t>
            </a:r>
          </a:p>
          <a:p>
            <a:pPr marL="898525" lvl="2" indent="-287338" eaLnBrk="1" latinLnBrk="0" hangingPunct="1"/>
            <a:r>
              <a:rPr lang="en-US" altLang="ko-KR" sz="1600" dirty="0"/>
              <a:t>In </a:t>
            </a:r>
            <a:r>
              <a:rPr lang="en-US" altLang="ko-KR" sz="1600" b="1" dirty="0">
                <a:latin typeface="Courier New" panose="02070309020205020404" pitchFamily="49" charset="0"/>
              </a:rPr>
              <a:t>Numeric</a:t>
            </a:r>
            <a:r>
              <a:rPr lang="en-US" altLang="ko-KR" sz="1600" dirty="0"/>
              <a:t>, the individual chromosome for GA is represented by a </a:t>
            </a:r>
            <a:r>
              <a:rPr lang="en-US" altLang="ko-KR" sz="1600" u="sng" dirty="0"/>
              <a:t>binary string</a:t>
            </a:r>
            <a:r>
              <a:rPr lang="en-US" altLang="ko-KR" sz="1600" dirty="0"/>
              <a:t> that is different from that used by other algorithms (</a:t>
            </a:r>
            <a:r>
              <a:rPr lang="en-US" altLang="ko-KR" sz="1600" b="1" dirty="0" err="1">
                <a:latin typeface="Courier New" panose="02070309020205020404" pitchFamily="49" charset="0"/>
              </a:rPr>
              <a:t>self.randBinStr</a:t>
            </a:r>
            <a:r>
              <a:rPr lang="en-US" altLang="ko-KR" sz="1600" dirty="0"/>
              <a:t>)</a:t>
            </a:r>
          </a:p>
          <a:p>
            <a:pPr marL="898525" lvl="2" indent="-287338" eaLnBrk="1" latinLnBrk="0" hangingPunct="1"/>
            <a:r>
              <a:rPr lang="en-US" altLang="ko-KR" sz="1600" dirty="0"/>
              <a:t>In </a:t>
            </a:r>
            <a:r>
              <a:rPr lang="en-US" altLang="ko-KR" sz="1600" b="1" dirty="0">
                <a:latin typeface="Courier New" panose="02070309020205020404" pitchFamily="49" charset="0"/>
              </a:rPr>
              <a:t>Tsp</a:t>
            </a:r>
            <a:r>
              <a:rPr lang="en-US" altLang="ko-KR" sz="1600" dirty="0"/>
              <a:t>, the individual chromosome for GA is represented by </a:t>
            </a:r>
            <a:r>
              <a:rPr lang="en-US" altLang="ko-KR" sz="1600" u="sng" dirty="0"/>
              <a:t>permutation code </a:t>
            </a:r>
            <a:r>
              <a:rPr lang="en-US" altLang="ko-KR" sz="1600" dirty="0"/>
              <a:t>that is also used by other search algorithms (</a:t>
            </a:r>
            <a:r>
              <a:rPr lang="en-US" altLang="ko-KR" sz="1600" b="1" dirty="0" err="1">
                <a:latin typeface="Courier New" panose="02070309020205020404" pitchFamily="49" charset="0"/>
              </a:rPr>
              <a:t>self.randomInit</a:t>
            </a:r>
            <a:r>
              <a:rPr lang="en-US" altLang="ko-KR" sz="1600" dirty="0"/>
              <a:t>)</a:t>
            </a:r>
          </a:p>
          <a:p>
            <a:pPr marL="1078525" lvl="3" indent="-287338" eaLnBrk="1" latinLnBrk="0" hangingPunct="1"/>
            <a:r>
              <a:rPr lang="en-US" altLang="ko-KR" sz="1400" dirty="0">
                <a:ea typeface="나눔스퀘어_ac" panose="020B0600000101010101" pitchFamily="50" charset="-127"/>
              </a:rPr>
              <a:t>permutation code = </a:t>
            </a:r>
            <a:r>
              <a:rPr lang="en-US" sz="1400" dirty="0"/>
              <a:t>uses the result of permuting city numbers, represented as 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400" dirty="0"/>
              <a:t>, as the solution.</a:t>
            </a:r>
            <a:endParaRPr lang="en-US" altLang="ko-KR" sz="1400" dirty="0">
              <a:ea typeface="나눔스퀘어_ac" panose="020B0600000101010101" pitchFamily="50" charset="-127"/>
            </a:endParaRPr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13AEB6C7-DEF0-DC7F-29CE-79BECD100F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pPr latinLnBrk="0"/>
            <a:r>
              <a:rPr lang="en-US" altLang="ko-KR" sz="2400">
                <a:solidFill>
                  <a:srgbClr val="800080"/>
                </a:solidFill>
              </a:rPr>
              <a:t>Changes to ‘Problem’ Class</a:t>
            </a:r>
            <a:endParaRPr lang="en-US" altLang="ko-KR" sz="2400">
              <a:solidFill>
                <a:srgbClr val="99CCFF"/>
              </a:solidFill>
            </a:endParaRPr>
          </a:p>
        </p:txBody>
      </p:sp>
      <p:sp>
        <p:nvSpPr>
          <p:cNvPr id="18434" name="바닥글 개체 틀 4">
            <a:extLst>
              <a:ext uri="{FF2B5EF4-FFF2-40B4-BE49-F238E27FC236}">
                <a16:creationId xmlns:a16="http://schemas.microsoft.com/office/drawing/2014/main" id="{48DFA1F9-023D-98E0-BF48-45CD4BA2C7B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latinLnBrk="0">
              <a:defRPr/>
            </a:pPr>
            <a:r>
              <a:rPr lang="en-US" altLang="ko-KR"/>
              <a:t>Search Algorithms: Object-Oriented Implementation (Part F)</a:t>
            </a:r>
            <a:endParaRPr lang="ko-KR" altLang="ko-KR"/>
          </a:p>
        </p:txBody>
      </p:sp>
      <p:sp>
        <p:nvSpPr>
          <p:cNvPr id="21509" name="슬라이드 번호 개체 틀 8">
            <a:extLst>
              <a:ext uri="{FF2B5EF4-FFF2-40B4-BE49-F238E27FC236}">
                <a16:creationId xmlns:a16="http://schemas.microsoft.com/office/drawing/2014/main" id="{9AD68870-0C0E-40B5-C28D-CC11AA46903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fld id="{A1EBDB79-EC5D-400E-8DC2-CC8C3967A3DE}" type="slidenum">
              <a:rPr lang="ko-KR" altLang="en-US" sz="1200">
                <a:solidFill>
                  <a:srgbClr val="898989"/>
                </a:solidFill>
                <a:latin typeface="Book Antiqua" panose="02040602050305030304" pitchFamily="18" charset="0"/>
              </a:rPr>
              <a:pPr latinLnBrk="0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26</a:t>
            </a:fld>
            <a:endParaRPr lang="en-US" altLang="ko-KR" sz="1200">
              <a:solidFill>
                <a:srgbClr val="898989"/>
              </a:solidFill>
              <a:latin typeface="Book Antiqua" panose="02040602050305030304" pitchFamily="18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3">
            <a:extLst>
              <a:ext uri="{FF2B5EF4-FFF2-40B4-BE49-F238E27FC236}">
                <a16:creationId xmlns:a16="http://schemas.microsoft.com/office/drawing/2014/main" id="{DDD569BF-76CF-5ED0-A607-A8E642656944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>
          <a:xfrm>
            <a:off x="457200" y="981075"/>
            <a:ext cx="8229600" cy="5256213"/>
          </a:xfrm>
        </p:spPr>
        <p:txBody>
          <a:bodyPr/>
          <a:lstStyle/>
          <a:p>
            <a:pPr marL="611188" lvl="1" indent="-287338" eaLnBrk="1" latinLnBrk="0" hangingPunct="1"/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evalInd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(self, 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ind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altLang="ko-KR" sz="1600" dirty="0">
                <a:cs typeface="Courier New" panose="02070309020205020404" pitchFamily="49" charset="0"/>
              </a:rPr>
              <a:t>:</a:t>
            </a:r>
          </a:p>
          <a:p>
            <a:pPr marL="898525" lvl="2" indent="-287338" eaLnBrk="1" latinLnBrk="0" hangingPunct="1"/>
            <a:r>
              <a:rPr lang="en-US" altLang="ko-KR" sz="1400" dirty="0">
                <a:cs typeface="Courier New" panose="02070309020205020404" pitchFamily="49" charset="0"/>
              </a:rPr>
              <a:t>Evaluates the chromosome of </a:t>
            </a:r>
            <a:r>
              <a:rPr lang="en-US" altLang="ko-KR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ind</a:t>
            </a:r>
            <a:r>
              <a:rPr lang="en-US" altLang="ko-KR" sz="1400" dirty="0">
                <a:cs typeface="Courier New" panose="02070309020205020404" pitchFamily="49" charset="0"/>
              </a:rPr>
              <a:t> and records the fitness value (</a:t>
            </a:r>
            <a:r>
              <a:rPr lang="en-US" altLang="ko-KR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self.evaluate</a:t>
            </a:r>
            <a:r>
              <a:rPr lang="en-US" altLang="ko-KR" sz="1400" dirty="0">
                <a:cs typeface="Courier New" panose="02070309020205020404" pitchFamily="49" charset="0"/>
              </a:rPr>
              <a:t>)</a:t>
            </a:r>
          </a:p>
          <a:p>
            <a:pPr marL="898525" lvl="2" indent="-287338" eaLnBrk="1" latinLnBrk="0" hangingPunct="1"/>
            <a:r>
              <a:rPr lang="en-US" altLang="ko-KR" sz="1400" dirty="0">
                <a:cs typeface="Courier New" panose="02070309020205020404" pitchFamily="49" charset="0"/>
              </a:rPr>
              <a:t>In </a:t>
            </a:r>
            <a:r>
              <a:rPr lang="en-US" altLang="ko-K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Numeric</a:t>
            </a:r>
            <a:r>
              <a:rPr lang="en-US" altLang="ko-KR" sz="1400" dirty="0">
                <a:cs typeface="Courier New" panose="02070309020205020404" pitchFamily="49" charset="0"/>
              </a:rPr>
              <a:t>, however, the binary string must be decoded before it can be evaluated (</a:t>
            </a:r>
            <a:r>
              <a:rPr lang="en-US" altLang="ko-KR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self.decode</a:t>
            </a:r>
            <a:r>
              <a:rPr lang="en-US" altLang="ko-KR" sz="1400" dirty="0">
                <a:cs typeface="Courier New" panose="02070309020205020404" pitchFamily="49" charset="0"/>
              </a:rPr>
              <a:t>)</a:t>
            </a:r>
          </a:p>
          <a:p>
            <a:pPr marL="898525" lvl="2" indent="-287338" eaLnBrk="1" latinLnBrk="0" hangingPunct="1"/>
            <a:r>
              <a:rPr lang="en-US" sz="1400" dirty="0"/>
              <a:t>The calculated fitness score is stored at index 0</a:t>
            </a:r>
            <a:r>
              <a:rPr lang="en-US" sz="1400" b="1" dirty="0"/>
              <a:t> </a:t>
            </a:r>
            <a:r>
              <a:rPr lang="en-US" sz="1400" dirty="0"/>
              <a:t>of the passed-in </a:t>
            </a:r>
            <a:r>
              <a:rPr lang="en-US" sz="1400" b="1" dirty="0"/>
              <a:t>individual</a:t>
            </a:r>
            <a:r>
              <a:rPr lang="en-US" sz="1400" dirty="0"/>
              <a:t>.</a:t>
            </a:r>
            <a:endParaRPr lang="en-US" altLang="ko-KR" sz="1600" dirty="0">
              <a:latin typeface="나눔스퀘어_ac" panose="020B0600000101010101" pitchFamily="50" charset="-127"/>
              <a:ea typeface="나눔스퀘어_ac" panose="020B0600000101010101" pitchFamily="50" charset="-127"/>
              <a:cs typeface="Courier New" panose="02070309020205020404" pitchFamily="49" charset="0"/>
            </a:endParaRPr>
          </a:p>
          <a:p>
            <a:pPr marL="898525" lvl="2" indent="-287338" eaLnBrk="1" latinLnBrk="0" hangingPunct="1"/>
            <a:endParaRPr lang="en-US" altLang="ko-KR" sz="1400" dirty="0">
              <a:latin typeface="나눔스퀘어_ac" panose="020B0600000101010101" pitchFamily="50" charset="-127"/>
              <a:ea typeface="나눔스퀘어_ac" panose="020B0600000101010101" pitchFamily="50" charset="-127"/>
              <a:cs typeface="Courier New" panose="02070309020205020404" pitchFamily="49" charset="0"/>
            </a:endParaRPr>
          </a:p>
          <a:p>
            <a:pPr marL="611188" lvl="1" indent="-287338" eaLnBrk="1" latinLnBrk="0" hangingPunct="1"/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crossover(self, ind1, ind2, 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pC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altLang="ko-KR" sz="1600" dirty="0">
                <a:cs typeface="Courier New" panose="02070309020205020404" pitchFamily="49" charset="0"/>
              </a:rPr>
              <a:t>:</a:t>
            </a:r>
          </a:p>
          <a:p>
            <a:pPr marL="898525" lvl="2" indent="-287338" eaLnBrk="1" latinLnBrk="0" hangingPunct="1"/>
            <a:r>
              <a:rPr lang="en-US" altLang="ko-KR" sz="1400" dirty="0">
                <a:cs typeface="Courier New" panose="02070309020205020404" pitchFamily="49" charset="0"/>
              </a:rPr>
              <a:t>Performs crossover to parents and returns the resulting children</a:t>
            </a:r>
          </a:p>
          <a:p>
            <a:pPr marL="898525" lvl="2" indent="-287338" eaLnBrk="1" latinLnBrk="0" hangingPunct="1"/>
            <a:r>
              <a:rPr lang="en-US" altLang="ko-KR" sz="1400" dirty="0">
                <a:cs typeface="Courier New" panose="02070309020205020404" pitchFamily="49" charset="0"/>
              </a:rPr>
              <a:t>In </a:t>
            </a:r>
            <a:r>
              <a:rPr lang="en-US" altLang="ko-K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Numeric</a:t>
            </a:r>
            <a:r>
              <a:rPr lang="en-US" altLang="ko-KR" sz="1400" dirty="0">
                <a:cs typeface="Courier New" panose="02070309020205020404" pitchFamily="49" charset="0"/>
              </a:rPr>
              <a:t>, a uniform crossover is performed interpreting </a:t>
            </a:r>
            <a:r>
              <a:rPr lang="en-US" altLang="ko-KR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pC</a:t>
            </a:r>
            <a:r>
              <a:rPr lang="en-US" altLang="ko-KR" sz="1400" dirty="0">
                <a:cs typeface="Courier New" panose="02070309020205020404" pitchFamily="49" charset="0"/>
              </a:rPr>
              <a:t> as the swap </a:t>
            </a:r>
            <a:r>
              <a:rPr lang="en-US" altLang="ko-KR" sz="1400" dirty="0" err="1">
                <a:cs typeface="Courier New" panose="02070309020205020404" pitchFamily="49" charset="0"/>
              </a:rPr>
              <a:t>probatility</a:t>
            </a:r>
            <a:r>
              <a:rPr lang="en-US" altLang="ko-KR" sz="1400" dirty="0">
                <a:cs typeface="Courier New" panose="02070309020205020404" pitchFamily="49" charset="0"/>
              </a:rPr>
              <a:t> </a:t>
            </a:r>
            <a:r>
              <a:rPr lang="en-US" altLang="ko-KR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uXp</a:t>
            </a:r>
            <a:r>
              <a:rPr lang="en-US" altLang="ko-KR" sz="1400" dirty="0">
                <a:cs typeface="Courier New" panose="02070309020205020404" pitchFamily="49" charset="0"/>
              </a:rPr>
              <a:t> (</a:t>
            </a:r>
            <a:r>
              <a:rPr lang="en-US" altLang="ko-KR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self.uXover</a:t>
            </a:r>
            <a:r>
              <a:rPr lang="en-US" altLang="ko-KR" sz="1400" dirty="0">
                <a:cs typeface="Courier New" panose="02070309020205020404" pitchFamily="49" charset="0"/>
              </a:rPr>
              <a:t>)</a:t>
            </a:r>
          </a:p>
          <a:p>
            <a:pPr marL="1078525" lvl="3" indent="-287338" eaLnBrk="1" latinLnBrk="0" hangingPunct="1"/>
            <a:r>
              <a:rPr lang="en-US" sz="1200" dirty="0"/>
              <a:t>Decides whether or not to perform crossover at each position.</a:t>
            </a:r>
            <a:endParaRPr lang="en-US" altLang="ko-KR" sz="1200" dirty="0">
              <a:latin typeface="나눔스퀘어_ac" panose="020B0600000101010101" pitchFamily="50" charset="-127"/>
              <a:ea typeface="나눔스퀘어_ac" panose="020B0600000101010101" pitchFamily="50" charset="-127"/>
              <a:cs typeface="Courier New" panose="02070309020205020404" pitchFamily="49" charset="0"/>
            </a:endParaRPr>
          </a:p>
          <a:p>
            <a:pPr marL="898525" lvl="2" indent="-287338" eaLnBrk="1" latinLnBrk="0" hangingPunct="1"/>
            <a:r>
              <a:rPr lang="en-US" altLang="ko-KR" sz="1400" dirty="0">
                <a:cs typeface="Courier New" panose="02070309020205020404" pitchFamily="49" charset="0"/>
              </a:rPr>
              <a:t>In </a:t>
            </a:r>
            <a:r>
              <a:rPr lang="en-US" altLang="ko-K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Tsp</a:t>
            </a:r>
            <a:r>
              <a:rPr lang="en-US" altLang="ko-KR" sz="1400" dirty="0">
                <a:cs typeface="Courier New" panose="02070309020205020404" pitchFamily="49" charset="0"/>
              </a:rPr>
              <a:t>, an ordered crossover is performed interpreting </a:t>
            </a:r>
            <a:r>
              <a:rPr lang="en-US" altLang="ko-KR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pC</a:t>
            </a:r>
            <a:r>
              <a:rPr lang="en-US" altLang="ko-KR" sz="1400" dirty="0">
                <a:cs typeface="Courier New" panose="02070309020205020404" pitchFamily="49" charset="0"/>
              </a:rPr>
              <a:t> as the crossover rate </a:t>
            </a:r>
            <a:r>
              <a:rPr lang="en-US" altLang="ko-K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XR</a:t>
            </a:r>
            <a:r>
              <a:rPr lang="en-US" altLang="ko-KR" sz="1400" dirty="0">
                <a:cs typeface="Courier New" panose="02070309020205020404" pitchFamily="49" charset="0"/>
              </a:rPr>
              <a:t> (</a:t>
            </a:r>
            <a:r>
              <a:rPr lang="en-US" altLang="ko-KR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self.oXover</a:t>
            </a:r>
            <a:r>
              <a:rPr lang="en-US" altLang="ko-KR" sz="1400" dirty="0">
                <a:cs typeface="Courier New" panose="02070309020205020404" pitchFamily="49" charset="0"/>
              </a:rPr>
              <a:t>)</a:t>
            </a:r>
          </a:p>
          <a:p>
            <a:pPr marL="1078525" lvl="3" indent="-287338" eaLnBrk="1" latinLnBrk="0" hangingPunct="1"/>
            <a:r>
              <a:rPr lang="en-US" sz="1200" dirty="0"/>
              <a:t>Decides whether or not to perform the crossover operation itself.</a:t>
            </a:r>
            <a:endParaRPr lang="en-US" altLang="ko-KR" sz="1200" dirty="0">
              <a:latin typeface="나눔스퀘어_ac" panose="020B0600000101010101" pitchFamily="50" charset="-127"/>
              <a:ea typeface="나눔스퀘어_ac" panose="020B0600000101010101" pitchFamily="50" charset="-127"/>
              <a:cs typeface="Courier New" panose="02070309020205020404" pitchFamily="49" charset="0"/>
            </a:endParaRPr>
          </a:p>
          <a:p>
            <a:pPr marL="1078525" lvl="3" indent="-287338" eaLnBrk="1" latinLnBrk="0" hangingPunct="1"/>
            <a:r>
              <a:rPr lang="en-US" sz="1200" dirty="0"/>
              <a:t>If performed, a random range is generated, and </a:t>
            </a:r>
            <a:r>
              <a:rPr lang="en-US" sz="1200" b="1" dirty="0"/>
              <a:t>ordered crossover</a:t>
            </a:r>
            <a:r>
              <a:rPr lang="en-US" sz="1200" dirty="0"/>
              <a:t> is carried out based on this range.</a:t>
            </a:r>
            <a:endParaRPr lang="en-US" altLang="ko-KR" sz="1200" dirty="0">
              <a:latin typeface="나눔스퀘어_ac" panose="020B0600000101010101" pitchFamily="50" charset="-127"/>
              <a:ea typeface="나눔스퀘어_ac" panose="020B0600000101010101" pitchFamily="50" charset="-127"/>
              <a:cs typeface="Courier New" panose="02070309020205020404" pitchFamily="49" charset="0"/>
            </a:endParaRPr>
          </a:p>
          <a:p>
            <a:pPr marL="287338" indent="-287338" eaLnBrk="1" latinLnBrk="0" hangingPunct="1"/>
            <a:endParaRPr lang="en-US" altLang="ko-KR" sz="1600" dirty="0">
              <a:cs typeface="Courier New" panose="02070309020205020404" pitchFamily="49" charset="0"/>
            </a:endParaRPr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4DFB614D-1BD4-95EA-52EB-0E7714F6CA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r>
              <a:rPr lang="en-US" altLang="ko-KR" sz="2400">
                <a:solidFill>
                  <a:srgbClr val="D7ADD9"/>
                </a:solidFill>
              </a:rPr>
              <a:t>Changes to ‘Problem’ Class</a:t>
            </a:r>
          </a:p>
        </p:txBody>
      </p:sp>
      <p:sp>
        <p:nvSpPr>
          <p:cNvPr id="18434" name="바닥글 개체 틀 4">
            <a:extLst>
              <a:ext uri="{FF2B5EF4-FFF2-40B4-BE49-F238E27FC236}">
                <a16:creationId xmlns:a16="http://schemas.microsoft.com/office/drawing/2014/main" id="{D25B4A35-22C9-9079-066D-24FA640A07F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Search Algorithms: Object-Oriented Implementation (Part F)</a:t>
            </a:r>
            <a:endParaRPr lang="ko-KR" altLang="ko-KR"/>
          </a:p>
        </p:txBody>
      </p:sp>
      <p:sp>
        <p:nvSpPr>
          <p:cNvPr id="23557" name="슬라이드 번호 개체 틀 8">
            <a:extLst>
              <a:ext uri="{FF2B5EF4-FFF2-40B4-BE49-F238E27FC236}">
                <a16:creationId xmlns:a16="http://schemas.microsoft.com/office/drawing/2014/main" id="{46308B6A-8786-8FFD-2D0B-2BCBC0A581E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85EDD0A6-6C57-4600-A05F-4E028603BF0D}" type="slidenum">
              <a:rPr lang="ko-KR" altLang="en-US" sz="1200">
                <a:solidFill>
                  <a:srgbClr val="898989"/>
                </a:solidFill>
                <a:latin typeface="Book Antiqua" panose="02040602050305030304" pitchFamily="18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27</a:t>
            </a:fld>
            <a:endParaRPr lang="en-US" altLang="ko-KR" sz="1200">
              <a:solidFill>
                <a:srgbClr val="898989"/>
              </a:solidFill>
              <a:latin typeface="Book Antiqua" panose="02040602050305030304" pitchFamily="18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>
            <a:extLst>
              <a:ext uri="{FF2B5EF4-FFF2-40B4-BE49-F238E27FC236}">
                <a16:creationId xmlns:a16="http://schemas.microsoft.com/office/drawing/2014/main" id="{9C060DD4-D239-C4CF-F6EB-9305AE94DCF2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>
          <a:xfrm>
            <a:off x="457200" y="981075"/>
            <a:ext cx="8229600" cy="5256213"/>
          </a:xfrm>
        </p:spPr>
        <p:txBody>
          <a:bodyPr/>
          <a:lstStyle/>
          <a:p>
            <a:pPr marL="611188" lvl="1" indent="-287338" eaLnBrk="1" latinLnBrk="0" hangingPunct="1"/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mutation(self, 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ind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pM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altLang="ko-KR" sz="1800" dirty="0">
                <a:cs typeface="Courier New" panose="02070309020205020404" pitchFamily="49" charset="0"/>
              </a:rPr>
              <a:t>:</a:t>
            </a:r>
          </a:p>
          <a:p>
            <a:pPr marL="898525" lvl="2" indent="-287338" eaLnBrk="1" latinLnBrk="0" hangingPunct="1"/>
            <a:r>
              <a:rPr lang="en-US" altLang="ko-KR" sz="1400" dirty="0">
                <a:cs typeface="Courier New" panose="02070309020205020404" pitchFamily="49" charset="0"/>
              </a:rPr>
              <a:t>Performs mutation to </a:t>
            </a:r>
            <a:r>
              <a:rPr lang="en-US" altLang="ko-KR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ind</a:t>
            </a:r>
            <a:r>
              <a:rPr lang="en-US" altLang="ko-KR" sz="1400" dirty="0">
                <a:cs typeface="Courier New" panose="02070309020205020404" pitchFamily="49" charset="0"/>
              </a:rPr>
              <a:t> and returns it </a:t>
            </a:r>
            <a:r>
              <a:rPr lang="en-US" altLang="ko-KR" sz="1400" dirty="0">
                <a:latin typeface="나눔스퀘어_ac" panose="020B0600000101010101" pitchFamily="50" charset="-127"/>
                <a:ea typeface="나눔스퀘어_ac" panose="020B0600000101010101" pitchFamily="50" charset="-127"/>
                <a:cs typeface="Courier New" panose="02070309020205020404" pitchFamily="49" charset="0"/>
              </a:rPr>
              <a:t>(</a:t>
            </a:r>
            <a:r>
              <a:rPr lang="en-US" sz="1400" dirty="0"/>
              <a:t>Performs solution variation on a </a:t>
            </a:r>
            <a:r>
              <a:rPr lang="en-US" sz="1400" u="sng" dirty="0"/>
              <a:t>single solution</a:t>
            </a:r>
            <a:r>
              <a:rPr lang="en-US" altLang="ko-KR" sz="1400" dirty="0">
                <a:latin typeface="나눔스퀘어_ac" panose="020B0600000101010101" pitchFamily="50" charset="-127"/>
                <a:ea typeface="나눔스퀘어_ac" panose="020B0600000101010101" pitchFamily="50" charset="-127"/>
                <a:cs typeface="Courier New" panose="02070309020205020404" pitchFamily="49" charset="0"/>
              </a:rPr>
              <a:t>)</a:t>
            </a:r>
          </a:p>
          <a:p>
            <a:pPr marL="898525" lvl="2" indent="-287338" eaLnBrk="1" latinLnBrk="0" hangingPunct="1"/>
            <a:r>
              <a:rPr lang="en-US" altLang="ko-KR" sz="1400" dirty="0">
                <a:cs typeface="Courier New" panose="02070309020205020404" pitchFamily="49" charset="0"/>
              </a:rPr>
              <a:t>In </a:t>
            </a:r>
            <a:r>
              <a:rPr lang="en-US" altLang="ko-K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Numeric</a:t>
            </a:r>
            <a:r>
              <a:rPr lang="en-US" altLang="ko-KR" sz="1400" dirty="0">
                <a:cs typeface="Courier New" panose="02070309020205020404" pitchFamily="49" charset="0"/>
              </a:rPr>
              <a:t>, a bit-flip mutation is performed interpreting </a:t>
            </a:r>
            <a:r>
              <a:rPr lang="en-US" altLang="ko-KR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pM</a:t>
            </a:r>
            <a:r>
              <a:rPr lang="en-US" altLang="ko-KR" sz="1400" dirty="0">
                <a:cs typeface="Courier New" panose="02070309020205020404" pitchFamily="49" charset="0"/>
              </a:rPr>
              <a:t> as the factor </a:t>
            </a:r>
            <a:r>
              <a:rPr lang="en-US" altLang="ko-KR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mrF</a:t>
            </a:r>
            <a:r>
              <a:rPr lang="en-US" altLang="ko-KR" sz="1400" dirty="0">
                <a:cs typeface="Courier New" panose="02070309020205020404" pitchFamily="49" charset="0"/>
              </a:rPr>
              <a:t> to adjust the mutation rate</a:t>
            </a:r>
          </a:p>
          <a:p>
            <a:pPr marL="1078525" lvl="3" indent="-287338" eaLnBrk="1" latinLnBrk="0" hangingPunct="1"/>
            <a:r>
              <a:rPr lang="en-US" sz="1200" dirty="0"/>
              <a:t>Randomly performs bit flip for each index of the solution.</a:t>
            </a:r>
            <a:endParaRPr lang="en-US" altLang="ko-KR" sz="1200" dirty="0">
              <a:latin typeface="나눔스퀘어_ac" panose="020B0600000101010101" pitchFamily="50" charset="-127"/>
              <a:ea typeface="나눔스퀘어_ac" panose="020B0600000101010101" pitchFamily="50" charset="-127"/>
              <a:cs typeface="Courier New" panose="02070309020205020404" pitchFamily="49" charset="0"/>
            </a:endParaRPr>
          </a:p>
          <a:p>
            <a:pPr marL="898525" lvl="2" indent="-287338" eaLnBrk="1" latinLnBrk="0" hangingPunct="1"/>
            <a:r>
              <a:rPr lang="en-US" altLang="ko-KR" sz="1400" dirty="0">
                <a:cs typeface="Courier New" panose="02070309020205020404" pitchFamily="49" charset="0"/>
              </a:rPr>
              <a:t>In </a:t>
            </a:r>
            <a:r>
              <a:rPr lang="en-US" altLang="ko-K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Tsp</a:t>
            </a:r>
            <a:r>
              <a:rPr lang="en-US" altLang="ko-KR" sz="1400" dirty="0">
                <a:cs typeface="Courier New" panose="02070309020205020404" pitchFamily="49" charset="0"/>
              </a:rPr>
              <a:t>, an inversion operation is performed interpreting </a:t>
            </a:r>
            <a:r>
              <a:rPr lang="en-US" altLang="ko-KR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pM</a:t>
            </a:r>
            <a:r>
              <a:rPr lang="en-US" altLang="ko-KR" sz="1400" dirty="0">
                <a:cs typeface="Courier New" panose="02070309020205020404" pitchFamily="49" charset="0"/>
              </a:rPr>
              <a:t> as the mutation rate </a:t>
            </a:r>
            <a:r>
              <a:rPr lang="en-US" altLang="ko-KR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mR</a:t>
            </a:r>
            <a:r>
              <a:rPr lang="en-US" altLang="ko-KR" sz="1400" dirty="0">
                <a:cs typeface="Courier New" panose="02070309020205020404" pitchFamily="49" charset="0"/>
              </a:rPr>
              <a:t> (</a:t>
            </a:r>
            <a:r>
              <a:rPr lang="en-US" altLang="ko-KR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self.inversion</a:t>
            </a:r>
            <a:r>
              <a:rPr lang="en-US" altLang="ko-KR" sz="1400" dirty="0">
                <a:cs typeface="Courier New" panose="02070309020205020404" pitchFamily="49" charset="0"/>
              </a:rPr>
              <a:t>)</a:t>
            </a:r>
          </a:p>
          <a:p>
            <a:pPr marL="1078525" lvl="3" indent="-287338" eaLnBrk="1" latinLnBrk="0" hangingPunct="1"/>
            <a:r>
              <a:rPr lang="en-US" sz="1200" dirty="0"/>
              <a:t>Generates a random start and end position and Inverts the values within that range (mutate by inversion).</a:t>
            </a:r>
            <a:endParaRPr lang="en-US" altLang="ko-KR" sz="1200" dirty="0">
              <a:latin typeface="나눔스퀘어_ac" panose="020B0600000101010101" pitchFamily="50" charset="-127"/>
              <a:ea typeface="나눔스퀘어_ac" panose="020B0600000101010101" pitchFamily="50" charset="-127"/>
              <a:cs typeface="Courier New" panose="02070309020205020404" pitchFamily="49" charset="0"/>
            </a:endParaRPr>
          </a:p>
          <a:p>
            <a:pPr marL="1078525" lvl="3" indent="-287338" eaLnBrk="1" latinLnBrk="0" hangingPunct="1"/>
            <a:endParaRPr lang="en-US" altLang="ko-KR" sz="1200" dirty="0">
              <a:cs typeface="Courier New" panose="02070309020205020404" pitchFamily="49" charset="0"/>
            </a:endParaRPr>
          </a:p>
          <a:p>
            <a:pPr marL="611188" lvl="1" indent="-287338" eaLnBrk="1" latinLnBrk="0" hangingPunct="1"/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indToSol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(self, 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ind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altLang="ko-KR" sz="1800" dirty="0">
                <a:cs typeface="Courier New" panose="02070309020205020404" pitchFamily="49" charset="0"/>
              </a:rPr>
              <a:t>:</a:t>
            </a:r>
          </a:p>
          <a:p>
            <a:pPr marL="898525" lvl="2" indent="-287338" eaLnBrk="1" latinLnBrk="0" hangingPunct="1"/>
            <a:r>
              <a:rPr lang="en-US" altLang="ko-KR" sz="1400" dirty="0">
                <a:cs typeface="Courier New" panose="02070309020205020404" pitchFamily="49" charset="0"/>
              </a:rPr>
              <a:t>Converts an individual to a form containing only the solution part </a:t>
            </a:r>
          </a:p>
          <a:p>
            <a:pPr marL="1078525" lvl="3" indent="-287338" eaLnBrk="1" latinLnBrk="0" hangingPunct="1"/>
            <a:r>
              <a:rPr lang="en-US" sz="1400" dirty="0"/>
              <a:t>Since the input argument 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ind</a:t>
            </a:r>
            <a:r>
              <a:rPr lang="en-US" sz="1400" dirty="0"/>
              <a:t> stores [fitness, solution], it returns everything except the fitness.</a:t>
            </a:r>
            <a:endParaRPr lang="en-US" altLang="ko-KR" sz="1400" dirty="0">
              <a:latin typeface="나눔스퀘어_ac" panose="020B0600000101010101" pitchFamily="50" charset="-127"/>
              <a:ea typeface="나눔스퀘어_ac" panose="020B0600000101010101" pitchFamily="50" charset="-127"/>
              <a:cs typeface="Courier New" panose="02070309020205020404" pitchFamily="49" charset="0"/>
            </a:endParaRPr>
          </a:p>
          <a:p>
            <a:pPr marL="1078525" lvl="3" indent="-287338" eaLnBrk="1" latinLnBrk="0" hangingPunct="1"/>
            <a:r>
              <a:rPr lang="en-US" altLang="ko-KR" sz="1200" dirty="0">
                <a:ea typeface="나눔스퀘어_ac" panose="020B0600000101010101" pitchFamily="50" charset="-127"/>
              </a:rPr>
              <a:t>In</a:t>
            </a:r>
            <a:r>
              <a:rPr lang="ko-KR" altLang="en-US" sz="1200" dirty="0">
                <a:ea typeface="나눔스퀘어_ac" panose="020B0600000101010101" pitchFamily="50" charset="-127"/>
              </a:rPr>
              <a:t> </a:t>
            </a:r>
            <a:r>
              <a:rPr lang="en-US" altLang="ko-KR" sz="1200" dirty="0">
                <a:ea typeface="나눔스퀘어_ac" panose="020B0600000101010101" pitchFamily="50" charset="-127"/>
              </a:rPr>
              <a:t>other</a:t>
            </a:r>
            <a:r>
              <a:rPr lang="ko-KR" altLang="en-US" sz="1200" dirty="0">
                <a:ea typeface="나눔스퀘어_ac" panose="020B0600000101010101" pitchFamily="50" charset="-127"/>
              </a:rPr>
              <a:t> </a:t>
            </a:r>
            <a:r>
              <a:rPr lang="en-US" altLang="ko-KR" sz="1200" dirty="0">
                <a:ea typeface="나눔스퀘어_ac" panose="020B0600000101010101" pitchFamily="50" charset="-127"/>
              </a:rPr>
              <a:t>words</a:t>
            </a:r>
            <a:r>
              <a:rPr lang="en-US" altLang="ko-KR" sz="1200" dirty="0">
                <a:latin typeface="나눔스퀘어_ac" panose="020B0600000101010101" pitchFamily="50" charset="-127"/>
                <a:ea typeface="나눔스퀘어_ac" panose="020B0600000101010101" pitchFamily="50" charset="-127"/>
                <a:cs typeface="Courier New" panose="02070309020205020404" pitchFamily="49" charset="0"/>
              </a:rPr>
              <a:t>, </a:t>
            </a:r>
            <a:r>
              <a:rPr lang="en-US" altLang="ko-KR" sz="1200" dirty="0">
                <a:latin typeface="Consolas" panose="020B0609020204030204" pitchFamily="49" charset="0"/>
                <a:ea typeface="나눔스퀘어_ac" panose="020B0600000101010101" pitchFamily="50" charset="-127"/>
                <a:cs typeface="Courier New" panose="02070309020205020404" pitchFamily="49" charset="0"/>
              </a:rPr>
              <a:t>return </a:t>
            </a:r>
            <a:r>
              <a:rPr lang="en-US" altLang="ko-KR" sz="1200" dirty="0" err="1">
                <a:latin typeface="Consolas" panose="020B0609020204030204" pitchFamily="49" charset="0"/>
                <a:ea typeface="나눔스퀘어_ac" panose="020B0600000101010101" pitchFamily="50" charset="-127"/>
                <a:cs typeface="Courier New" panose="02070309020205020404" pitchFamily="49" charset="0"/>
              </a:rPr>
              <a:t>self.decode</a:t>
            </a:r>
            <a:r>
              <a:rPr lang="en-US" altLang="ko-KR" sz="1200" dirty="0">
                <a:latin typeface="Consolas" panose="020B0609020204030204" pitchFamily="49" charset="0"/>
                <a:ea typeface="나눔스퀘어_ac" panose="020B0600000101010101" pitchFamily="50" charset="-127"/>
                <a:cs typeface="Courier New" panose="02070309020205020404" pitchFamily="49" charset="0"/>
              </a:rPr>
              <a:t>(</a:t>
            </a:r>
            <a:r>
              <a:rPr lang="en-US" altLang="ko-KR" sz="1200" dirty="0" err="1">
                <a:latin typeface="Consolas" panose="020B0609020204030204" pitchFamily="49" charset="0"/>
                <a:ea typeface="나눔스퀘어_ac" panose="020B0600000101010101" pitchFamily="50" charset="-127"/>
                <a:cs typeface="Courier New" panose="02070309020205020404" pitchFamily="49" charset="0"/>
              </a:rPr>
              <a:t>ind</a:t>
            </a:r>
            <a:r>
              <a:rPr lang="en-US" altLang="ko-KR" sz="1200" dirty="0">
                <a:latin typeface="Consolas" panose="020B0609020204030204" pitchFamily="49" charset="0"/>
                <a:ea typeface="나눔스퀘어_ac" panose="020B0600000101010101" pitchFamily="50" charset="-127"/>
                <a:cs typeface="Courier New" panose="02070309020205020404" pitchFamily="49" charset="0"/>
              </a:rPr>
              <a:t>[1])</a:t>
            </a:r>
          </a:p>
          <a:p>
            <a:pPr marL="1078525" lvl="3" indent="-287338" eaLnBrk="1" latinLnBrk="0" hangingPunct="1"/>
            <a:r>
              <a:rPr lang="en-US" altLang="ko-KR" sz="1200" dirty="0">
                <a:ea typeface="나눔스퀘어_ac" panose="020B0600000101010101" pitchFamily="50" charset="-127"/>
              </a:rPr>
              <a:t>Note that </a:t>
            </a:r>
            <a:r>
              <a:rPr lang="en-US" altLang="ko-KR" sz="1200" b="1" dirty="0" err="1">
                <a:latin typeface="Courier New" panose="02070309020205020404" pitchFamily="49" charset="0"/>
                <a:ea typeface="나눔스퀘어_ac" panose="020B0600000101010101" pitchFamily="50" charset="-127"/>
                <a:cs typeface="Courier New" panose="02070309020205020404" pitchFamily="49" charset="0"/>
              </a:rPr>
              <a:t>indToSol</a:t>
            </a:r>
            <a:r>
              <a:rPr lang="en-US" altLang="ko-KR" sz="1200" dirty="0">
                <a:ea typeface="나눔스퀘어_ac" panose="020B0600000101010101" pitchFamily="50" charset="-127"/>
              </a:rPr>
              <a:t> function called</a:t>
            </a:r>
            <a:r>
              <a:rPr lang="ko-KR" altLang="en-US" sz="1200" dirty="0">
                <a:ea typeface="나눔스퀘어_ac" panose="020B0600000101010101" pitchFamily="50" charset="-127"/>
              </a:rPr>
              <a:t> </a:t>
            </a:r>
            <a:r>
              <a:rPr lang="en-US" altLang="ko-KR" sz="1200" dirty="0">
                <a:ea typeface="나눔스퀘어_ac" panose="020B0600000101010101" pitchFamily="50" charset="-127"/>
              </a:rPr>
              <a:t>in</a:t>
            </a:r>
            <a:r>
              <a:rPr lang="ko-KR" altLang="en-US" sz="1200" dirty="0">
                <a:ea typeface="나눔스퀘어_ac" panose="020B0600000101010101" pitchFamily="50" charset="-127"/>
              </a:rPr>
              <a:t> </a:t>
            </a:r>
            <a:r>
              <a:rPr lang="en-US" altLang="ko-KR" sz="1200" b="1" dirty="0" err="1">
                <a:latin typeface="Courier New" panose="02070309020205020404" pitchFamily="49" charset="0"/>
                <a:ea typeface="나눔스퀘어_ac" panose="020B0600000101010101" pitchFamily="50" charset="-127"/>
                <a:cs typeface="Courier New" panose="02070309020205020404" pitchFamily="49" charset="0"/>
              </a:rPr>
              <a:t>GA.run</a:t>
            </a:r>
            <a:r>
              <a:rPr lang="en-US" altLang="ko-KR" sz="1200" dirty="0">
                <a:ea typeface="나눔스퀘어_ac" panose="020B0600000101010101" pitchFamily="50" charset="-127"/>
              </a:rPr>
              <a:t> use</a:t>
            </a:r>
            <a:r>
              <a:rPr lang="ko-KR" altLang="en-US" sz="1200" dirty="0">
                <a:latin typeface="나눔스퀘어_ac" panose="020B0600000101010101" pitchFamily="50" charset="-127"/>
                <a:ea typeface="나눔스퀘어_ac" panose="020B0600000101010101" pitchFamily="50" charset="-127"/>
                <a:cs typeface="Courier New" panose="02070309020205020404" pitchFamily="49" charset="0"/>
              </a:rPr>
              <a:t> </a:t>
            </a:r>
            <a:r>
              <a:rPr lang="en-US" altLang="ko-KR" sz="1200" dirty="0" err="1">
                <a:latin typeface="Consolas" panose="020B0609020204030204" pitchFamily="49" charset="0"/>
                <a:ea typeface="나눔스퀘어_ac" panose="020B0600000101010101" pitchFamily="50" charset="-127"/>
                <a:cs typeface="Courier New" panose="02070309020205020404" pitchFamily="49" charset="0"/>
              </a:rPr>
              <a:t>bestSolution</a:t>
            </a:r>
            <a:r>
              <a:rPr lang="en-US" altLang="ko-KR" sz="1200" dirty="0">
                <a:latin typeface="Consolas" panose="020B0609020204030204" pitchFamily="49" charset="0"/>
                <a:ea typeface="나눔스퀘어_ac" panose="020B0600000101010101" pitchFamily="50" charset="-127"/>
                <a:cs typeface="Courier New" panose="02070309020205020404" pitchFamily="49" charset="0"/>
              </a:rPr>
              <a:t> = </a:t>
            </a:r>
            <a:r>
              <a:rPr lang="en-US" altLang="ko-KR" sz="1200" dirty="0" err="1">
                <a:latin typeface="Consolas" panose="020B0609020204030204" pitchFamily="49" charset="0"/>
                <a:ea typeface="나눔스퀘어_ac" panose="020B0600000101010101" pitchFamily="50" charset="-127"/>
                <a:cs typeface="Courier New" panose="02070309020205020404" pitchFamily="49" charset="0"/>
              </a:rPr>
              <a:t>p.indToSol</a:t>
            </a:r>
            <a:r>
              <a:rPr lang="en-US" altLang="ko-KR" sz="1200" dirty="0">
                <a:latin typeface="Consolas" panose="020B0609020204030204" pitchFamily="49" charset="0"/>
                <a:ea typeface="나눔스퀘어_ac" panose="020B0600000101010101" pitchFamily="50" charset="-127"/>
                <a:cs typeface="Courier New" panose="02070309020205020404" pitchFamily="49" charset="0"/>
              </a:rPr>
              <a:t>(best)</a:t>
            </a:r>
            <a:endParaRPr lang="en-US" altLang="ko-KR" sz="1200" dirty="0">
              <a:latin typeface="나눔스퀘어_ac" panose="020B0600000101010101" pitchFamily="50" charset="-127"/>
              <a:ea typeface="나눔스퀘어_ac" panose="020B0600000101010101" pitchFamily="50" charset="-127"/>
              <a:cs typeface="Courier New" panose="02070309020205020404" pitchFamily="49" charset="0"/>
            </a:endParaRPr>
          </a:p>
          <a:p>
            <a:pPr marL="898525" lvl="2" indent="-287338" eaLnBrk="1" latinLnBrk="0" hangingPunct="1"/>
            <a:r>
              <a:rPr lang="en-US" altLang="ko-KR" sz="1400" dirty="0">
                <a:cs typeface="Courier New" panose="02070309020205020404" pitchFamily="49" charset="0"/>
              </a:rPr>
              <a:t>In </a:t>
            </a:r>
            <a:r>
              <a:rPr lang="en-US" altLang="ko-K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Numeric</a:t>
            </a:r>
            <a:r>
              <a:rPr lang="en-US" altLang="ko-KR" sz="1400" dirty="0">
                <a:cs typeface="Courier New" panose="02070309020205020404" pitchFamily="49" charset="0"/>
              </a:rPr>
              <a:t>, the chromosome is decoded and then returned (</a:t>
            </a:r>
            <a:r>
              <a:rPr lang="en-US" altLang="ko-KR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self.decode</a:t>
            </a:r>
            <a:r>
              <a:rPr lang="en-US" altLang="ko-KR" sz="1400" dirty="0">
                <a:cs typeface="Courier New" panose="02070309020205020404" pitchFamily="49" charset="0"/>
              </a:rPr>
              <a:t>)</a:t>
            </a:r>
          </a:p>
          <a:p>
            <a:pPr marL="898525" lvl="2" indent="-287338" eaLnBrk="1" latinLnBrk="0" hangingPunct="1"/>
            <a:r>
              <a:rPr lang="en-US" altLang="ko-KR" sz="1400" dirty="0">
                <a:cs typeface="Courier New" panose="02070309020205020404" pitchFamily="49" charset="0"/>
              </a:rPr>
              <a:t>In </a:t>
            </a:r>
            <a:r>
              <a:rPr lang="en-US" altLang="ko-K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Tsp</a:t>
            </a:r>
            <a:r>
              <a:rPr lang="en-US" altLang="ko-KR" sz="1400" dirty="0">
                <a:cs typeface="Courier New" panose="02070309020205020404" pitchFamily="49" charset="0"/>
              </a:rPr>
              <a:t>, just the chromosome part of </a:t>
            </a:r>
            <a:r>
              <a:rPr lang="en-US" altLang="ko-KR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ind</a:t>
            </a:r>
            <a:r>
              <a:rPr lang="en-US" altLang="ko-KR" sz="1400" dirty="0">
                <a:cs typeface="Courier New" panose="02070309020205020404" pitchFamily="49" charset="0"/>
              </a:rPr>
              <a:t> is returned</a:t>
            </a:r>
          </a:p>
          <a:p>
            <a:pPr marL="287338" indent="-287338" eaLnBrk="1" latinLnBrk="0" hangingPunct="1"/>
            <a:endParaRPr lang="en-US" altLang="ko-KR" sz="1800" dirty="0">
              <a:cs typeface="Courier New" panose="02070309020205020404" pitchFamily="49" charset="0"/>
            </a:endParaRPr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5C72A363-B27B-C43C-A125-2407AFFACE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r>
              <a:rPr lang="en-US" altLang="ko-KR" sz="2400">
                <a:solidFill>
                  <a:srgbClr val="D7ADD9"/>
                </a:solidFill>
              </a:rPr>
              <a:t>Changes to ‘Problem’ Class</a:t>
            </a:r>
          </a:p>
        </p:txBody>
      </p:sp>
      <p:sp>
        <p:nvSpPr>
          <p:cNvPr id="18434" name="바닥글 개체 틀 4">
            <a:extLst>
              <a:ext uri="{FF2B5EF4-FFF2-40B4-BE49-F238E27FC236}">
                <a16:creationId xmlns:a16="http://schemas.microsoft.com/office/drawing/2014/main" id="{68024F2C-EC3D-B8B2-CD4F-24508A41F15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Search Algorithms: Object-Oriented Implementation (Part F)</a:t>
            </a:r>
            <a:endParaRPr lang="ko-KR" altLang="ko-KR"/>
          </a:p>
        </p:txBody>
      </p:sp>
      <p:sp>
        <p:nvSpPr>
          <p:cNvPr id="25605" name="슬라이드 번호 개체 틀 8">
            <a:extLst>
              <a:ext uri="{FF2B5EF4-FFF2-40B4-BE49-F238E27FC236}">
                <a16:creationId xmlns:a16="http://schemas.microsoft.com/office/drawing/2014/main" id="{849938AE-E8F5-CBCA-92FA-597CF96895C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FB7769B7-3DDF-4293-A928-B8C7DD30E109}" type="slidenum">
              <a:rPr lang="ko-KR" altLang="en-US" sz="1200">
                <a:solidFill>
                  <a:srgbClr val="898989"/>
                </a:solidFill>
                <a:latin typeface="Book Antiqua" panose="02040602050305030304" pitchFamily="18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28</a:t>
            </a:fld>
            <a:endParaRPr lang="en-US" altLang="ko-KR" sz="1200">
              <a:solidFill>
                <a:srgbClr val="898989"/>
              </a:solidFill>
              <a:latin typeface="Book Antiqua" panose="02040602050305030304" pitchFamily="18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3">
            <a:extLst>
              <a:ext uri="{FF2B5EF4-FFF2-40B4-BE49-F238E27FC236}">
                <a16:creationId xmlns:a16="http://schemas.microsoft.com/office/drawing/2014/main" id="{AD6B21AF-2BEC-1F88-31CE-2DCED294AC7B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>
          <a:xfrm>
            <a:off x="457200" y="981075"/>
            <a:ext cx="8229600" cy="5256213"/>
          </a:xfrm>
        </p:spPr>
        <p:txBody>
          <a:bodyPr/>
          <a:lstStyle/>
          <a:p>
            <a:pPr marL="287338" indent="-287338" eaLnBrk="1" hangingPunct="1"/>
            <a:r>
              <a:rPr lang="en-US" altLang="ko-KR" sz="1800" dirty="0"/>
              <a:t>We now describe the methods that are added only to </a:t>
            </a:r>
            <a:r>
              <a:rPr lang="en-US" altLang="ko-K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Numeric</a:t>
            </a:r>
          </a:p>
          <a:p>
            <a:pPr marL="611188" lvl="1" indent="-287338" eaLnBrk="1" hangingPunct="1"/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randBinStr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(self)</a:t>
            </a:r>
            <a:r>
              <a:rPr lang="en-US" altLang="ko-KR" sz="1600" dirty="0"/>
              <a:t>:</a:t>
            </a:r>
          </a:p>
          <a:p>
            <a:pPr marL="898525" lvl="2" indent="-287338" eaLnBrk="1" hangingPunct="1"/>
            <a:r>
              <a:rPr lang="en-US" altLang="ko-KR" sz="1600" dirty="0"/>
              <a:t>Generates a </a:t>
            </a:r>
            <a:r>
              <a:rPr lang="en-US" altLang="ko-KR" sz="1600" u="sng" dirty="0"/>
              <a:t>random binary string </a:t>
            </a:r>
            <a:r>
              <a:rPr lang="en-US" altLang="ko-KR" sz="1600" dirty="0"/>
              <a:t>of a predetermined length (</a:t>
            </a:r>
            <a:r>
              <a:rPr lang="en-US" altLang="ko-KR" sz="1600" b="1" dirty="0" err="1">
                <a:latin typeface="Courier New" panose="02070309020205020404" pitchFamily="49" charset="0"/>
              </a:rPr>
              <a:t>self._resolution</a:t>
            </a:r>
            <a:r>
              <a:rPr lang="en-US" altLang="ko-KR" sz="1600" dirty="0"/>
              <a:t>), and returns it</a:t>
            </a:r>
          </a:p>
          <a:p>
            <a:pPr marL="611188" lvl="1" indent="-287338" eaLnBrk="1" hangingPunct="1"/>
            <a:r>
              <a:rPr lang="en-US" altLang="ko-KR" sz="1600" b="1" dirty="0">
                <a:latin typeface="Courier New" panose="02070309020205020404" pitchFamily="49" charset="0"/>
              </a:rPr>
              <a:t>decode(self, chromosome)</a:t>
            </a:r>
            <a:r>
              <a:rPr lang="en-US" altLang="ko-KR" sz="1600" dirty="0"/>
              <a:t>:</a:t>
            </a:r>
          </a:p>
          <a:p>
            <a:pPr marL="898525" lvl="2" indent="-287338" eaLnBrk="1" hangingPunct="1"/>
            <a:r>
              <a:rPr lang="en-US" altLang="ko-KR" sz="1600" dirty="0"/>
              <a:t>Decodes each variable in </a:t>
            </a:r>
            <a:r>
              <a:rPr lang="en-US" altLang="ko-KR" sz="1600" b="1" dirty="0">
                <a:latin typeface="Courier New" panose="02070309020205020404" pitchFamily="49" charset="0"/>
              </a:rPr>
              <a:t>chromosome</a:t>
            </a:r>
            <a:r>
              <a:rPr lang="en-US" altLang="ko-KR" sz="1600" dirty="0"/>
              <a:t> </a:t>
            </a:r>
            <a:r>
              <a:rPr lang="en-US" altLang="ko-KR" sz="1600" u="sng" dirty="0"/>
              <a:t>to its decimal value </a:t>
            </a:r>
            <a:r>
              <a:rPr lang="en-US" altLang="ko-KR" sz="1600" dirty="0"/>
              <a:t>(</a:t>
            </a:r>
            <a:r>
              <a:rPr lang="en-US" altLang="ko-KR" sz="1600" b="1" dirty="0" err="1">
                <a:latin typeface="Courier New" panose="02070309020205020404" pitchFamily="49" charset="0"/>
              </a:rPr>
              <a:t>self.binaryToDecimal</a:t>
            </a:r>
            <a:r>
              <a:rPr lang="en-US" altLang="ko-KR" sz="1600" dirty="0"/>
              <a:t>), concatenates them to a solution form, and returns it</a:t>
            </a:r>
          </a:p>
          <a:p>
            <a:pPr marL="611188" lvl="1" indent="-287338" eaLnBrk="1" hangingPunct="1"/>
            <a:r>
              <a:rPr lang="en-US" altLang="ko-KR" sz="1600" b="1" dirty="0" err="1">
                <a:latin typeface="Courier New" panose="02070309020205020404" pitchFamily="49" charset="0"/>
              </a:rPr>
              <a:t>binaryToDecimal</a:t>
            </a:r>
            <a:r>
              <a:rPr lang="en-US" altLang="ko-KR" sz="1600" b="1" dirty="0">
                <a:latin typeface="Courier New" panose="02070309020205020404" pitchFamily="49" charset="0"/>
              </a:rPr>
              <a:t>(self, </a:t>
            </a:r>
            <a:r>
              <a:rPr lang="en-US" altLang="ko-KR" sz="1600" b="1" dirty="0" err="1">
                <a:latin typeface="Courier New" panose="02070309020205020404" pitchFamily="49" charset="0"/>
              </a:rPr>
              <a:t>binCode</a:t>
            </a:r>
            <a:r>
              <a:rPr lang="en-US" altLang="ko-KR" sz="1600" b="1" dirty="0">
                <a:latin typeface="Courier New" panose="02070309020205020404" pitchFamily="49" charset="0"/>
              </a:rPr>
              <a:t>, l, u)</a:t>
            </a:r>
            <a:r>
              <a:rPr lang="en-US" altLang="ko-KR" sz="1600" dirty="0"/>
              <a:t>:</a:t>
            </a:r>
          </a:p>
          <a:p>
            <a:pPr marL="898525" lvl="2" indent="-287338" eaLnBrk="1" hangingPunct="1"/>
            <a:r>
              <a:rPr lang="en-US" altLang="ko-KR" sz="1600" dirty="0"/>
              <a:t>Decodes </a:t>
            </a:r>
            <a:r>
              <a:rPr lang="en-US" altLang="ko-KR" sz="1600" b="1" dirty="0" err="1">
                <a:latin typeface="Courier New" panose="02070309020205020404" pitchFamily="49" charset="0"/>
              </a:rPr>
              <a:t>binCode</a:t>
            </a:r>
            <a:r>
              <a:rPr lang="en-US" altLang="ko-KR" sz="1600" dirty="0"/>
              <a:t> to a decimal value </a:t>
            </a:r>
            <a:r>
              <a:rPr lang="en-US" altLang="ko-KR" sz="1600" u="sng" dirty="0"/>
              <a:t>taking the domain and resolution </a:t>
            </a:r>
            <a:r>
              <a:rPr lang="en-US" altLang="ko-KR" sz="1600" dirty="0"/>
              <a:t>into account, and returns it</a:t>
            </a:r>
          </a:p>
          <a:p>
            <a:pPr marL="611188" lvl="1" indent="-287338" eaLnBrk="1" hangingPunct="1"/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uXover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(self, chrInd1, chrInd2, 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uXp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altLang="ko-KR" sz="1600" dirty="0">
                <a:cs typeface="Courier New" panose="02070309020205020404" pitchFamily="49" charset="0"/>
              </a:rPr>
              <a:t>:</a:t>
            </a:r>
          </a:p>
          <a:p>
            <a:pPr marL="898525" lvl="2" indent="-287338" eaLnBrk="1" hangingPunct="1"/>
            <a:r>
              <a:rPr lang="en-US" altLang="ko-KR" sz="1600" dirty="0">
                <a:cs typeface="Courier New" panose="02070309020205020404" pitchFamily="49" charset="0"/>
              </a:rPr>
              <a:t>Performs uniform crossover to two chromosomes </a:t>
            </a:r>
            <a:r>
              <a:rPr lang="en-US" altLang="ko-KR" sz="1600" b="1" dirty="0">
                <a:latin typeface="Courier New" panose="02070309020205020404" pitchFamily="49" charset="0"/>
              </a:rPr>
              <a:t>chrInd1</a:t>
            </a:r>
            <a:r>
              <a:rPr lang="en-US" altLang="ko-KR" sz="1600" b="1" dirty="0"/>
              <a:t> </a:t>
            </a:r>
            <a:r>
              <a:rPr lang="en-US" altLang="ko-KR" sz="1600" dirty="0"/>
              <a:t>and </a:t>
            </a:r>
            <a:r>
              <a:rPr lang="en-US" altLang="ko-KR" sz="1600" b="1" dirty="0">
                <a:latin typeface="Courier New" panose="02070309020205020404" pitchFamily="49" charset="0"/>
              </a:rPr>
              <a:t>chrInd2</a:t>
            </a:r>
            <a:r>
              <a:rPr lang="en-US" altLang="ko-KR" sz="1600" dirty="0"/>
              <a:t>, and returns the resulting chromosomes</a:t>
            </a:r>
          </a:p>
          <a:p>
            <a:pPr marL="610525" lvl="1" indent="-287338" eaLnBrk="1" hangingPunct="1"/>
            <a:endParaRPr lang="en-US" altLang="ko-KR" sz="1600" dirty="0"/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A3A84C82-D117-EF04-C36E-03E002FFF1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r>
              <a:rPr lang="en-US" altLang="ko-KR" sz="2400">
                <a:solidFill>
                  <a:srgbClr val="D7ADD9"/>
                </a:solidFill>
              </a:rPr>
              <a:t>Changes to ‘Problem’ Class</a:t>
            </a:r>
          </a:p>
        </p:txBody>
      </p:sp>
      <p:sp>
        <p:nvSpPr>
          <p:cNvPr id="18434" name="바닥글 개체 틀 4">
            <a:extLst>
              <a:ext uri="{FF2B5EF4-FFF2-40B4-BE49-F238E27FC236}">
                <a16:creationId xmlns:a16="http://schemas.microsoft.com/office/drawing/2014/main" id="{EAD41BD0-CFAC-2D94-1B8A-EB7D04BA025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Search Algorithms: Object-Oriented Implementation (Part F)</a:t>
            </a:r>
            <a:endParaRPr lang="ko-KR" altLang="ko-KR"/>
          </a:p>
        </p:txBody>
      </p:sp>
      <p:sp>
        <p:nvSpPr>
          <p:cNvPr id="27653" name="슬라이드 번호 개체 틀 8">
            <a:extLst>
              <a:ext uri="{FF2B5EF4-FFF2-40B4-BE49-F238E27FC236}">
                <a16:creationId xmlns:a16="http://schemas.microsoft.com/office/drawing/2014/main" id="{AA4EA6C9-13AE-FCD9-AED7-5E21685050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0E7E00DB-769D-4FEA-9B45-143AE89AD5ED}" type="slidenum">
              <a:rPr lang="ko-KR" altLang="en-US" sz="1200">
                <a:solidFill>
                  <a:srgbClr val="898989"/>
                </a:solidFill>
                <a:latin typeface="Book Antiqua" panose="02040602050305030304" pitchFamily="18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29</a:t>
            </a:fld>
            <a:endParaRPr lang="en-US" altLang="ko-KR" sz="1200">
              <a:solidFill>
                <a:srgbClr val="898989"/>
              </a:solidFill>
              <a:latin typeface="Book Antiqua" panose="02040602050305030304" pitchFamily="18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3">
            <a:extLst>
              <a:ext uri="{FF2B5EF4-FFF2-40B4-BE49-F238E27FC236}">
                <a16:creationId xmlns:a16="http://schemas.microsoft.com/office/drawing/2014/main" id="{B7D2BF8B-A0BE-EAE4-A1C3-70A438B2DA3D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>
          <a:xfrm>
            <a:off x="457200" y="981075"/>
            <a:ext cx="8229600" cy="5256213"/>
          </a:xfrm>
        </p:spPr>
        <p:txBody>
          <a:bodyPr/>
          <a:lstStyle/>
          <a:p>
            <a:pPr marL="287338" indent="-287338" eaLnBrk="1" hangingPunct="1"/>
            <a:r>
              <a:rPr lang="en-US" altLang="ko-KR" sz="1800" dirty="0"/>
              <a:t>We now describe one method that is added </a:t>
            </a:r>
            <a:r>
              <a:rPr lang="en-US" altLang="ko-KR" sz="1800" u="sng" dirty="0"/>
              <a:t>only to </a:t>
            </a:r>
            <a:r>
              <a:rPr lang="en-US" altLang="ko-KR" sz="1800" b="1" u="sng" dirty="0">
                <a:latin typeface="Courier New" panose="02070309020205020404" pitchFamily="49" charset="0"/>
              </a:rPr>
              <a:t>Tsp</a:t>
            </a:r>
          </a:p>
          <a:p>
            <a:pPr marL="611188" lvl="1" indent="-287338" eaLnBrk="1" hangingPunct="1"/>
            <a:r>
              <a:rPr lang="en-US" altLang="ko-KR" sz="1600" b="1" dirty="0" err="1">
                <a:latin typeface="Courier New" panose="02070309020205020404" pitchFamily="49" charset="0"/>
              </a:rPr>
              <a:t>oXover</a:t>
            </a:r>
            <a:r>
              <a:rPr lang="en-US" altLang="ko-KR" sz="1600" b="1" dirty="0">
                <a:latin typeface="Courier New" panose="02070309020205020404" pitchFamily="49" charset="0"/>
              </a:rPr>
              <a:t>(self, chrInd1, chrInd2)</a:t>
            </a:r>
            <a:r>
              <a:rPr lang="en-US" altLang="ko-KR" sz="1600" dirty="0"/>
              <a:t>:</a:t>
            </a:r>
          </a:p>
          <a:p>
            <a:pPr marL="898525" lvl="2" indent="-287338" eaLnBrk="1" hangingPunct="1"/>
            <a:r>
              <a:rPr lang="en-US" altLang="ko-KR" sz="1600" dirty="0"/>
              <a:t>Performs </a:t>
            </a:r>
            <a:r>
              <a:rPr lang="en-US" altLang="ko-KR" sz="1600" u="sng" dirty="0"/>
              <a:t>ordered crossover </a:t>
            </a:r>
            <a:r>
              <a:rPr lang="en-US" altLang="ko-KR" sz="1600" dirty="0"/>
              <a:t>to two chromosomes </a:t>
            </a:r>
            <a:r>
              <a:rPr lang="en-US" altLang="ko-KR" sz="1600" b="1" dirty="0">
                <a:latin typeface="Courier New" panose="02070309020205020404" pitchFamily="49" charset="0"/>
              </a:rPr>
              <a:t>chrInd1</a:t>
            </a:r>
            <a:r>
              <a:rPr lang="en-US" altLang="ko-KR" sz="1600" b="1" dirty="0"/>
              <a:t> </a:t>
            </a:r>
            <a:r>
              <a:rPr lang="en-US" altLang="ko-KR" sz="1600" dirty="0"/>
              <a:t>and </a:t>
            </a:r>
            <a:r>
              <a:rPr lang="en-US" altLang="ko-KR" sz="1600" b="1" dirty="0">
                <a:latin typeface="Courier New" panose="02070309020205020404" pitchFamily="49" charset="0"/>
              </a:rPr>
              <a:t>chrInd2</a:t>
            </a:r>
            <a:r>
              <a:rPr lang="en-US" altLang="ko-KR" sz="1600" dirty="0"/>
              <a:t>, and returns the resulting chromosomes</a:t>
            </a:r>
          </a:p>
          <a:p>
            <a:pPr marL="287338" indent="-287338" eaLnBrk="1" hangingPunct="1"/>
            <a:endParaRPr lang="en-US" altLang="ko-KR" dirty="0"/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8AE48641-5FBF-D62B-E195-63FC9EFF5B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r>
              <a:rPr lang="en-US" altLang="ko-KR" sz="2400">
                <a:solidFill>
                  <a:srgbClr val="D7ADD9"/>
                </a:solidFill>
              </a:rPr>
              <a:t>Changes to ‘Problem’ Class</a:t>
            </a:r>
          </a:p>
        </p:txBody>
      </p:sp>
      <p:sp>
        <p:nvSpPr>
          <p:cNvPr id="18434" name="바닥글 개체 틀 4">
            <a:extLst>
              <a:ext uri="{FF2B5EF4-FFF2-40B4-BE49-F238E27FC236}">
                <a16:creationId xmlns:a16="http://schemas.microsoft.com/office/drawing/2014/main" id="{A15C2AB4-FAD7-68EA-ECD7-B246D29793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Search Algorithms: Object-Oriented Implementation (Part F)</a:t>
            </a:r>
            <a:endParaRPr lang="ko-KR" altLang="ko-KR"/>
          </a:p>
        </p:txBody>
      </p:sp>
      <p:sp>
        <p:nvSpPr>
          <p:cNvPr id="29701" name="슬라이드 번호 개체 틀 8">
            <a:extLst>
              <a:ext uri="{FF2B5EF4-FFF2-40B4-BE49-F238E27FC236}">
                <a16:creationId xmlns:a16="http://schemas.microsoft.com/office/drawing/2014/main" id="{0851AD6A-1FE5-8C44-EE4E-A5CBB7EB45C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A3F4FEA0-6EB9-46AD-9ABF-95CBF6259223}" type="slidenum">
              <a:rPr lang="ko-KR" altLang="en-US" sz="1200">
                <a:solidFill>
                  <a:srgbClr val="898989"/>
                </a:solidFill>
                <a:latin typeface="Book Antiqua" panose="02040602050305030304" pitchFamily="18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30</a:t>
            </a:fld>
            <a:endParaRPr lang="en-US" altLang="ko-KR" sz="1200">
              <a:solidFill>
                <a:srgbClr val="898989"/>
              </a:solidFill>
              <a:latin typeface="Book Antiqua" panose="02040602050305030304" pitchFamily="18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B66B44-1A25-4EE1-AE01-A92CC8D6B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Code sample for GA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8A7ADE0-CA92-46FF-BE3F-AD855E7772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0E1392B-384B-4761-BCF5-71FD47B8C79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Search Algorithms: Object-Oriented Implementation (Part F)</a:t>
            </a:r>
            <a:endParaRPr lang="ko-KR" altLang="ko-KR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9A121F8-4895-4763-958D-434252D5CD8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6C35E29-B6D6-4447-8916-568A2E635AC2}" type="slidenum">
              <a:rPr lang="ko-KR" altLang="en-US" smtClean="0"/>
              <a:pPr/>
              <a:t>31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4026744-9439-4FBB-AE59-DA26528358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80728"/>
            <a:ext cx="5797451" cy="5754379"/>
          </a:xfrm>
          <a:prstGeom prst="rect">
            <a:avLst/>
          </a:prstGeom>
        </p:spPr>
      </p:pic>
      <p:sp>
        <p:nvSpPr>
          <p:cNvPr id="7" name="설명선: 선 6">
            <a:extLst>
              <a:ext uri="{FF2B5EF4-FFF2-40B4-BE49-F238E27FC236}">
                <a16:creationId xmlns:a16="http://schemas.microsoft.com/office/drawing/2014/main" id="{0D4C263A-03EF-4F5E-B847-D4B614DC1E04}"/>
              </a:ext>
            </a:extLst>
          </p:cNvPr>
          <p:cNvSpPr/>
          <p:nvPr/>
        </p:nvSpPr>
        <p:spPr>
          <a:xfrm>
            <a:off x="4830607" y="1409070"/>
            <a:ext cx="1613602" cy="448981"/>
          </a:xfrm>
          <a:prstGeom prst="borderCallout1">
            <a:avLst>
              <a:gd name="adj1" fmla="val 22585"/>
              <a:gd name="adj2" fmla="val -47"/>
              <a:gd name="adj3" fmla="val 83065"/>
              <a:gd name="adj4" fmla="val -35771"/>
            </a:avLst>
          </a:prstGeom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+mj-lt"/>
                <a:cs typeface="Arial" panose="020B0604020202020204" pitchFamily="34" charset="0"/>
              </a:rPr>
              <a:t>Generates the initial population set.</a:t>
            </a:r>
            <a:endParaRPr lang="ko-KR" altLang="en-US" sz="1200" dirty="0">
              <a:solidFill>
                <a:schemeClr val="tx1"/>
              </a:solidFill>
              <a:latin typeface="+mj-lt"/>
              <a:ea typeface="나눔스퀘어_ac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8" name="설명선: 선 7">
            <a:extLst>
              <a:ext uri="{FF2B5EF4-FFF2-40B4-BE49-F238E27FC236}">
                <a16:creationId xmlns:a16="http://schemas.microsoft.com/office/drawing/2014/main" id="{F9ECED31-1F4A-4579-96C6-2DDD45401DA5}"/>
              </a:ext>
            </a:extLst>
          </p:cNvPr>
          <p:cNvSpPr/>
          <p:nvPr/>
        </p:nvSpPr>
        <p:spPr>
          <a:xfrm>
            <a:off x="5576992" y="3320988"/>
            <a:ext cx="3027456" cy="216024"/>
          </a:xfrm>
          <a:prstGeom prst="borderCallout1">
            <a:avLst>
              <a:gd name="adj1" fmla="val 22585"/>
              <a:gd name="adj2" fmla="val -47"/>
              <a:gd name="adj3" fmla="val 100266"/>
              <a:gd name="adj4" fmla="val -19190"/>
            </a:avLst>
          </a:prstGeom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Selects two soln. from current pop.</a:t>
            </a:r>
            <a:endParaRPr lang="ko-KR" altLang="en-US" sz="1200" dirty="0">
              <a:solidFill>
                <a:schemeClr val="tx1"/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9" name="설명선: 선 8">
            <a:extLst>
              <a:ext uri="{FF2B5EF4-FFF2-40B4-BE49-F238E27FC236}">
                <a16:creationId xmlns:a16="http://schemas.microsoft.com/office/drawing/2014/main" id="{B7FD27B5-80DC-4DBC-B7EC-8F580519E34D}"/>
              </a:ext>
            </a:extLst>
          </p:cNvPr>
          <p:cNvSpPr/>
          <p:nvPr/>
        </p:nvSpPr>
        <p:spPr>
          <a:xfrm>
            <a:off x="6337003" y="3763639"/>
            <a:ext cx="2349797" cy="448982"/>
          </a:xfrm>
          <a:prstGeom prst="borderCallout1">
            <a:avLst>
              <a:gd name="adj1" fmla="val 22585"/>
              <a:gd name="adj2" fmla="val -47"/>
              <a:gd name="adj3" fmla="val 19179"/>
              <a:gd name="adj4" fmla="val -25675"/>
            </a:avLst>
          </a:prstGeom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Crossover on two parents to generate two new child soln.</a:t>
            </a:r>
            <a:endParaRPr lang="ko-KR" altLang="en-US" sz="1200" dirty="0">
              <a:solidFill>
                <a:schemeClr val="tx1"/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10" name="설명선: 선 9">
            <a:extLst>
              <a:ext uri="{FF2B5EF4-FFF2-40B4-BE49-F238E27FC236}">
                <a16:creationId xmlns:a16="http://schemas.microsoft.com/office/drawing/2014/main" id="{CE7A56CA-3C0E-496D-8A36-6C0D4E058F09}"/>
              </a:ext>
            </a:extLst>
          </p:cNvPr>
          <p:cNvSpPr/>
          <p:nvPr/>
        </p:nvSpPr>
        <p:spPr>
          <a:xfrm>
            <a:off x="6769051" y="4444432"/>
            <a:ext cx="2061765" cy="448982"/>
          </a:xfrm>
          <a:prstGeom prst="borderCallout1">
            <a:avLst>
              <a:gd name="adj1" fmla="val 22585"/>
              <a:gd name="adj2" fmla="val -47"/>
              <a:gd name="adj3" fmla="val 19179"/>
              <a:gd name="adj4" fmla="val -25675"/>
            </a:avLst>
          </a:prstGeom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+mj-lt"/>
                <a:cs typeface="Arial" panose="020B0604020202020204" pitchFamily="34" charset="0"/>
              </a:rPr>
              <a:t>Applies the mutation operation to the generated solutions </a:t>
            </a:r>
            <a:r>
              <a:rPr lang="en-US" altLang="ko-KR" sz="1000" dirty="0">
                <a:solidFill>
                  <a:schemeClr val="tx1"/>
                </a:solidFill>
                <a:latin typeface="+mj-lt"/>
                <a:ea typeface="나눔스퀘어_ac" panose="020B0600000101010101" pitchFamily="50" charset="-127"/>
                <a:cs typeface="Arial" panose="020B0604020202020204" pitchFamily="34" charset="0"/>
              </a:rPr>
              <a:t>(</a:t>
            </a:r>
            <a:r>
              <a:rPr lang="en-US" altLang="ko-KR" sz="1000" dirty="0" err="1">
                <a:solidFill>
                  <a:schemeClr val="tx1"/>
                </a:solidFill>
                <a:latin typeface="+mj-lt"/>
                <a:ea typeface="나눔스퀘어_ac" panose="020B0600000101010101" pitchFamily="50" charset="-127"/>
                <a:cs typeface="Arial" panose="020B0604020202020204" pitchFamily="34" charset="0"/>
              </a:rPr>
              <a:t>ind</a:t>
            </a:r>
            <a:r>
              <a:rPr lang="en-US" altLang="ko-KR" sz="1000" dirty="0">
                <a:solidFill>
                  <a:schemeClr val="tx1"/>
                </a:solidFill>
                <a:latin typeface="+mj-lt"/>
                <a:ea typeface="나눔스퀘어_ac" panose="020B0600000101010101" pitchFamily="50" charset="-127"/>
                <a:cs typeface="Arial" panose="020B0604020202020204" pitchFamily="34" charset="0"/>
              </a:rPr>
              <a:t>=individual solution)</a:t>
            </a:r>
            <a:endParaRPr lang="ko-KR" altLang="en-US" sz="1000" dirty="0">
              <a:solidFill>
                <a:schemeClr val="tx1"/>
              </a:solidFill>
              <a:latin typeface="+mj-lt"/>
              <a:ea typeface="나눔스퀘어_ac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1" name="설명선: 선 10">
            <a:extLst>
              <a:ext uri="{FF2B5EF4-FFF2-40B4-BE49-F238E27FC236}">
                <a16:creationId xmlns:a16="http://schemas.microsoft.com/office/drawing/2014/main" id="{79EB992A-9907-43BD-8F5A-14C6B098BD58}"/>
              </a:ext>
            </a:extLst>
          </p:cNvPr>
          <p:cNvSpPr/>
          <p:nvPr/>
        </p:nvSpPr>
        <p:spPr>
          <a:xfrm>
            <a:off x="5324673" y="5012452"/>
            <a:ext cx="2187228" cy="448982"/>
          </a:xfrm>
          <a:prstGeom prst="borderCallout1">
            <a:avLst>
              <a:gd name="adj1" fmla="val 22585"/>
              <a:gd name="adj2" fmla="val -47"/>
              <a:gd name="adj3" fmla="val 322"/>
              <a:gd name="adj4" fmla="val -24901"/>
            </a:avLst>
          </a:prstGeom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Updates the overall best solution found so far.</a:t>
            </a:r>
            <a:endParaRPr lang="ko-KR" altLang="en-US" sz="1200" dirty="0">
              <a:solidFill>
                <a:schemeClr val="tx1"/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028200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16A6BE-A11E-4573-8E98-402F6D742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Code sample for Numeric problems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51AC51E-1BFB-4098-A0FA-993FFCAFD0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6BC5450-F0D4-4BFD-80CD-71CF52E5FEF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Search Algorithms: Object-Oriented Implementation (Part F)</a:t>
            </a:r>
            <a:endParaRPr lang="ko-KR" altLang="ko-KR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A7DA9AA-1AEA-43AE-A04B-0C1EBB94BA6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6C35E29-B6D6-4447-8916-568A2E635AC2}" type="slidenum">
              <a:rPr lang="ko-KR" altLang="en-US" smtClean="0"/>
              <a:pPr/>
              <a:t>32</a:t>
            </a:fld>
            <a:endParaRPr lang="en-US" altLang="ko-KR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26C43DF-18D1-431B-9C8B-AB9A73F17E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980728"/>
            <a:ext cx="6547395" cy="3444412"/>
          </a:xfrm>
          <a:prstGeom prst="rect">
            <a:avLst/>
          </a:prstGeom>
          <a:ln>
            <a:solidFill>
              <a:srgbClr val="FFFF00"/>
            </a:solidFill>
          </a:ln>
        </p:spPr>
      </p:pic>
      <p:sp>
        <p:nvSpPr>
          <p:cNvPr id="10" name="설명선: 선 9">
            <a:extLst>
              <a:ext uri="{FF2B5EF4-FFF2-40B4-BE49-F238E27FC236}">
                <a16:creationId xmlns:a16="http://schemas.microsoft.com/office/drawing/2014/main" id="{6573F2BF-3443-48D4-95B3-A2EC45D598B9}"/>
              </a:ext>
            </a:extLst>
          </p:cNvPr>
          <p:cNvSpPr/>
          <p:nvPr/>
        </p:nvSpPr>
        <p:spPr>
          <a:xfrm>
            <a:off x="5057006" y="1643658"/>
            <a:ext cx="3240359" cy="489942"/>
          </a:xfrm>
          <a:prstGeom prst="borderCallout1">
            <a:avLst>
              <a:gd name="adj1" fmla="val 22585"/>
              <a:gd name="adj2" fmla="val -47"/>
              <a:gd name="adj3" fmla="val 45396"/>
              <a:gd name="adj4" fmla="val -29300"/>
            </a:avLst>
          </a:prstGeom>
          <a:ln w="19050">
            <a:solidFill>
              <a:srgbClr val="00B0F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Generate initial solution set</a:t>
            </a:r>
            <a:r>
              <a:rPr lang="en-US" sz="1200" dirty="0"/>
              <a:t> (Each solution is encoded as a 0/1 binary string)</a:t>
            </a:r>
            <a:endParaRPr lang="ko-KR" altLang="en-US" sz="1200" dirty="0">
              <a:solidFill>
                <a:schemeClr val="tx1"/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11" name="설명선: 선 10">
            <a:extLst>
              <a:ext uri="{FF2B5EF4-FFF2-40B4-BE49-F238E27FC236}">
                <a16:creationId xmlns:a16="http://schemas.microsoft.com/office/drawing/2014/main" id="{DFA50A8E-24AF-4F5A-AD13-D3DBC092C7C2}"/>
              </a:ext>
            </a:extLst>
          </p:cNvPr>
          <p:cNvSpPr/>
          <p:nvPr/>
        </p:nvSpPr>
        <p:spPr>
          <a:xfrm>
            <a:off x="4901135" y="3609020"/>
            <a:ext cx="3396230" cy="404812"/>
          </a:xfrm>
          <a:prstGeom prst="borderCallout1">
            <a:avLst>
              <a:gd name="adj1" fmla="val 22585"/>
              <a:gd name="adj2" fmla="val -47"/>
              <a:gd name="adj3" fmla="val 45396"/>
              <a:gd name="adj4" fmla="val -29300"/>
            </a:avLst>
          </a:prstGeom>
          <a:ln w="19050">
            <a:solidFill>
              <a:srgbClr val="00B0F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Randomly generate an initial solution</a:t>
            </a:r>
            <a:r>
              <a:rPr lang="en-US" sz="1200" dirty="0"/>
              <a:t> (Each solution is encoded as a 0/1 binary string)</a:t>
            </a:r>
            <a:endParaRPr lang="ko-KR" altLang="en-US" sz="1200" dirty="0">
              <a:solidFill>
                <a:schemeClr val="tx1"/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12" name="설명선: 선 11">
            <a:extLst>
              <a:ext uri="{FF2B5EF4-FFF2-40B4-BE49-F238E27FC236}">
                <a16:creationId xmlns:a16="http://schemas.microsoft.com/office/drawing/2014/main" id="{179DEAAA-6E12-45B1-8DE5-DED6D533B591}"/>
              </a:ext>
            </a:extLst>
          </p:cNvPr>
          <p:cNvSpPr/>
          <p:nvPr/>
        </p:nvSpPr>
        <p:spPr>
          <a:xfrm>
            <a:off x="3093630" y="4618706"/>
            <a:ext cx="3710618" cy="400904"/>
          </a:xfrm>
          <a:prstGeom prst="borderCallout1">
            <a:avLst>
              <a:gd name="adj1" fmla="val 22585"/>
              <a:gd name="adj2" fmla="val -47"/>
              <a:gd name="adj3" fmla="val -80467"/>
              <a:gd name="adj4" fmla="val -21363"/>
            </a:avLst>
          </a:prstGeom>
          <a:ln w="19050">
            <a:solidFill>
              <a:srgbClr val="00B0F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The r-bit binary strings representing N variables are all concatenated and stored as a single list</a:t>
            </a:r>
            <a:endParaRPr lang="ko-KR" altLang="en-US" sz="1200" dirty="0">
              <a:solidFill>
                <a:schemeClr val="tx1"/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13" name="설명선: 선 12">
            <a:extLst>
              <a:ext uri="{FF2B5EF4-FFF2-40B4-BE49-F238E27FC236}">
                <a16:creationId xmlns:a16="http://schemas.microsoft.com/office/drawing/2014/main" id="{52355876-529F-44EE-A088-C8E7360C8C08}"/>
              </a:ext>
            </a:extLst>
          </p:cNvPr>
          <p:cNvSpPr/>
          <p:nvPr/>
        </p:nvSpPr>
        <p:spPr>
          <a:xfrm>
            <a:off x="5506703" y="2585310"/>
            <a:ext cx="3240358" cy="634082"/>
          </a:xfrm>
          <a:prstGeom prst="borderCallout1">
            <a:avLst>
              <a:gd name="adj1" fmla="val 22585"/>
              <a:gd name="adj2" fmla="val -47"/>
              <a:gd name="adj3" fmla="val 67543"/>
              <a:gd name="adj4" fmla="val -18495"/>
            </a:avLst>
          </a:prstGeom>
          <a:ln w="19050">
            <a:solidFill>
              <a:srgbClr val="00B0F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k = {number of variables} * {length of the binary encoding string to represent each variable}</a:t>
            </a:r>
            <a:endParaRPr lang="ko-KR" altLang="en-US" sz="1200" dirty="0">
              <a:solidFill>
                <a:schemeClr val="tx1"/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15" name="설명선: 선 14">
            <a:extLst>
              <a:ext uri="{FF2B5EF4-FFF2-40B4-BE49-F238E27FC236}">
                <a16:creationId xmlns:a16="http://schemas.microsoft.com/office/drawing/2014/main" id="{0237E41B-88DE-5612-A8E4-A1D2758D10AC}"/>
              </a:ext>
            </a:extLst>
          </p:cNvPr>
          <p:cNvSpPr/>
          <p:nvPr/>
        </p:nvSpPr>
        <p:spPr>
          <a:xfrm>
            <a:off x="2339752" y="2348880"/>
            <a:ext cx="1224136" cy="193998"/>
          </a:xfrm>
          <a:prstGeom prst="borderCallout1">
            <a:avLst>
              <a:gd name="adj1" fmla="val -737"/>
              <a:gd name="adj2" fmla="val 5789"/>
              <a:gd name="adj3" fmla="val -79805"/>
              <a:gd name="adj4" fmla="val -4401"/>
            </a:avLst>
          </a:prstGeom>
          <a:ln w="19050">
            <a:solidFill>
              <a:srgbClr val="00B0F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Fitness score</a:t>
            </a:r>
            <a:endParaRPr lang="ko-KR" altLang="en-US" sz="1200" dirty="0">
              <a:solidFill>
                <a:schemeClr val="tx1"/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739176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16A6BE-A11E-4573-8E98-402F6D742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Code sample for Numeric problems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51AC51E-1BFB-4098-A0FA-993FFCAFD0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6BC5450-F0D4-4BFD-80CD-71CF52E5FEF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Search Algorithms: Object-Oriented Implementation (Part F)</a:t>
            </a:r>
            <a:endParaRPr lang="ko-KR" altLang="ko-KR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A7DA9AA-1AEA-43AE-A04B-0C1EBB94BA6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6C35E29-B6D6-4447-8916-568A2E635AC2}" type="slidenum">
              <a:rPr lang="ko-KR" altLang="en-US" smtClean="0"/>
              <a:pPr/>
              <a:t>33</a:t>
            </a:fld>
            <a:endParaRPr lang="en-US" altLang="ko-KR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3DC344F-6BCA-4D18-8F74-681E49AC74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980728"/>
            <a:ext cx="5832648" cy="5211534"/>
          </a:xfrm>
          <a:prstGeom prst="rect">
            <a:avLst/>
          </a:prstGeom>
          <a:ln>
            <a:solidFill>
              <a:srgbClr val="FFFF00"/>
            </a:solidFill>
          </a:ln>
        </p:spPr>
      </p:pic>
      <p:sp>
        <p:nvSpPr>
          <p:cNvPr id="8" name="설명선: 선 7">
            <a:extLst>
              <a:ext uri="{FF2B5EF4-FFF2-40B4-BE49-F238E27FC236}">
                <a16:creationId xmlns:a16="http://schemas.microsoft.com/office/drawing/2014/main" id="{E2EC85EC-AC95-4201-9596-81D9AD9DF3F2}"/>
              </a:ext>
            </a:extLst>
          </p:cNvPr>
          <p:cNvSpPr/>
          <p:nvPr/>
        </p:nvSpPr>
        <p:spPr>
          <a:xfrm>
            <a:off x="4733832" y="4653136"/>
            <a:ext cx="4086640" cy="576064"/>
          </a:xfrm>
          <a:prstGeom prst="borderCallout1">
            <a:avLst>
              <a:gd name="adj1" fmla="val 22585"/>
              <a:gd name="adj2" fmla="val -47"/>
              <a:gd name="adj3" fmla="val 38297"/>
              <a:gd name="adj4" fmla="val -16197"/>
            </a:avLst>
          </a:prstGeom>
          <a:ln w="19050">
            <a:solidFill>
              <a:srgbClr val="00B0F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Convert the value encoded as a 0/1 binary string into a real (floating-point) value</a:t>
            </a:r>
            <a:r>
              <a:rPr lang="en-US" sz="1200" dirty="0"/>
              <a:t> (A real value is needed when evaluating the solution/fitness)</a:t>
            </a:r>
            <a:endParaRPr lang="ko-KR" altLang="en-US" sz="1200" dirty="0">
              <a:solidFill>
                <a:schemeClr val="tx1"/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10" name="설명선: 선 9">
            <a:extLst>
              <a:ext uri="{FF2B5EF4-FFF2-40B4-BE49-F238E27FC236}">
                <a16:creationId xmlns:a16="http://schemas.microsoft.com/office/drawing/2014/main" id="{BEA2C03A-92DC-4207-88AC-94CC61C933E2}"/>
              </a:ext>
            </a:extLst>
          </p:cNvPr>
          <p:cNvSpPr/>
          <p:nvPr/>
        </p:nvSpPr>
        <p:spPr>
          <a:xfrm>
            <a:off x="5364088" y="1412776"/>
            <a:ext cx="3240359" cy="1109113"/>
          </a:xfrm>
          <a:prstGeom prst="borderCallout1">
            <a:avLst>
              <a:gd name="adj1" fmla="val 9672"/>
              <a:gd name="adj2" fmla="val -635"/>
              <a:gd name="adj3" fmla="val 154247"/>
              <a:gd name="adj4" fmla="val -29300"/>
            </a:avLst>
          </a:prstGeom>
          <a:ln w="19050">
            <a:solidFill>
              <a:srgbClr val="00B0F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The r-bit binary strings representing N variables are all concatenated and stored as a single 1D list.</a:t>
            </a:r>
            <a:r>
              <a:rPr lang="en-US" sz="1200" dirty="0"/>
              <a:t> To extract the binary string corresponding to each variable, you must </a:t>
            </a:r>
            <a:r>
              <a:rPr lang="en-US" sz="1200" b="1" dirty="0"/>
              <a:t>index using [</a:t>
            </a:r>
            <a:r>
              <a:rPr lang="en-US" sz="1200" b="1" dirty="0" err="1"/>
              <a:t>start:end</a:t>
            </a:r>
            <a:r>
              <a:rPr lang="en-US" sz="1200" b="1" dirty="0"/>
              <a:t>]</a:t>
            </a:r>
            <a:r>
              <a:rPr lang="en-US" sz="1200" dirty="0"/>
              <a:t> at the relevant positions</a:t>
            </a:r>
            <a:endParaRPr lang="ko-KR" altLang="en-US" sz="1200" dirty="0">
              <a:solidFill>
                <a:schemeClr val="tx1"/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11" name="설명선: 선 10">
            <a:extLst>
              <a:ext uri="{FF2B5EF4-FFF2-40B4-BE49-F238E27FC236}">
                <a16:creationId xmlns:a16="http://schemas.microsoft.com/office/drawing/2014/main" id="{1AB0EA50-C1C5-42A1-8B78-86C5C0E9391A}"/>
              </a:ext>
            </a:extLst>
          </p:cNvPr>
          <p:cNvSpPr/>
          <p:nvPr/>
        </p:nvSpPr>
        <p:spPr>
          <a:xfrm>
            <a:off x="3653712" y="828658"/>
            <a:ext cx="4086640" cy="452077"/>
          </a:xfrm>
          <a:prstGeom prst="borderCallout1">
            <a:avLst>
              <a:gd name="adj1" fmla="val 59185"/>
              <a:gd name="adj2" fmla="val -30"/>
              <a:gd name="adj3" fmla="val 68096"/>
              <a:gd name="adj4" fmla="val -21482"/>
            </a:avLst>
          </a:prstGeom>
          <a:ln w="19050">
            <a:solidFill>
              <a:srgbClr val="00B0F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Function to convert each 0/1 binary list (chromosome) into a list of real (floating-point) values</a:t>
            </a:r>
            <a:endParaRPr lang="ko-KR" altLang="en-US" sz="1200" dirty="0">
              <a:solidFill>
                <a:schemeClr val="tx1"/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9384051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449A17-53B9-4029-9A2B-8C94F7E06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Code sample for Numeric problems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AD6C08-396F-4665-9CB4-B7AEE39A05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FFA1706-E6A4-49D8-B8C1-8966FB2C49F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Search Algorithms: Object-Oriented Implementation (Part F)</a:t>
            </a:r>
            <a:endParaRPr lang="ko-KR" altLang="ko-KR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EB0ADEA-C12A-478C-B94F-BE9F2D1B175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6C35E29-B6D6-4447-8916-568A2E635AC2}" type="slidenum">
              <a:rPr lang="ko-KR" altLang="en-US" smtClean="0"/>
              <a:pPr/>
              <a:t>34</a:t>
            </a:fld>
            <a:endParaRPr lang="en-US" altLang="ko-KR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5DDA09A-0FBC-4E27-BA70-40529D830E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980728"/>
            <a:ext cx="6172200" cy="4848225"/>
          </a:xfrm>
          <a:prstGeom prst="rect">
            <a:avLst/>
          </a:prstGeom>
        </p:spPr>
      </p:pic>
      <p:sp>
        <p:nvSpPr>
          <p:cNvPr id="8" name="설명선: 선 7">
            <a:extLst>
              <a:ext uri="{FF2B5EF4-FFF2-40B4-BE49-F238E27FC236}">
                <a16:creationId xmlns:a16="http://schemas.microsoft.com/office/drawing/2014/main" id="{EAD8ED4F-5820-47E6-991F-CF13AEBD3433}"/>
              </a:ext>
            </a:extLst>
          </p:cNvPr>
          <p:cNvSpPr/>
          <p:nvPr/>
        </p:nvSpPr>
        <p:spPr>
          <a:xfrm>
            <a:off x="4788024" y="933697"/>
            <a:ext cx="4248472" cy="285265"/>
          </a:xfrm>
          <a:prstGeom prst="borderCallout1">
            <a:avLst>
              <a:gd name="adj1" fmla="val 22585"/>
              <a:gd name="adj2" fmla="val -47"/>
              <a:gd name="adj3" fmla="val 60204"/>
              <a:gd name="adj4" fmla="val -24516"/>
            </a:avLst>
          </a:prstGeom>
          <a:ln w="19050">
            <a:solidFill>
              <a:srgbClr val="00B0F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Operation that combines two solutions through crossover</a:t>
            </a:r>
            <a:endParaRPr lang="ko-KR" altLang="en-US" sz="1200" dirty="0">
              <a:solidFill>
                <a:schemeClr val="tx1"/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9" name="설명선: 선 8">
            <a:extLst>
              <a:ext uri="{FF2B5EF4-FFF2-40B4-BE49-F238E27FC236}">
                <a16:creationId xmlns:a16="http://schemas.microsoft.com/office/drawing/2014/main" id="{8469992A-C698-4B0E-BAA6-EC88452D6F4B}"/>
              </a:ext>
            </a:extLst>
          </p:cNvPr>
          <p:cNvSpPr/>
          <p:nvPr/>
        </p:nvSpPr>
        <p:spPr>
          <a:xfrm>
            <a:off x="5220072" y="2777839"/>
            <a:ext cx="3240360" cy="795177"/>
          </a:xfrm>
          <a:prstGeom prst="borderCallout1">
            <a:avLst>
              <a:gd name="adj1" fmla="val 22585"/>
              <a:gd name="adj2" fmla="val -47"/>
              <a:gd name="adj3" fmla="val 48323"/>
              <a:gd name="adj4" fmla="val -39785"/>
            </a:avLst>
          </a:prstGeom>
          <a:ln w="19050">
            <a:solidFill>
              <a:srgbClr val="00B0F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For each index of the binary string representing a solution, perform the crossover operation according to a probability</a:t>
            </a:r>
            <a:endParaRPr lang="ko-KR" altLang="en-US" sz="1200" dirty="0">
              <a:solidFill>
                <a:schemeClr val="tx1"/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10" name="설명선: 선 9">
            <a:extLst>
              <a:ext uri="{FF2B5EF4-FFF2-40B4-BE49-F238E27FC236}">
                <a16:creationId xmlns:a16="http://schemas.microsoft.com/office/drawing/2014/main" id="{9F57E1CB-F3E8-41B9-86A9-6450545A2857}"/>
              </a:ext>
            </a:extLst>
          </p:cNvPr>
          <p:cNvSpPr/>
          <p:nvPr/>
        </p:nvSpPr>
        <p:spPr>
          <a:xfrm>
            <a:off x="5398757" y="5013176"/>
            <a:ext cx="3240360" cy="625861"/>
          </a:xfrm>
          <a:prstGeom prst="borderCallout1">
            <a:avLst>
              <a:gd name="adj1" fmla="val 22585"/>
              <a:gd name="adj2" fmla="val -47"/>
              <a:gd name="adj3" fmla="val 37625"/>
              <a:gd name="adj4" fmla="val -16500"/>
            </a:avLst>
          </a:prstGeom>
          <a:ln w="19050">
            <a:solidFill>
              <a:srgbClr val="00B0F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For each index of the binary string representing a single solution, perform the bit-flip operation according to a probability</a:t>
            </a:r>
            <a:endParaRPr lang="ko-KR" altLang="en-US" sz="1200" dirty="0">
              <a:solidFill>
                <a:schemeClr val="tx1"/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393875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533A2A-36DB-416D-862E-AF7814E21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Code sample for TSP problems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812EDE2-75C0-4873-92F8-1991738606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573A267-E26F-429B-BE91-A00F2F30AA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Search Algorithms: Object-Oriented Implementation (Part F)</a:t>
            </a:r>
            <a:endParaRPr lang="ko-KR" altLang="ko-KR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EFDC3C4-0786-4086-91F8-E2612E52B4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6C35E29-B6D6-4447-8916-568A2E635AC2}" type="slidenum">
              <a:rPr lang="ko-KR" altLang="en-US" smtClean="0"/>
              <a:pPr/>
              <a:t>35</a:t>
            </a:fld>
            <a:endParaRPr lang="en-US" altLang="ko-KR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85B0137-711C-4E6C-8A43-60C429914D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980728"/>
            <a:ext cx="6210300" cy="170497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603C489-321B-4CB8-9708-CC55679B06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4" y="2757711"/>
            <a:ext cx="5314950" cy="130492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AF537DD6-876D-4C40-86C2-2A723D1338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04" y="4123209"/>
            <a:ext cx="5762625" cy="1885950"/>
          </a:xfrm>
          <a:prstGeom prst="rect">
            <a:avLst/>
          </a:prstGeom>
        </p:spPr>
      </p:pic>
      <p:sp>
        <p:nvSpPr>
          <p:cNvPr id="12" name="설명선: 선 11">
            <a:extLst>
              <a:ext uri="{FF2B5EF4-FFF2-40B4-BE49-F238E27FC236}">
                <a16:creationId xmlns:a16="http://schemas.microsoft.com/office/drawing/2014/main" id="{36E366E4-EAAA-4564-BC48-F6AD2317D355}"/>
              </a:ext>
            </a:extLst>
          </p:cNvPr>
          <p:cNvSpPr/>
          <p:nvPr/>
        </p:nvSpPr>
        <p:spPr>
          <a:xfrm>
            <a:off x="5221262" y="5655396"/>
            <a:ext cx="3311177" cy="307254"/>
          </a:xfrm>
          <a:prstGeom prst="borderCallout1">
            <a:avLst>
              <a:gd name="adj1" fmla="val 22585"/>
              <a:gd name="adj2" fmla="val -47"/>
              <a:gd name="adj3" fmla="val 9245"/>
              <a:gd name="adj4" fmla="val -12505"/>
            </a:avLst>
          </a:prstGeom>
          <a:ln w="19050">
            <a:solidFill>
              <a:srgbClr val="00B0F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Reverse the order of values within the range</a:t>
            </a:r>
            <a:endParaRPr lang="ko-KR" altLang="en-US" sz="1200" dirty="0">
              <a:solidFill>
                <a:schemeClr val="tx1"/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6" name="설명선: 선 5">
            <a:extLst>
              <a:ext uri="{FF2B5EF4-FFF2-40B4-BE49-F238E27FC236}">
                <a16:creationId xmlns:a16="http://schemas.microsoft.com/office/drawing/2014/main" id="{7A2FE990-2681-ED2E-9814-598DF9E413CC}"/>
              </a:ext>
            </a:extLst>
          </p:cNvPr>
          <p:cNvSpPr/>
          <p:nvPr/>
        </p:nvSpPr>
        <p:spPr>
          <a:xfrm>
            <a:off x="5868144" y="1772816"/>
            <a:ext cx="2232050" cy="525932"/>
          </a:xfrm>
          <a:prstGeom prst="borderCallout1">
            <a:avLst>
              <a:gd name="adj1" fmla="val 22585"/>
              <a:gd name="adj2" fmla="val -47"/>
              <a:gd name="adj3" fmla="val 9245"/>
              <a:gd name="adj4" fmla="val -15485"/>
            </a:avLst>
          </a:prstGeom>
          <a:ln w="19050">
            <a:solidFill>
              <a:srgbClr val="00B0F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Initially, generate 'size' number of initial random solutions</a:t>
            </a:r>
            <a:endParaRPr lang="ko-KR" altLang="en-US" sz="1200" dirty="0">
              <a:solidFill>
                <a:schemeClr val="tx1"/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5863316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DDE46-1F2E-48E6-B87A-39B4CA53F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Code sample for TSP problems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72640BC-6216-4DE9-8339-A8099A7F71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atinLnBrk="0"/>
            <a:r>
              <a:rPr lang="en-US" sz="1800" dirty="0"/>
              <a:t>Decide whether or not to perform crossover based on the 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XR</a:t>
            </a:r>
            <a:r>
              <a:rPr lang="en-US" sz="1800" dirty="0"/>
              <a:t> (Crossover Rate) probability</a:t>
            </a:r>
            <a:endParaRPr lang="en-US" altLang="ko-KR" sz="18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lvl="1" latinLnBrk="0"/>
            <a:r>
              <a:rPr lang="en-US" sz="1800" dirty="0"/>
              <a:t>If not performed, return the two solutions (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ind1, ind2</a:t>
            </a:r>
            <a:r>
              <a:rPr lang="en-US" sz="1800" dirty="0"/>
              <a:t>) as is (unchanged)</a:t>
            </a:r>
            <a:endParaRPr lang="ko-KR" altLang="en-US" sz="18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2309237-0F8B-4951-A07C-FAD8943D145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Search Algorithms: Object-Oriented Implementation (Part F)</a:t>
            </a:r>
            <a:endParaRPr lang="ko-KR" altLang="ko-KR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7801DB4-D8E4-4B3B-AB84-F77AE60DCEB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6C35E29-B6D6-4447-8916-568A2E635AC2}" type="slidenum">
              <a:rPr lang="ko-KR" altLang="en-US" smtClean="0"/>
              <a:pPr/>
              <a:t>36</a:t>
            </a:fld>
            <a:endParaRPr lang="en-US" altLang="ko-KR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CFDEAFB-8CB8-4099-AB1F-19F91A81B1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2492896"/>
            <a:ext cx="5486400" cy="166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84093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DDE46-1F2E-48E6-B87A-39B4CA53F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Code sample for TSP problems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72640BC-6216-4DE9-8339-A8099A7F71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2309237-0F8B-4951-A07C-FAD8943D145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Search Algorithms: Object-Oriented Implementation (Part F)</a:t>
            </a:r>
            <a:endParaRPr lang="ko-KR" altLang="ko-KR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7801DB4-D8E4-4B3B-AB84-F77AE60DCEB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6C35E29-B6D6-4447-8916-568A2E635AC2}" type="slidenum">
              <a:rPr lang="ko-KR" altLang="en-US" smtClean="0"/>
              <a:pPr/>
              <a:t>37</a:t>
            </a:fld>
            <a:endParaRPr lang="en-US" altLang="ko-KR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4928178-73C2-4F1B-A388-19861458DF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1013098"/>
            <a:ext cx="5934075" cy="5800725"/>
          </a:xfrm>
          <a:prstGeom prst="rect">
            <a:avLst/>
          </a:prstGeom>
        </p:spPr>
      </p:pic>
      <p:sp>
        <p:nvSpPr>
          <p:cNvPr id="8" name="설명선: 선 7">
            <a:extLst>
              <a:ext uri="{FF2B5EF4-FFF2-40B4-BE49-F238E27FC236}">
                <a16:creationId xmlns:a16="http://schemas.microsoft.com/office/drawing/2014/main" id="{0F024A68-99BD-439F-A465-7BC4A32C8931}"/>
              </a:ext>
            </a:extLst>
          </p:cNvPr>
          <p:cNvSpPr/>
          <p:nvPr/>
        </p:nvSpPr>
        <p:spPr>
          <a:xfrm>
            <a:off x="6230912" y="1673946"/>
            <a:ext cx="2301527" cy="307254"/>
          </a:xfrm>
          <a:prstGeom prst="borderCallout1">
            <a:avLst>
              <a:gd name="adj1" fmla="val 22585"/>
              <a:gd name="adj2" fmla="val -47"/>
              <a:gd name="adj3" fmla="val 99146"/>
              <a:gd name="adj4" fmla="val -12925"/>
            </a:avLst>
          </a:prstGeom>
          <a:ln w="19050">
            <a:solidFill>
              <a:srgbClr val="00B0F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Randomly generate range a, b</a:t>
            </a:r>
            <a:endParaRPr lang="ko-KR" altLang="en-US" sz="1200" dirty="0">
              <a:solidFill>
                <a:schemeClr val="tx1"/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10" name="설명선: 선 9">
            <a:extLst>
              <a:ext uri="{FF2B5EF4-FFF2-40B4-BE49-F238E27FC236}">
                <a16:creationId xmlns:a16="http://schemas.microsoft.com/office/drawing/2014/main" id="{E9F3F0A9-E581-4C59-BF1E-CB2B4117B641}"/>
              </a:ext>
            </a:extLst>
          </p:cNvPr>
          <p:cNvSpPr/>
          <p:nvPr/>
        </p:nvSpPr>
        <p:spPr>
          <a:xfrm>
            <a:off x="3779911" y="2564904"/>
            <a:ext cx="2261667" cy="515985"/>
          </a:xfrm>
          <a:prstGeom prst="borderCallout1">
            <a:avLst>
              <a:gd name="adj1" fmla="val 2279"/>
              <a:gd name="adj2" fmla="val -988"/>
              <a:gd name="adj3" fmla="val 31987"/>
              <a:gd name="adj4" fmla="val -50056"/>
            </a:avLst>
          </a:prstGeom>
          <a:ln w="19050">
            <a:solidFill>
              <a:srgbClr val="00B0F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Mark numbers not included in the selected range as </a:t>
            </a:r>
            <a:r>
              <a:rPr lang="en-US" sz="1200" b="1" dirty="0"/>
              <a:t>False</a:t>
            </a:r>
            <a:endParaRPr lang="ko-KR" altLang="en-US" sz="1200" b="1" dirty="0">
              <a:solidFill>
                <a:schemeClr val="tx1"/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11" name="설명선: 선 10">
            <a:extLst>
              <a:ext uri="{FF2B5EF4-FFF2-40B4-BE49-F238E27FC236}">
                <a16:creationId xmlns:a16="http://schemas.microsoft.com/office/drawing/2014/main" id="{0FEEFD63-4621-49EA-BCCB-4697F8BEC9C2}"/>
              </a:ext>
            </a:extLst>
          </p:cNvPr>
          <p:cNvSpPr/>
          <p:nvPr/>
        </p:nvSpPr>
        <p:spPr>
          <a:xfrm>
            <a:off x="4865426" y="6361334"/>
            <a:ext cx="1953457" cy="387177"/>
          </a:xfrm>
          <a:prstGeom prst="borderCallout1">
            <a:avLst>
              <a:gd name="adj1" fmla="val 2279"/>
              <a:gd name="adj2" fmla="val -988"/>
              <a:gd name="adj3" fmla="val 19786"/>
              <a:gd name="adj4" fmla="val -28050"/>
            </a:avLst>
          </a:prstGeom>
          <a:ln w="19050">
            <a:solidFill>
              <a:srgbClr val="00B0F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Swap the numbers within the set range</a:t>
            </a:r>
            <a:endParaRPr lang="ko-KR" altLang="en-US" sz="1200" dirty="0">
              <a:solidFill>
                <a:schemeClr val="tx1"/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12" name="설명선: 선 11">
            <a:extLst>
              <a:ext uri="{FF2B5EF4-FFF2-40B4-BE49-F238E27FC236}">
                <a16:creationId xmlns:a16="http://schemas.microsoft.com/office/drawing/2014/main" id="{5D378326-69FA-4ED2-A5CA-8F4AC8298BDC}"/>
              </a:ext>
            </a:extLst>
          </p:cNvPr>
          <p:cNvSpPr/>
          <p:nvPr/>
        </p:nvSpPr>
        <p:spPr>
          <a:xfrm>
            <a:off x="3491880" y="3849119"/>
            <a:ext cx="3888432" cy="515985"/>
          </a:xfrm>
          <a:prstGeom prst="borderCallout1">
            <a:avLst>
              <a:gd name="adj1" fmla="val 2279"/>
              <a:gd name="adj2" fmla="val -988"/>
              <a:gd name="adj3" fmla="val 92068"/>
              <a:gd name="adj4" fmla="val -22275"/>
            </a:avLst>
          </a:prstGeom>
          <a:ln w="19050">
            <a:solidFill>
              <a:srgbClr val="00B0F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Starting from index </a:t>
            </a:r>
            <a:r>
              <a:rPr lang="en-US" sz="1200" b="1" dirty="0"/>
              <a:t>b+1</a:t>
            </a:r>
            <a:r>
              <a:rPr lang="en-US" sz="1200" dirty="0"/>
              <a:t>, copy the numbers not included in the selected range in </a:t>
            </a:r>
            <a:r>
              <a:rPr lang="en-US" sz="1200" b="1" dirty="0"/>
              <a:t>sequential order</a:t>
            </a:r>
            <a:endParaRPr lang="ko-KR" altLang="en-US" sz="1200" b="1" dirty="0">
              <a:solidFill>
                <a:schemeClr val="tx1"/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BDE45C6-486D-4A29-8EB2-B98D6AD24457}"/>
              </a:ext>
            </a:extLst>
          </p:cNvPr>
          <p:cNvSpPr txBox="1"/>
          <p:nvPr/>
        </p:nvSpPr>
        <p:spPr>
          <a:xfrm>
            <a:off x="6324487" y="4396705"/>
            <a:ext cx="2692909" cy="193899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0033CC"/>
            </a:solidFill>
          </a:ln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chr1 :</a:t>
            </a:r>
          </a:p>
          <a:p>
            <a:pPr marL="360000" lvl="1" indent="-171450">
              <a:buFont typeface="Arial" panose="020B0604020202020204" pitchFamily="34" charset="0"/>
              <a:buChar char="•"/>
            </a:pPr>
            <a:r>
              <a:rPr lang="en-US" sz="1200" dirty="0"/>
              <a:t>Values within the [</a:t>
            </a:r>
            <a:r>
              <a:rPr lang="en-US" sz="1200" dirty="0" err="1"/>
              <a:t>a,b</a:t>
            </a:r>
            <a:r>
              <a:rPr lang="en-US" sz="1200" dirty="0"/>
              <a:t>] range are taken from chr2</a:t>
            </a:r>
            <a:endParaRPr lang="en-US" altLang="ko-KR" sz="12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marL="360000" lvl="1" indent="-171450">
              <a:buFont typeface="Arial" panose="020B0604020202020204" pitchFamily="34" charset="0"/>
              <a:buChar char="•"/>
            </a:pPr>
            <a:r>
              <a:rPr lang="en-US" sz="1200" dirty="0"/>
              <a:t>Values outside the range are taken from chr1</a:t>
            </a:r>
            <a:endParaRPr lang="en-US" altLang="ko-KR" sz="12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chr2 :</a:t>
            </a:r>
          </a:p>
          <a:p>
            <a:pPr marL="360000" lvl="1" indent="-171450">
              <a:buFont typeface="Arial" panose="020B0604020202020204" pitchFamily="34" charset="0"/>
              <a:buChar char="•"/>
            </a:pPr>
            <a:r>
              <a:rPr lang="en-US" sz="1200" dirty="0"/>
              <a:t>Values within the [</a:t>
            </a:r>
            <a:r>
              <a:rPr lang="en-US" sz="1200" dirty="0" err="1"/>
              <a:t>a,b</a:t>
            </a:r>
            <a:r>
              <a:rPr lang="en-US" sz="1200" dirty="0"/>
              <a:t>] range are taken from chr1</a:t>
            </a:r>
            <a:endParaRPr lang="en-US" altLang="ko-KR" sz="12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marL="360000" lvl="1" indent="-171450">
              <a:buFont typeface="Arial" panose="020B0604020202020204" pitchFamily="34" charset="0"/>
              <a:buChar char="•"/>
            </a:pPr>
            <a:r>
              <a:rPr lang="en-US" sz="1200" dirty="0"/>
              <a:t>Values outside the range are taken from chr2</a:t>
            </a:r>
            <a:endParaRPr lang="ko-KR" altLang="en-US" sz="12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6" name="설명선: 선 5">
            <a:extLst>
              <a:ext uri="{FF2B5EF4-FFF2-40B4-BE49-F238E27FC236}">
                <a16:creationId xmlns:a16="http://schemas.microsoft.com/office/drawing/2014/main" id="{14E30C00-C9CD-2BF8-BFFF-235BB34DFA0D}"/>
              </a:ext>
            </a:extLst>
          </p:cNvPr>
          <p:cNvSpPr/>
          <p:nvPr/>
        </p:nvSpPr>
        <p:spPr>
          <a:xfrm>
            <a:off x="3876873" y="1412661"/>
            <a:ext cx="973918" cy="218283"/>
          </a:xfrm>
          <a:prstGeom prst="borderCallout1">
            <a:avLst>
              <a:gd name="adj1" fmla="val 22585"/>
              <a:gd name="adj2" fmla="val -47"/>
              <a:gd name="adj3" fmla="val 79400"/>
              <a:gd name="adj4" fmla="val -23741"/>
            </a:avLst>
          </a:prstGeom>
          <a:ln w="19050">
            <a:solidFill>
              <a:srgbClr val="00B0F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deep copy</a:t>
            </a:r>
            <a:endParaRPr lang="ko-KR" altLang="en-US" sz="1200" dirty="0">
              <a:solidFill>
                <a:schemeClr val="tx1"/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1370777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3">
            <a:extLst>
              <a:ext uri="{FF2B5EF4-FFF2-40B4-BE49-F238E27FC236}">
                <a16:creationId xmlns:a16="http://schemas.microsoft.com/office/drawing/2014/main" id="{842F99C3-1552-57A9-D6D5-342169202956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>
          <a:xfrm>
            <a:off x="457200" y="981075"/>
            <a:ext cx="8229600" cy="5256213"/>
          </a:xfrm>
        </p:spPr>
        <p:txBody>
          <a:bodyPr/>
          <a:lstStyle/>
          <a:p>
            <a:pPr marL="287338" indent="-287338" eaLnBrk="1" latinLnBrk="0" hangingPunct="1">
              <a:defRPr/>
            </a:pPr>
            <a:r>
              <a:rPr lang="en-US" sz="1800" dirty="0"/>
              <a:t>Solve the given 6 problems using all algorithms implemented so far, and compare their performance.</a:t>
            </a:r>
            <a:endParaRPr lang="en-US" altLang="ko-KR" sz="18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F85B1AEC-3605-5F16-7724-E19F424BE5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r>
              <a:rPr lang="en-US" altLang="ko-KR">
                <a:solidFill>
                  <a:srgbClr val="0033CC"/>
                </a:solidFill>
              </a:rPr>
              <a:t>Experiments</a:t>
            </a:r>
          </a:p>
        </p:txBody>
      </p:sp>
      <p:sp>
        <p:nvSpPr>
          <p:cNvPr id="18434" name="바닥글 개체 틀 4">
            <a:extLst>
              <a:ext uri="{FF2B5EF4-FFF2-40B4-BE49-F238E27FC236}">
                <a16:creationId xmlns:a16="http://schemas.microsoft.com/office/drawing/2014/main" id="{6BC48D57-8913-A8D9-B1CA-373B05596CB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Search Algorithms: Object-Oriented Implementation (Part F)</a:t>
            </a:r>
            <a:endParaRPr lang="ko-KR" altLang="ko-KR"/>
          </a:p>
        </p:txBody>
      </p:sp>
      <p:sp>
        <p:nvSpPr>
          <p:cNvPr id="31749" name="슬라이드 번호 개체 틀 8">
            <a:extLst>
              <a:ext uri="{FF2B5EF4-FFF2-40B4-BE49-F238E27FC236}">
                <a16:creationId xmlns:a16="http://schemas.microsoft.com/office/drawing/2014/main" id="{AC5F8C7D-F437-EE57-70FE-8FAE9FA5459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168A5DD1-0881-46BE-9DA1-01701DA8299D}" type="slidenum">
              <a:rPr lang="ko-KR" altLang="en-US" sz="1200">
                <a:solidFill>
                  <a:srgbClr val="898989"/>
                </a:solidFill>
                <a:latin typeface="Book Antiqua" panose="02040602050305030304" pitchFamily="18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38</a:t>
            </a:fld>
            <a:endParaRPr lang="en-US" altLang="ko-KR" sz="1200">
              <a:solidFill>
                <a:srgbClr val="898989"/>
              </a:solidFill>
              <a:latin typeface="Book Antiqua" panose="02040602050305030304" pitchFamily="18" charset="0"/>
            </a:endParaRPr>
          </a:p>
        </p:txBody>
      </p:sp>
      <p:pic>
        <p:nvPicPr>
          <p:cNvPr id="5122" name="Picture 2" descr="Laptop Chart Vectors &amp; Illustrations for Free Download | Freepik">
            <a:extLst>
              <a:ext uri="{FF2B5EF4-FFF2-40B4-BE49-F238E27FC236}">
                <a16:creationId xmlns:a16="http://schemas.microsoft.com/office/drawing/2014/main" id="{9ADD4F5B-8CE3-FB8F-6C80-55A9B63D8C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1880" y="2348880"/>
            <a:ext cx="2981325" cy="2386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3">
            <a:extLst>
              <a:ext uri="{FF2B5EF4-FFF2-40B4-BE49-F238E27FC236}">
                <a16:creationId xmlns:a16="http://schemas.microsoft.com/office/drawing/2014/main" id="{842F99C3-1552-57A9-D6D5-342169202956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>
          <a:xfrm>
            <a:off x="457200" y="981075"/>
            <a:ext cx="8229600" cy="5256213"/>
          </a:xfrm>
        </p:spPr>
        <p:txBody>
          <a:bodyPr/>
          <a:lstStyle/>
          <a:p>
            <a:pPr marL="287338" indent="-287338" eaLnBrk="1" hangingPunct="1">
              <a:defRPr/>
            </a:pPr>
            <a:r>
              <a:rPr lang="en-US" altLang="ko-KR" dirty="0"/>
              <a:t>We solve a </a:t>
            </a:r>
            <a:r>
              <a:rPr lang="en-US" altLang="ko-KR" u="sng" dirty="0"/>
              <a:t>few numerical optimization problems and TSPs</a:t>
            </a:r>
            <a:r>
              <a:rPr lang="en-US" altLang="ko-KR" dirty="0"/>
              <a:t> using various search algorithms made available in our optimization tool and compare their performances</a:t>
            </a:r>
          </a:p>
          <a:p>
            <a:pPr marL="287338" indent="-287338" eaLnBrk="1" hangingPunct="1">
              <a:defRPr/>
            </a:pPr>
            <a:r>
              <a:rPr lang="en-US" altLang="ko-KR" dirty="0"/>
              <a:t>We try </a:t>
            </a:r>
            <a:r>
              <a:rPr lang="en-US" altLang="ko-KR" u="sng" dirty="0"/>
              <a:t>three numerical optimization problems</a:t>
            </a:r>
            <a:r>
              <a:rPr lang="en-US" altLang="ko-KR" dirty="0"/>
              <a:t> all of which are five dimensional with the search space of 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–30 </a:t>
            </a:r>
            <a:r>
              <a:rPr lang="ko-KR" altLang="ko-KR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ko-KR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ko-KR" altLang="ko-KR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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30</a:t>
            </a:r>
            <a:r>
              <a:rPr lang="en-US" altLang="ko-KR" dirty="0">
                <a:sym typeface="Symbol" panose="05050102010706020507" pitchFamily="18" charset="2"/>
              </a:rPr>
              <a:t> for 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 </a:t>
            </a:r>
            <a:r>
              <a:rPr lang="ko-KR" altLang="ko-KR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ko-KR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ko-KR" altLang="ko-KR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5</a:t>
            </a:r>
            <a:endParaRPr lang="en-US" altLang="ko-K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11338" lvl="1" indent="-287338" eaLnBrk="1" hangingPunct="1">
              <a:defRPr/>
            </a:pPr>
            <a:r>
              <a:rPr lang="en-US" altLang="ko-KR" dirty="0"/>
              <a:t>Convex function:</a:t>
            </a:r>
          </a:p>
          <a:p>
            <a:pPr marL="324000" lvl="1" indent="0" eaLnBrk="1" hangingPunct="1">
              <a:buFont typeface="Arial" panose="020B0604020202020204" pitchFamily="34" charset="0"/>
              <a:buNone/>
              <a:defRPr/>
            </a:pP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	(</a:t>
            </a:r>
            <a:r>
              <a:rPr lang="en-US" altLang="ko-K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ko-KR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2)</a:t>
            </a:r>
            <a:r>
              <a:rPr lang="en-US" altLang="ko-KR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+ 5(</a:t>
            </a:r>
            <a:r>
              <a:rPr lang="en-US" altLang="ko-K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ko-KR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5)</a:t>
            </a:r>
            <a:r>
              <a:rPr lang="en-US" altLang="ko-KR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+ 8(</a:t>
            </a:r>
            <a:r>
              <a:rPr lang="en-US" altLang="ko-K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ko-KR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+ 8)</a:t>
            </a:r>
            <a:r>
              <a:rPr lang="en-US" altLang="ko-KR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+ 3(</a:t>
            </a:r>
            <a:r>
              <a:rPr lang="en-US" altLang="ko-K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ko-KR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+ 1)</a:t>
            </a:r>
            <a:r>
              <a:rPr lang="en-US" altLang="ko-KR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+ 6(</a:t>
            </a:r>
            <a:r>
              <a:rPr lang="en-US" altLang="ko-K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ko-KR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7)</a:t>
            </a:r>
            <a:r>
              <a:rPr lang="en-US" altLang="ko-KR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ko-K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11338" lvl="1" indent="-287338" eaLnBrk="1" hangingPunct="1">
              <a:defRPr/>
            </a:pPr>
            <a:endParaRPr lang="en-US" altLang="ko-KR" sz="600" dirty="0"/>
          </a:p>
          <a:p>
            <a:pPr marL="611338" lvl="1" indent="-287338" eaLnBrk="1" hangingPunct="1">
              <a:defRPr/>
            </a:pPr>
            <a:r>
              <a:rPr lang="en-US" altLang="ko-KR" dirty="0" err="1"/>
              <a:t>Griewank</a:t>
            </a:r>
            <a:r>
              <a:rPr lang="en-US" altLang="ko-KR" dirty="0"/>
              <a:t> function:</a:t>
            </a:r>
          </a:p>
          <a:p>
            <a:pPr marL="611338" lvl="1" indent="-287338" eaLnBrk="1" hangingPunct="1">
              <a:defRPr/>
            </a:pPr>
            <a:endParaRPr lang="en-US" altLang="ko-KR" sz="1800" dirty="0"/>
          </a:p>
          <a:p>
            <a:pPr marL="611338" lvl="1" indent="-287338" eaLnBrk="1" hangingPunct="1">
              <a:defRPr/>
            </a:pPr>
            <a:endParaRPr lang="en-US" altLang="ko-KR" sz="1800" dirty="0"/>
          </a:p>
          <a:p>
            <a:pPr marL="324000" lvl="1" indent="0" eaLnBrk="1" hangingPunct="1">
              <a:buFont typeface="Arial" panose="020B0604020202020204" pitchFamily="34" charset="0"/>
              <a:buNone/>
              <a:defRPr/>
            </a:pPr>
            <a:r>
              <a:rPr lang="en-US" altLang="ko-KR" dirty="0"/>
              <a:t>    with a global minimum of 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ko-KR" dirty="0"/>
              <a:t> at all zeros</a:t>
            </a:r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F85B1AEC-3605-5F16-7724-E19F424BE5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r>
              <a:rPr lang="en-US" altLang="ko-KR">
                <a:solidFill>
                  <a:srgbClr val="0033CC"/>
                </a:solidFill>
              </a:rPr>
              <a:t>Experiments</a:t>
            </a:r>
          </a:p>
        </p:txBody>
      </p:sp>
      <p:sp>
        <p:nvSpPr>
          <p:cNvPr id="18434" name="바닥글 개체 틀 4">
            <a:extLst>
              <a:ext uri="{FF2B5EF4-FFF2-40B4-BE49-F238E27FC236}">
                <a16:creationId xmlns:a16="http://schemas.microsoft.com/office/drawing/2014/main" id="{6BC48D57-8913-A8D9-B1CA-373B05596CB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Search Algorithms: Object-Oriented Implementation (Part F)</a:t>
            </a:r>
            <a:endParaRPr lang="ko-KR" altLang="ko-KR"/>
          </a:p>
        </p:txBody>
      </p:sp>
      <p:sp>
        <p:nvSpPr>
          <p:cNvPr id="31749" name="슬라이드 번호 개체 틀 8">
            <a:extLst>
              <a:ext uri="{FF2B5EF4-FFF2-40B4-BE49-F238E27FC236}">
                <a16:creationId xmlns:a16="http://schemas.microsoft.com/office/drawing/2014/main" id="{AC5F8C7D-F437-EE57-70FE-8FAE9FA5459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168A5DD1-0881-46BE-9DA1-01701DA8299D}" type="slidenum">
              <a:rPr lang="ko-KR" altLang="en-US" sz="1200">
                <a:solidFill>
                  <a:srgbClr val="898989"/>
                </a:solidFill>
                <a:latin typeface="Book Antiqua" panose="02040602050305030304" pitchFamily="18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39</a:t>
            </a:fld>
            <a:endParaRPr lang="en-US" altLang="ko-KR" sz="1200">
              <a:solidFill>
                <a:srgbClr val="898989"/>
              </a:solidFill>
              <a:latin typeface="Book Antiqua" panose="02040602050305030304" pitchFamily="18" charset="0"/>
            </a:endParaRPr>
          </a:p>
        </p:txBody>
      </p:sp>
      <p:graphicFrame>
        <p:nvGraphicFramePr>
          <p:cNvPr id="12" name="Object 7">
            <a:extLst>
              <a:ext uri="{FF2B5EF4-FFF2-40B4-BE49-F238E27FC236}">
                <a16:creationId xmlns:a16="http://schemas.microsoft.com/office/drawing/2014/main" id="{55D072CD-1B27-BAAF-5E9B-07F86E15408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35150" y="4346575"/>
          <a:ext cx="2979738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803400" imgH="457200" progId="Equation.DSMT4">
                  <p:embed/>
                </p:oleObj>
              </mc:Choice>
              <mc:Fallback>
                <p:oleObj name="Equation" r:id="rId3" imgW="1803400" imgH="457200" progId="Equation.DSMT4">
                  <p:embed/>
                  <p:pic>
                    <p:nvPicPr>
                      <p:cNvPr id="12" name="Object 7">
                        <a:extLst>
                          <a:ext uri="{FF2B5EF4-FFF2-40B4-BE49-F238E27FC236}">
                            <a16:creationId xmlns:a16="http://schemas.microsoft.com/office/drawing/2014/main" id="{55D072CD-1B27-BAAF-5E9B-07F86E15408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4346575"/>
                        <a:ext cx="2979738" cy="752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1751" name="그림 2">
            <a:extLst>
              <a:ext uri="{FF2B5EF4-FFF2-40B4-BE49-F238E27FC236}">
                <a16:creationId xmlns:a16="http://schemas.microsoft.com/office/drawing/2014/main" id="{FDCA673B-3339-73D2-AAC1-79235FD45AC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5200" y="4025900"/>
            <a:ext cx="2279650" cy="217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20">
            <a:extLst>
              <a:ext uri="{FF2B5EF4-FFF2-40B4-BE49-F238E27FC236}">
                <a16:creationId xmlns:a16="http://schemas.microsoft.com/office/drawing/2014/main" id="{F11B2053-E312-C574-4F53-80069E2008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3813" y="5772150"/>
            <a:ext cx="345598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1600"/>
              <a:t>One-dimensional </a:t>
            </a:r>
            <a:r>
              <a:rPr lang="en-US" altLang="ko-KR" sz="1600">
                <a:cs typeface="Times New Roman" panose="02020603050405020304" pitchFamily="18" charset="0"/>
              </a:rPr>
              <a:t>Griewank function</a:t>
            </a:r>
            <a:endParaRPr lang="ko-KR" altLang="en-US" sz="160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6821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3">
            <a:extLst>
              <a:ext uri="{FF2B5EF4-FFF2-40B4-BE49-F238E27FC236}">
                <a16:creationId xmlns:a16="http://schemas.microsoft.com/office/drawing/2014/main" id="{AC4573D0-F6F7-E377-5410-27FFDCFFF6C7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>
          <a:xfrm>
            <a:off x="457200" y="981075"/>
            <a:ext cx="8229600" cy="5256213"/>
          </a:xfrm>
        </p:spPr>
        <p:txBody>
          <a:bodyPr/>
          <a:lstStyle/>
          <a:p>
            <a:pPr marL="611338" lvl="1" indent="-287338" eaLnBrk="1" hangingPunct="1">
              <a:defRPr/>
            </a:pPr>
            <a:r>
              <a:rPr lang="en-US" altLang="ko-KR" dirty="0"/>
              <a:t>Ackley function:</a:t>
            </a:r>
          </a:p>
          <a:p>
            <a:pPr marL="611338" lvl="1" indent="-287338" eaLnBrk="1" hangingPunct="1">
              <a:defRPr/>
            </a:pPr>
            <a:endParaRPr lang="en-US" altLang="ko-KR" dirty="0"/>
          </a:p>
          <a:p>
            <a:pPr marL="611338" lvl="1" indent="-287338" eaLnBrk="1" hangingPunct="1">
              <a:defRPr/>
            </a:pPr>
            <a:endParaRPr lang="en-US" altLang="ko-KR" dirty="0"/>
          </a:p>
          <a:p>
            <a:pPr marL="324000" lvl="1" indent="0" eaLnBrk="1" hangingPunct="1">
              <a:buFont typeface="Arial" panose="020B0604020202020204" pitchFamily="34" charset="0"/>
              <a:buNone/>
              <a:defRPr/>
            </a:pPr>
            <a:r>
              <a:rPr lang="en-US" altLang="ko-KR" dirty="0"/>
              <a:t>     with a global minimum of 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ko-KR" dirty="0"/>
              <a:t> at all zeros</a:t>
            </a:r>
            <a:endParaRPr lang="en-US" altLang="ko-K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eaLnBrk="1" hangingPunct="1">
              <a:defRPr/>
            </a:pPr>
            <a:endParaRPr lang="en-US" altLang="ko-KR" dirty="0"/>
          </a:p>
          <a:p>
            <a:pPr marL="342900" indent="-342900" eaLnBrk="1" hangingPunct="1">
              <a:defRPr/>
            </a:pPr>
            <a:r>
              <a:rPr lang="en-US" altLang="ko-KR" dirty="0"/>
              <a:t>We also try three versions of TSPs </a:t>
            </a:r>
            <a:br>
              <a:rPr lang="en-US" altLang="ko-KR" dirty="0"/>
            </a:br>
            <a:r>
              <a:rPr lang="en-US" altLang="ko-KR" dirty="0"/>
              <a:t>with different numbers of cities located </a:t>
            </a:r>
            <a:br>
              <a:rPr lang="en-US" altLang="ko-KR" dirty="0"/>
            </a:br>
            <a:r>
              <a:rPr lang="en-US" altLang="ko-KR" dirty="0"/>
              <a:t>in a 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 </a:t>
            </a:r>
            <a:r>
              <a:rPr lang="ko-KR" altLang="ko-KR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100</a:t>
            </a:r>
            <a:r>
              <a:rPr lang="en-US" altLang="ko-KR" dirty="0">
                <a:sym typeface="Symbol" panose="05050102010706020507" pitchFamily="18" charset="2"/>
              </a:rPr>
              <a:t> square</a:t>
            </a:r>
            <a:endParaRPr lang="en-US" altLang="ko-KR" dirty="0"/>
          </a:p>
          <a:p>
            <a:pPr marL="666900" lvl="1" indent="-342900" eaLnBrk="1" hangingPunct="1">
              <a:defRPr/>
            </a:pPr>
            <a:r>
              <a:rPr lang="en-US" altLang="ko-KR" dirty="0"/>
              <a:t>We use TSP-N as the name of a </a:t>
            </a:r>
            <a:br>
              <a:rPr lang="en-US" altLang="ko-KR" dirty="0"/>
            </a:br>
            <a:r>
              <a:rPr lang="en-US" altLang="ko-KR" dirty="0"/>
              <a:t>TSP with N cities, where N is 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  <a:r>
              <a:rPr lang="en-US" altLang="ko-KR" dirty="0"/>
              <a:t>, </a:t>
            </a:r>
            <a:br>
              <a:rPr lang="en-US" altLang="ko-KR" dirty="0"/>
            </a:b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</a:t>
            </a:r>
            <a:r>
              <a:rPr lang="en-US" altLang="ko-KR" dirty="0"/>
              <a:t>, and 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</a:p>
          <a:p>
            <a:pPr marL="666900" lvl="1" indent="-342900" eaLnBrk="1" hangingPunct="1">
              <a:defRPr/>
            </a:pPr>
            <a:endParaRPr lang="en-US" altLang="ko-K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4AE7FD79-A7AF-222E-8EAF-6F564E558A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r>
              <a:rPr lang="en-US" altLang="ko-KR">
                <a:solidFill>
                  <a:srgbClr val="99CCFF"/>
                </a:solidFill>
              </a:rPr>
              <a:t>Experiments</a:t>
            </a:r>
          </a:p>
        </p:txBody>
      </p:sp>
      <p:sp>
        <p:nvSpPr>
          <p:cNvPr id="18434" name="바닥글 개체 틀 4">
            <a:extLst>
              <a:ext uri="{FF2B5EF4-FFF2-40B4-BE49-F238E27FC236}">
                <a16:creationId xmlns:a16="http://schemas.microsoft.com/office/drawing/2014/main" id="{420B5D4D-8BA2-8239-3767-3DDB3F505CD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Search Algorithms: Object-Oriented Implementation (Part F)</a:t>
            </a:r>
            <a:endParaRPr lang="ko-KR" altLang="ko-KR"/>
          </a:p>
        </p:txBody>
      </p:sp>
      <p:sp>
        <p:nvSpPr>
          <p:cNvPr id="33797" name="슬라이드 번호 개체 틀 8">
            <a:extLst>
              <a:ext uri="{FF2B5EF4-FFF2-40B4-BE49-F238E27FC236}">
                <a16:creationId xmlns:a16="http://schemas.microsoft.com/office/drawing/2014/main" id="{C960C1EC-1228-333A-9A4E-0ABAA4F4481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D302CF5D-60D4-410F-83BE-E6E53DC15748}" type="slidenum">
              <a:rPr lang="ko-KR" altLang="en-US" sz="1200">
                <a:solidFill>
                  <a:srgbClr val="898989"/>
                </a:solidFill>
                <a:latin typeface="Book Antiqua" panose="02040602050305030304" pitchFamily="18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40</a:t>
            </a:fld>
            <a:endParaRPr lang="en-US" altLang="ko-KR" sz="1200">
              <a:solidFill>
                <a:srgbClr val="898989"/>
              </a:solidFill>
              <a:latin typeface="Book Antiqua" panose="02040602050305030304" pitchFamily="18" charset="0"/>
            </a:endParaRPr>
          </a:p>
        </p:txBody>
      </p:sp>
      <p:graphicFrame>
        <p:nvGraphicFramePr>
          <p:cNvPr id="10" name="Object 7">
            <a:extLst>
              <a:ext uri="{FF2B5EF4-FFF2-40B4-BE49-F238E27FC236}">
                <a16:creationId xmlns:a16="http://schemas.microsoft.com/office/drawing/2014/main" id="{ECD30892-535A-A539-DF1F-BB2616C56F2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76375" y="1425575"/>
          <a:ext cx="5392738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263900" imgH="533400" progId="Equation.DSMT4">
                  <p:embed/>
                </p:oleObj>
              </mc:Choice>
              <mc:Fallback>
                <p:oleObj name="Equation" r:id="rId3" imgW="3263900" imgH="533400" progId="Equation.DSMT4">
                  <p:embed/>
                  <p:pic>
                    <p:nvPicPr>
                      <p:cNvPr id="10" name="Object 7">
                        <a:extLst>
                          <a:ext uri="{FF2B5EF4-FFF2-40B4-BE49-F238E27FC236}">
                            <a16:creationId xmlns:a16="http://schemas.microsoft.com/office/drawing/2014/main" id="{ECD30892-535A-A539-DF1F-BB2616C56F2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1425575"/>
                        <a:ext cx="5392738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3799" name="Picture 10" descr="https://upload.wikimedia.org/wikipedia/commons/thumb/9/98/Ackley%27s_function.pdf/page1-300px-Ackley%27s_function.pdf.jpg">
            <a:extLst>
              <a:ext uri="{FF2B5EF4-FFF2-40B4-BE49-F238E27FC236}">
                <a16:creationId xmlns:a16="http://schemas.microsoft.com/office/drawing/2014/main" id="{111CF76B-CC62-5E6B-1383-255BBF2EB5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725" y="3500438"/>
            <a:ext cx="3263900" cy="2449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20">
            <a:extLst>
              <a:ext uri="{FF2B5EF4-FFF2-40B4-BE49-F238E27FC236}">
                <a16:creationId xmlns:a16="http://schemas.microsoft.com/office/drawing/2014/main" id="{58B816DF-801E-5921-4710-58F337D4CB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7975" y="3141663"/>
            <a:ext cx="3170238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1600"/>
              <a:t>Two-dimensional Ackley</a:t>
            </a:r>
            <a:r>
              <a:rPr lang="en-US" altLang="ko-KR" sz="1600">
                <a:cs typeface="Times New Roman" panose="02020603050405020304" pitchFamily="18" charset="0"/>
              </a:rPr>
              <a:t> function</a:t>
            </a:r>
            <a:endParaRPr lang="ko-KR" altLang="en-US" sz="1600"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3">
            <a:extLst>
              <a:ext uri="{FF2B5EF4-FFF2-40B4-BE49-F238E27FC236}">
                <a16:creationId xmlns:a16="http://schemas.microsoft.com/office/drawing/2014/main" id="{C192E451-71D5-243C-AF39-0B3FFEC18F04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>
          <a:xfrm>
            <a:off x="457200" y="981075"/>
            <a:ext cx="8229600" cy="5256213"/>
          </a:xfrm>
        </p:spPr>
        <p:txBody>
          <a:bodyPr/>
          <a:lstStyle/>
          <a:p>
            <a:pPr marL="287338" indent="-287338" eaLnBrk="1" hangingPunct="1">
              <a:defRPr/>
            </a:pPr>
            <a:r>
              <a:rPr lang="en-US" altLang="ko-KR" dirty="0">
                <a:solidFill>
                  <a:srgbClr val="0033CC"/>
                </a:solidFill>
              </a:rPr>
              <a:t>Step size of mutation</a:t>
            </a:r>
            <a:r>
              <a:rPr lang="en-US" altLang="ko-KR" dirty="0"/>
              <a:t> for the three hill climbers steepest-ascent, first-choice, and stochastic: 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0.01</a:t>
            </a:r>
          </a:p>
          <a:p>
            <a:pPr marL="287338" indent="-287338" eaLnBrk="1" hangingPunct="1">
              <a:defRPr/>
            </a:pPr>
            <a:r>
              <a:rPr lang="en-US" altLang="ko-KR" dirty="0"/>
              <a:t>For the gradient descent algorithm:</a:t>
            </a:r>
          </a:p>
          <a:p>
            <a:pPr marL="611188" lvl="1" indent="-287338" eaLnBrk="1" hangingPunct="1">
              <a:defRPr/>
            </a:pPr>
            <a:r>
              <a:rPr lang="en-US" altLang="ko-KR" dirty="0"/>
              <a:t>Update rate: </a:t>
            </a:r>
            <a:r>
              <a:rPr lang="en-US" altLang="ko-KR" dirty="0">
                <a:latin typeface="Times New Roman" panose="02020603050405020304" pitchFamily="18" charset="0"/>
              </a:rPr>
              <a:t>0.01</a:t>
            </a:r>
          </a:p>
          <a:p>
            <a:pPr marL="611188" lvl="1" indent="-287338" eaLnBrk="1" hangingPunct="1">
              <a:defRPr/>
            </a:pPr>
            <a:r>
              <a:rPr lang="en-US" altLang="ko-KR" dirty="0"/>
              <a:t>Size of </a:t>
            </a:r>
            <a:r>
              <a:rPr lang="en-US" altLang="ko-KR" i="1" dirty="0">
                <a:latin typeface="Times New Roman" panose="02020603050405020304" pitchFamily="18" charset="0"/>
              </a:rPr>
              <a:t>dx</a:t>
            </a:r>
            <a:r>
              <a:rPr lang="en-US" altLang="ko-KR" dirty="0"/>
              <a:t> for calculating gradient: </a:t>
            </a:r>
            <a:r>
              <a:rPr lang="en-US" altLang="ko-KR" dirty="0">
                <a:latin typeface="Times New Roman" panose="02020603050405020304" pitchFamily="18" charset="0"/>
              </a:rPr>
              <a:t>10</a:t>
            </a:r>
            <a:r>
              <a:rPr lang="en-US" altLang="ko-KR" baseline="30000" dirty="0">
                <a:latin typeface="Times New Roman" panose="02020603050405020304" pitchFamily="18" charset="0"/>
              </a:rPr>
              <a:t>–4</a:t>
            </a:r>
          </a:p>
          <a:p>
            <a:pPr marL="287338" indent="-287338" eaLnBrk="1" hangingPunct="1">
              <a:defRPr/>
            </a:pPr>
            <a:endParaRPr lang="en-US" altLang="ko-KR" dirty="0"/>
          </a:p>
          <a:p>
            <a:pPr marL="287338" indent="-287338" eaLnBrk="1" hangingPunct="1">
              <a:defRPr/>
            </a:pPr>
            <a:r>
              <a:rPr lang="en-US" altLang="ko-KR" dirty="0"/>
              <a:t>For the two hill climbers first-choice and stochastic:</a:t>
            </a:r>
          </a:p>
          <a:p>
            <a:pPr marL="611188" lvl="1" indent="-287338" eaLnBrk="1" hangingPunct="1">
              <a:defRPr/>
            </a:pPr>
            <a:r>
              <a:rPr lang="en-US" altLang="ko-KR" dirty="0"/>
              <a:t>Consecutive iterations allowed for no improvement: </a:t>
            </a:r>
            <a:r>
              <a:rPr lang="en-US" altLang="ko-KR" dirty="0">
                <a:latin typeface="Times New Roman" panose="02020603050405020304" pitchFamily="18" charset="0"/>
              </a:rPr>
              <a:t>1,000</a:t>
            </a:r>
          </a:p>
          <a:p>
            <a:pPr marL="287338" indent="-287338" eaLnBrk="1" hangingPunct="1">
              <a:defRPr/>
            </a:pPr>
            <a:endParaRPr lang="en-US" altLang="ko-KR" dirty="0"/>
          </a:p>
          <a:p>
            <a:pPr marL="287338" indent="-287338" eaLnBrk="1" hangingPunct="1">
              <a:defRPr/>
            </a:pPr>
            <a:r>
              <a:rPr lang="en-US" altLang="ko-KR" dirty="0"/>
              <a:t>For the two metaheuristic algorithms:</a:t>
            </a:r>
          </a:p>
          <a:p>
            <a:pPr marL="611338" lvl="1" indent="-287338" eaLnBrk="1" hangingPunct="1">
              <a:defRPr/>
            </a:pPr>
            <a:r>
              <a:rPr lang="en-US" altLang="ko-KR" dirty="0"/>
              <a:t>The total number of evaluations until termination: 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500,000</a:t>
            </a:r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4E4FDA50-959E-FEF1-C5CF-408127C651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r>
              <a:rPr lang="en-US" altLang="ko-KR" sz="2400">
                <a:solidFill>
                  <a:srgbClr val="800080"/>
                </a:solidFill>
              </a:rPr>
              <a:t>Experimental Setting</a:t>
            </a:r>
          </a:p>
        </p:txBody>
      </p:sp>
      <p:sp>
        <p:nvSpPr>
          <p:cNvPr id="18434" name="바닥글 개체 틀 4">
            <a:extLst>
              <a:ext uri="{FF2B5EF4-FFF2-40B4-BE49-F238E27FC236}">
                <a16:creationId xmlns:a16="http://schemas.microsoft.com/office/drawing/2014/main" id="{B843B69C-C945-EAE0-200F-47E377135A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Search Algorithms: Object-Oriented Implementation (Part F)</a:t>
            </a:r>
            <a:endParaRPr lang="ko-KR" altLang="ko-KR"/>
          </a:p>
        </p:txBody>
      </p:sp>
      <p:sp>
        <p:nvSpPr>
          <p:cNvPr id="35845" name="슬라이드 번호 개체 틀 8">
            <a:extLst>
              <a:ext uri="{FF2B5EF4-FFF2-40B4-BE49-F238E27FC236}">
                <a16:creationId xmlns:a16="http://schemas.microsoft.com/office/drawing/2014/main" id="{87B7798D-A7D4-B827-8250-6D6513F889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3EC73614-952A-4B06-91D3-B4843DE70AAC}" type="slidenum">
              <a:rPr lang="ko-KR" altLang="en-US" sz="1200">
                <a:solidFill>
                  <a:srgbClr val="898989"/>
                </a:solidFill>
                <a:latin typeface="Book Antiqua" panose="02040602050305030304" pitchFamily="18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41</a:t>
            </a:fld>
            <a:endParaRPr lang="en-US" altLang="ko-KR" sz="1200">
              <a:solidFill>
                <a:srgbClr val="898989"/>
              </a:solidFill>
              <a:latin typeface="Book Antiqua" panose="02040602050305030304" pitchFamily="18" charset="0"/>
            </a:endParaRPr>
          </a:p>
        </p:txBody>
      </p:sp>
      <p:graphicFrame>
        <p:nvGraphicFramePr>
          <p:cNvPr id="35846" name="Object 7">
            <a:extLst>
              <a:ext uri="{FF2B5EF4-FFF2-40B4-BE49-F238E27FC236}">
                <a16:creationId xmlns:a16="http://schemas.microsoft.com/office/drawing/2014/main" id="{7AF5C64A-ACDE-1879-8190-4C58EF30CA8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67400" y="2589213"/>
          <a:ext cx="2578100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841500" imgH="393700" progId="Equation.DSMT4">
                  <p:embed/>
                </p:oleObj>
              </mc:Choice>
              <mc:Fallback>
                <p:oleObj name="Equation" r:id="rId3" imgW="1841500" imgH="393700" progId="Equation.DSMT4">
                  <p:embed/>
                  <p:pic>
                    <p:nvPicPr>
                      <p:cNvPr id="35846" name="Object 7">
                        <a:extLst>
                          <a:ext uri="{FF2B5EF4-FFF2-40B4-BE49-F238E27FC236}">
                            <a16:creationId xmlns:a16="http://schemas.microsoft.com/office/drawing/2014/main" id="{7AF5C64A-ACDE-1879-8190-4C58EF30CA8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2589213"/>
                        <a:ext cx="2578100" cy="552450"/>
                      </a:xfrm>
                      <a:prstGeom prst="rect">
                        <a:avLst/>
                      </a:prstGeom>
                      <a:solidFill>
                        <a:srgbClr val="DCE6F2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9EFCC5B-4A82-945B-A371-C23B5806E805}"/>
              </a:ext>
            </a:extLst>
          </p:cNvPr>
          <p:cNvSpPr txBox="1"/>
          <p:nvPr/>
        </p:nvSpPr>
        <p:spPr>
          <a:xfrm>
            <a:off x="6300788" y="2012950"/>
            <a:ext cx="1670050" cy="3683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ko-KR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ko-KR" altLang="ko-KR" dirty="0">
                <a:sym typeface="Symbol" pitchFamily="18" charset="2"/>
              </a:rPr>
              <a:t></a:t>
            </a:r>
            <a:r>
              <a:rPr lang="ko-KR" altLang="ko-KR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altLang="ko-KR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ko-KR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b="1" dirty="0"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en-US" altLang="ko-KR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ko-KR" altLang="ko-KR" i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</a:t>
            </a:r>
            <a:r>
              <a:rPr lang="en-US" altLang="ko-KR" sz="1400" i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ko-KR" alt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</a:t>
            </a:r>
            <a:r>
              <a:rPr lang="en-US" altLang="ko-KR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altLang="ko-KR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</a:t>
            </a:r>
            <a:r>
              <a:rPr lang="en-US" altLang="ko-KR" b="1" i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x</a:t>
            </a:r>
            <a:r>
              <a:rPr lang="en-US" altLang="ko-KR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)</a:t>
            </a:r>
            <a:endParaRPr lang="ko-KR" altLang="en-US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3">
            <a:extLst>
              <a:ext uri="{FF2B5EF4-FFF2-40B4-BE49-F238E27FC236}">
                <a16:creationId xmlns:a16="http://schemas.microsoft.com/office/drawing/2014/main" id="{7E5ABECC-9F14-4EC9-4A4A-17DD8E01E995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>
          <a:xfrm>
            <a:off x="457200" y="981075"/>
            <a:ext cx="8229600" cy="5256213"/>
          </a:xfrm>
        </p:spPr>
        <p:txBody>
          <a:bodyPr/>
          <a:lstStyle/>
          <a:p>
            <a:pPr marL="287338" indent="-287338" eaLnBrk="1" hangingPunct="1"/>
            <a:r>
              <a:rPr lang="en-US" altLang="ko-KR" sz="1800" dirty="0"/>
              <a:t>Population size of GA: 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</a:p>
          <a:p>
            <a:pPr marL="287338" indent="-287338" eaLnBrk="1" hangingPunct="1"/>
            <a:endParaRPr lang="en-US" altLang="ko-KR" sz="1800" dirty="0"/>
          </a:p>
          <a:p>
            <a:pPr marL="287338" indent="-287338" eaLnBrk="1" hangingPunct="1"/>
            <a:r>
              <a:rPr lang="en-US" altLang="ko-KR" sz="1800" dirty="0"/>
              <a:t>GA for numerical optimization:</a:t>
            </a:r>
          </a:p>
          <a:p>
            <a:pPr marL="611188" lvl="1" indent="-287338" eaLnBrk="1" hangingPunct="1"/>
            <a:r>
              <a:rPr lang="en-US" altLang="ko-KR" sz="1800" dirty="0"/>
              <a:t>The length of binary chromosome per variable: </a:t>
            </a:r>
            <a:r>
              <a:rPr lang="en-US" altLang="ko-KR" sz="1800" dirty="0">
                <a:latin typeface="Times New Roman" panose="02020603050405020304" pitchFamily="18" charset="0"/>
              </a:rPr>
              <a:t>10</a:t>
            </a:r>
          </a:p>
          <a:p>
            <a:pPr marL="611188" lvl="1" indent="-287338" eaLnBrk="1" hangingPunct="1"/>
            <a:r>
              <a:rPr lang="en-US" altLang="ko-KR" sz="1800" dirty="0"/>
              <a:t>Swap probability for uniform crossover: </a:t>
            </a:r>
            <a:r>
              <a:rPr lang="en-US" altLang="ko-KR" sz="1800" dirty="0">
                <a:latin typeface="Times New Roman" panose="02020603050405020304" pitchFamily="18" charset="0"/>
              </a:rPr>
              <a:t>0.2</a:t>
            </a:r>
          </a:p>
          <a:p>
            <a:pPr marL="611188" lvl="1" indent="-287338" eaLnBrk="1" hangingPunct="1"/>
            <a:r>
              <a:rPr lang="en-US" altLang="ko-KR" sz="1800" dirty="0"/>
              <a:t>Multiplication factor to </a:t>
            </a:r>
            <a:r>
              <a:rPr lang="en-US" altLang="ko-KR" sz="1800" dirty="0">
                <a:solidFill>
                  <a:srgbClr val="0033CC"/>
                </a:solidFill>
                <a:latin typeface="Times New Roman" panose="02020603050405020304" pitchFamily="18" charset="0"/>
              </a:rPr>
              <a:t>1/</a:t>
            </a:r>
            <a:r>
              <a:rPr lang="en-US" altLang="ko-KR" sz="1800" i="1" dirty="0">
                <a:solidFill>
                  <a:srgbClr val="0033CC"/>
                </a:solidFill>
                <a:latin typeface="Times New Roman" panose="02020603050405020304" pitchFamily="18" charset="0"/>
              </a:rPr>
              <a:t>l</a:t>
            </a:r>
            <a:r>
              <a:rPr lang="en-US" altLang="ko-KR" sz="1800" dirty="0"/>
              <a:t> for mutation (</a:t>
            </a:r>
            <a:r>
              <a:rPr lang="en-US" altLang="ko-KR" sz="1800" i="1" dirty="0">
                <a:latin typeface="Times New Roman" panose="02020603050405020304" pitchFamily="18" charset="0"/>
              </a:rPr>
              <a:t>l</a:t>
            </a:r>
            <a:r>
              <a:rPr lang="en-US" altLang="ko-KR" sz="1800" dirty="0"/>
              <a:t>: length of chromosome): </a:t>
            </a:r>
            <a:r>
              <a:rPr lang="en-US" altLang="ko-KR" sz="1800" dirty="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</a:p>
          <a:p>
            <a:pPr marL="899188" lvl="2" indent="-287338" eaLnBrk="1" hangingPunct="1"/>
            <a:r>
              <a:rPr lang="en-US" altLang="ko-KR" sz="1800" dirty="0"/>
              <a:t>Thereby, the probability to</a:t>
            </a:r>
            <a:r>
              <a:rPr lang="ko-KR" altLang="en-US" sz="1800" dirty="0"/>
              <a:t> </a:t>
            </a:r>
            <a:r>
              <a:rPr lang="en-US" altLang="ko-K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mutate</a:t>
            </a:r>
            <a:r>
              <a:rPr lang="en-US" altLang="ko-KR" sz="1800" dirty="0"/>
              <a:t> for each index is</a:t>
            </a:r>
            <a:r>
              <a:rPr lang="en-US" altLang="ko-KR" sz="1800" dirty="0">
                <a:latin typeface="Times New Roman" panose="02020603050405020304" pitchFamily="18" charset="0"/>
              </a:rPr>
              <a:t> =</a:t>
            </a:r>
            <a:r>
              <a:rPr lang="en-US" altLang="ko-KR" sz="1800" dirty="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lang="ko-KR" altLang="en-US" sz="1800" dirty="0">
                <a:latin typeface="Times New Roman" panose="02020603050405020304" pitchFamily="18" charset="0"/>
              </a:rPr>
              <a:t>*</a:t>
            </a:r>
            <a:r>
              <a:rPr lang="en-US" altLang="ko-KR" sz="1800" dirty="0">
                <a:solidFill>
                  <a:srgbClr val="0033CC"/>
                </a:solidFill>
                <a:latin typeface="Times New Roman" panose="02020603050405020304" pitchFamily="18" charset="0"/>
              </a:rPr>
              <a:t>1/</a:t>
            </a:r>
            <a:r>
              <a:rPr lang="en-US" altLang="ko-KR" sz="1800" i="1" dirty="0">
                <a:solidFill>
                  <a:srgbClr val="0033CC"/>
                </a:solidFill>
                <a:latin typeface="Times New Roman" panose="02020603050405020304" pitchFamily="18" charset="0"/>
              </a:rPr>
              <a:t> l</a:t>
            </a:r>
            <a:endParaRPr lang="en-US" altLang="ko-KR" sz="1800" dirty="0">
              <a:solidFill>
                <a:srgbClr val="0033CC"/>
              </a:solidFill>
              <a:latin typeface="Times New Roman" panose="02020603050405020304" pitchFamily="18" charset="0"/>
            </a:endParaRPr>
          </a:p>
          <a:p>
            <a:pPr marL="287338" indent="-287338" eaLnBrk="1" hangingPunct="1"/>
            <a:endParaRPr lang="en-US" altLang="ko-KR" sz="1800" dirty="0"/>
          </a:p>
          <a:p>
            <a:pPr marL="287338" indent="-287338" eaLnBrk="1" hangingPunct="1"/>
            <a:r>
              <a:rPr lang="en-US" altLang="ko-KR" sz="1800" dirty="0"/>
              <a:t>GA for TSP:</a:t>
            </a:r>
          </a:p>
          <a:p>
            <a:pPr marL="611188" lvl="1" indent="-287338" eaLnBrk="1" hangingPunct="1"/>
            <a:r>
              <a:rPr lang="en-US" altLang="ko-KR" sz="1800" dirty="0"/>
              <a:t>Crossover (ordered crossover) rate: </a:t>
            </a:r>
            <a:r>
              <a:rPr lang="en-US" altLang="ko-KR" sz="1800" dirty="0">
                <a:latin typeface="Times New Roman" panose="02020603050405020304" pitchFamily="18" charset="0"/>
              </a:rPr>
              <a:t>0.5</a:t>
            </a:r>
          </a:p>
          <a:p>
            <a:pPr marL="611188" lvl="1" indent="-287338" eaLnBrk="1" hangingPunct="1"/>
            <a:r>
              <a:rPr lang="en-US" altLang="ko-KR" sz="1800" dirty="0"/>
              <a:t>Mutation (inversion) rate: </a:t>
            </a:r>
            <a:r>
              <a:rPr lang="en-US" altLang="ko-KR" sz="1800" dirty="0">
                <a:latin typeface="Times New Roman" panose="02020603050405020304" pitchFamily="18" charset="0"/>
              </a:rPr>
              <a:t>0.2</a:t>
            </a:r>
          </a:p>
          <a:p>
            <a:pPr marL="287338" indent="-287338" eaLnBrk="1" hangingPunct="1"/>
            <a:endParaRPr lang="en-US" altLang="ko-KR" sz="1800" dirty="0"/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C309A066-80B8-E1CB-7C9C-358C3A2393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r>
              <a:rPr lang="en-US" altLang="ko-KR" sz="2400">
                <a:solidFill>
                  <a:srgbClr val="D7ADD9"/>
                </a:solidFill>
              </a:rPr>
              <a:t>Experimental Setting</a:t>
            </a:r>
          </a:p>
        </p:txBody>
      </p:sp>
      <p:sp>
        <p:nvSpPr>
          <p:cNvPr id="18434" name="바닥글 개체 틀 4">
            <a:extLst>
              <a:ext uri="{FF2B5EF4-FFF2-40B4-BE49-F238E27FC236}">
                <a16:creationId xmlns:a16="http://schemas.microsoft.com/office/drawing/2014/main" id="{276FF90A-6544-4D7C-B8D5-2A6CE491A8F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Search Algorithms: Object-Oriented Implementation (Part F)</a:t>
            </a:r>
            <a:endParaRPr lang="ko-KR" altLang="ko-KR"/>
          </a:p>
        </p:txBody>
      </p:sp>
      <p:sp>
        <p:nvSpPr>
          <p:cNvPr id="37893" name="슬라이드 번호 개체 틀 8">
            <a:extLst>
              <a:ext uri="{FF2B5EF4-FFF2-40B4-BE49-F238E27FC236}">
                <a16:creationId xmlns:a16="http://schemas.microsoft.com/office/drawing/2014/main" id="{FB4D4E06-546D-5281-23B8-CE156239D57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FDF36D9A-6E4C-4AD6-B8C1-FFF4D2F8A412}" type="slidenum">
              <a:rPr lang="ko-KR" altLang="en-US" sz="1200">
                <a:solidFill>
                  <a:srgbClr val="898989"/>
                </a:solidFill>
                <a:latin typeface="Book Antiqua" panose="02040602050305030304" pitchFamily="18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42</a:t>
            </a:fld>
            <a:endParaRPr lang="en-US" altLang="ko-KR" sz="1200">
              <a:solidFill>
                <a:srgbClr val="898989"/>
              </a:solidFill>
              <a:latin typeface="Book Antiqua" panose="02040602050305030304" pitchFamily="18" charset="0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3">
            <a:extLst>
              <a:ext uri="{FF2B5EF4-FFF2-40B4-BE49-F238E27FC236}">
                <a16:creationId xmlns:a16="http://schemas.microsoft.com/office/drawing/2014/main" id="{380B4EE6-858A-83B8-4621-9A47B4C282D0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>
          <a:xfrm>
            <a:off x="457200" y="981075"/>
            <a:ext cx="8229600" cy="5256213"/>
          </a:xfrm>
        </p:spPr>
        <p:txBody>
          <a:bodyPr/>
          <a:lstStyle/>
          <a:p>
            <a:pPr marL="287338" indent="-287338" eaLnBrk="1" hangingPunct="1">
              <a:defRPr/>
            </a:pPr>
            <a:r>
              <a:rPr lang="en-US" altLang="ko-KR" sz="1800" dirty="0"/>
              <a:t>The numbers shown in the table are the </a:t>
            </a:r>
            <a:r>
              <a:rPr lang="en-US" altLang="ko-KR" sz="1800" u="sng" dirty="0"/>
              <a:t>averages of </a:t>
            </a:r>
            <a:r>
              <a:rPr lang="en-US" altLang="ko-KR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ko-KR" sz="1800" u="sng" dirty="0"/>
              <a:t> experiments</a:t>
            </a:r>
          </a:p>
          <a:p>
            <a:pPr marL="611338" lvl="1" indent="-287338" eaLnBrk="1" hangingPunct="1">
              <a:defRPr/>
            </a:pPr>
            <a:r>
              <a:rPr lang="en-US" altLang="ko-KR" sz="1800" dirty="0"/>
              <a:t>All the hill climbers are randomly restarted by 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ko-KR" sz="1800" dirty="0"/>
              <a:t> times in each experiment</a:t>
            </a:r>
          </a:p>
          <a:p>
            <a:pPr eaLnBrk="1" hangingPunct="1">
              <a:defRPr/>
            </a:pPr>
            <a:r>
              <a:rPr lang="en-US" altLang="ko-KR" sz="1800" dirty="0"/>
              <a:t>The four numbers in each cell represent the following:</a:t>
            </a:r>
          </a:p>
          <a:p>
            <a:pPr lvl="1" eaLnBrk="1" hangingPunct="1">
              <a:defRPr/>
            </a:pPr>
            <a:r>
              <a:rPr lang="en-US" altLang="ko-KR" sz="1800" dirty="0"/>
              <a:t>Average objective value (left top)</a:t>
            </a:r>
          </a:p>
          <a:p>
            <a:pPr lvl="1" eaLnBrk="1" hangingPunct="1">
              <a:defRPr/>
            </a:pPr>
            <a:r>
              <a:rPr lang="en-US" altLang="ko-KR" sz="1800" dirty="0"/>
              <a:t>Best objective value found (left bottom)</a:t>
            </a:r>
          </a:p>
          <a:p>
            <a:pPr lvl="1" eaLnBrk="1" hangingPunct="1">
              <a:defRPr/>
            </a:pPr>
            <a:r>
              <a:rPr lang="en-US" altLang="ko-KR" sz="1800" dirty="0"/>
              <a:t>Average number of evaluations (right top)</a:t>
            </a:r>
          </a:p>
          <a:p>
            <a:pPr lvl="1" eaLnBrk="1" hangingPunct="1">
              <a:defRPr/>
            </a:pPr>
            <a:r>
              <a:rPr lang="en-US" altLang="ko-KR" sz="1800" dirty="0"/>
              <a:t>Average iteration of finding the best solution (right bottom)</a:t>
            </a:r>
            <a:br>
              <a:rPr lang="en-US" altLang="ko-KR" sz="1800" dirty="0"/>
            </a:br>
            <a:r>
              <a:rPr lang="en-US" altLang="ko-KR" sz="1800" dirty="0"/>
              <a:t>(only for GA and Simulated Annealing)</a:t>
            </a:r>
          </a:p>
          <a:p>
            <a:pPr eaLnBrk="1" hangingPunct="1">
              <a:defRPr/>
            </a:pPr>
            <a:r>
              <a:rPr lang="en-US" altLang="ko-KR" sz="1800" u="sng" dirty="0"/>
              <a:t>Bold-faced letters indicate the best result </a:t>
            </a:r>
            <a:r>
              <a:rPr lang="en-US" altLang="ko-KR" sz="1800" dirty="0"/>
              <a:t>among different optimizers</a:t>
            </a:r>
          </a:p>
          <a:p>
            <a:pPr eaLnBrk="1" hangingPunct="1">
              <a:defRPr/>
            </a:pPr>
            <a:r>
              <a:rPr lang="en-US" altLang="ko-KR" sz="1800" dirty="0"/>
              <a:t>For TSPs, the results are compared with those obtained by the </a:t>
            </a:r>
            <a:r>
              <a:rPr lang="en-US" altLang="ko-KR" sz="1800" u="sng" dirty="0"/>
              <a:t>nearest-neighbor algorithm</a:t>
            </a:r>
            <a:r>
              <a:rPr lang="en-US" altLang="ko-KR" sz="1800" dirty="0"/>
              <a:t>, which starts from a random city and keeps visiting the one that is the closest (</a:t>
            </a:r>
            <a:r>
              <a:rPr lang="ko-KR" altLang="en-US" sz="1800" dirty="0"/>
              <a:t>무작위로 선택된 도시에서 출발하고</a:t>
            </a:r>
            <a:r>
              <a:rPr lang="en-US" altLang="ko-KR" sz="1800" dirty="0"/>
              <a:t>, </a:t>
            </a:r>
            <a:r>
              <a:rPr lang="ko-KR" altLang="en-US" sz="1800" dirty="0"/>
              <a:t>가장 가까운 도시를 방문하는 전략</a:t>
            </a:r>
            <a:r>
              <a:rPr lang="en-US" altLang="ko-KR" sz="1800" dirty="0"/>
              <a:t>)</a:t>
            </a:r>
          </a:p>
          <a:p>
            <a:pPr eaLnBrk="1" hangingPunct="1">
              <a:defRPr/>
            </a:pPr>
            <a:endParaRPr lang="en-US" altLang="ko-KR" sz="1800" dirty="0"/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43CB9CD0-6AD0-64AC-DA33-7DC9CA8621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r>
              <a:rPr lang="en-US" altLang="ko-KR" sz="2400">
                <a:solidFill>
                  <a:srgbClr val="800080"/>
                </a:solidFill>
              </a:rPr>
              <a:t>Experimental Results</a:t>
            </a:r>
          </a:p>
        </p:txBody>
      </p:sp>
      <p:sp>
        <p:nvSpPr>
          <p:cNvPr id="18434" name="바닥글 개체 틀 4">
            <a:extLst>
              <a:ext uri="{FF2B5EF4-FFF2-40B4-BE49-F238E27FC236}">
                <a16:creationId xmlns:a16="http://schemas.microsoft.com/office/drawing/2014/main" id="{2A30523C-6585-ABC2-54D8-7DA17FADDEF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Search Algorithms: Object-Oriented Implementation (Part F)</a:t>
            </a:r>
            <a:endParaRPr lang="ko-KR" altLang="ko-KR"/>
          </a:p>
        </p:txBody>
      </p:sp>
      <p:sp>
        <p:nvSpPr>
          <p:cNvPr id="39941" name="슬라이드 번호 개체 틀 8">
            <a:extLst>
              <a:ext uri="{FF2B5EF4-FFF2-40B4-BE49-F238E27FC236}">
                <a16:creationId xmlns:a16="http://schemas.microsoft.com/office/drawing/2014/main" id="{4AD7E2F2-8F0A-9499-85BA-966A9A68838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6513FCE5-5F83-42E5-BCC1-7FD05BC8B092}" type="slidenum">
              <a:rPr lang="ko-KR" altLang="en-US" sz="1200">
                <a:solidFill>
                  <a:srgbClr val="898989"/>
                </a:solidFill>
                <a:latin typeface="Book Antiqua" panose="02040602050305030304" pitchFamily="18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43</a:t>
            </a:fld>
            <a:endParaRPr lang="en-US" altLang="ko-KR" sz="1200">
              <a:solidFill>
                <a:srgbClr val="898989"/>
              </a:solidFill>
              <a:latin typeface="Book Antiqua" panose="02040602050305030304" pitchFamily="18" charset="0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3">
            <a:extLst>
              <a:ext uri="{FF2B5EF4-FFF2-40B4-BE49-F238E27FC236}">
                <a16:creationId xmlns:a16="http://schemas.microsoft.com/office/drawing/2014/main" id="{8A9F9062-F585-05F6-A748-E64EC7D73A2E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>
          <a:xfrm>
            <a:off x="457200" y="981075"/>
            <a:ext cx="8229600" cy="5256213"/>
          </a:xfrm>
        </p:spPr>
        <p:txBody>
          <a:bodyPr/>
          <a:lstStyle/>
          <a:p>
            <a:pPr marL="287338" indent="-287338" eaLnBrk="1" hangingPunct="1"/>
            <a:r>
              <a:rPr lang="en-US" altLang="ko-KR" sz="1800" dirty="0"/>
              <a:t>Convex function:</a:t>
            </a:r>
          </a:p>
          <a:p>
            <a:pPr marL="611188" lvl="1" indent="-287338" eaLnBrk="1" hangingPunct="1"/>
            <a:r>
              <a:rPr lang="en-US" altLang="ko-KR" sz="1800" u="sng" dirty="0"/>
              <a:t>All the algorithms except GA found the optimal solution</a:t>
            </a:r>
          </a:p>
          <a:p>
            <a:pPr marL="611188" lvl="1" indent="-287338" eaLnBrk="1" hangingPunct="1"/>
            <a:r>
              <a:rPr lang="en-US" altLang="ko-KR" sz="1800" u="sng" dirty="0"/>
              <a:t>Gradient descent reaches the optimum the fastest</a:t>
            </a:r>
            <a:br>
              <a:rPr lang="en-US" altLang="ko-KR" sz="1800" dirty="0"/>
            </a:br>
            <a:r>
              <a:rPr lang="en-US" altLang="ko-KR" sz="1800" dirty="0"/>
              <a:t>(SA is faster but it does not terminate automatically)</a:t>
            </a:r>
          </a:p>
          <a:p>
            <a:pPr marL="611188" lvl="1" indent="-287338" eaLnBrk="1" hangingPunct="1"/>
            <a:r>
              <a:rPr lang="en-US" altLang="ko-KR" sz="1800" dirty="0"/>
              <a:t>First-choice is faster than steepest-ascent</a:t>
            </a:r>
          </a:p>
          <a:p>
            <a:pPr marL="287338" indent="-287338" eaLnBrk="1" hangingPunct="1"/>
            <a:endParaRPr lang="en-US" altLang="ko-KR" sz="1800" dirty="0"/>
          </a:p>
          <a:p>
            <a:pPr marL="287338" indent="-287338" eaLnBrk="1" hangingPunct="1"/>
            <a:r>
              <a:rPr lang="en-US" altLang="ko-KR" sz="1800" dirty="0" err="1"/>
              <a:t>Griewank</a:t>
            </a:r>
            <a:r>
              <a:rPr lang="en-US" altLang="ko-KR" sz="1800" dirty="0"/>
              <a:t> function:</a:t>
            </a:r>
          </a:p>
          <a:p>
            <a:pPr marL="611188" lvl="1" indent="-287338" eaLnBrk="1" hangingPunct="1"/>
            <a:r>
              <a:rPr lang="en-US" altLang="ko-KR" sz="1800" dirty="0"/>
              <a:t>GA performs much better than the others</a:t>
            </a:r>
          </a:p>
          <a:p>
            <a:pPr marL="611188" lvl="1" indent="-287338" eaLnBrk="1" hangingPunct="1"/>
            <a:r>
              <a:rPr lang="en-US" altLang="ko-KR" sz="1800" dirty="0"/>
              <a:t>SA performs worse than the hill climbers</a:t>
            </a:r>
          </a:p>
          <a:p>
            <a:pPr marL="287338" indent="-287338" eaLnBrk="1" hangingPunct="1"/>
            <a:endParaRPr lang="en-US" altLang="ko-KR" sz="1800" dirty="0"/>
          </a:p>
          <a:p>
            <a:pPr marL="287338" indent="-287338" eaLnBrk="1" hangingPunct="1"/>
            <a:r>
              <a:rPr lang="en-US" altLang="ko-KR" sz="1800" dirty="0"/>
              <a:t>Ackley function:</a:t>
            </a:r>
          </a:p>
          <a:p>
            <a:pPr marL="611188" lvl="1" indent="-287338" eaLnBrk="1" hangingPunct="1"/>
            <a:r>
              <a:rPr lang="en-US" altLang="ko-KR" sz="1800" dirty="0"/>
              <a:t>GA is much better than the others</a:t>
            </a:r>
          </a:p>
          <a:p>
            <a:pPr marL="611188" lvl="1" indent="-287338" eaLnBrk="1" hangingPunct="1"/>
            <a:r>
              <a:rPr lang="en-US" altLang="ko-KR" sz="1800" dirty="0"/>
              <a:t>SA performs worse than the hill climbers</a:t>
            </a:r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3EF8CAF2-C194-6FD1-B645-196E3ECF65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r>
              <a:rPr lang="en-US" altLang="ko-KR" sz="2400">
                <a:solidFill>
                  <a:srgbClr val="D7ADD9"/>
                </a:solidFill>
              </a:rPr>
              <a:t>Experimental Results</a:t>
            </a:r>
          </a:p>
        </p:txBody>
      </p:sp>
      <p:sp>
        <p:nvSpPr>
          <p:cNvPr id="18434" name="바닥글 개체 틀 4">
            <a:extLst>
              <a:ext uri="{FF2B5EF4-FFF2-40B4-BE49-F238E27FC236}">
                <a16:creationId xmlns:a16="http://schemas.microsoft.com/office/drawing/2014/main" id="{72E57864-4488-2752-22E6-5CD3DFEC77E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Search Algorithms: Object-Oriented Implementation (Part F)</a:t>
            </a:r>
            <a:endParaRPr lang="ko-KR" altLang="ko-KR"/>
          </a:p>
        </p:txBody>
      </p:sp>
      <p:sp>
        <p:nvSpPr>
          <p:cNvPr id="41989" name="슬라이드 번호 개체 틀 8">
            <a:extLst>
              <a:ext uri="{FF2B5EF4-FFF2-40B4-BE49-F238E27FC236}">
                <a16:creationId xmlns:a16="http://schemas.microsoft.com/office/drawing/2014/main" id="{6EAB2928-3E65-5E77-C850-31319EE91DF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4A1DBFB0-2CC3-4770-9C18-250E656C7D56}" type="slidenum">
              <a:rPr lang="ko-KR" altLang="en-US" sz="1200">
                <a:solidFill>
                  <a:srgbClr val="898989"/>
                </a:solidFill>
                <a:latin typeface="Book Antiqua" panose="02040602050305030304" pitchFamily="18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44</a:t>
            </a:fld>
            <a:endParaRPr lang="en-US" altLang="ko-KR" sz="1200">
              <a:solidFill>
                <a:srgbClr val="898989"/>
              </a:solidFill>
              <a:latin typeface="Book Antiqua" panose="02040602050305030304" pitchFamily="18" charset="0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3">
            <a:extLst>
              <a:ext uri="{FF2B5EF4-FFF2-40B4-BE49-F238E27FC236}">
                <a16:creationId xmlns:a16="http://schemas.microsoft.com/office/drawing/2014/main" id="{C9448669-A52E-3D32-BD63-FB3E51C19920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>
          <a:xfrm>
            <a:off x="457200" y="981075"/>
            <a:ext cx="8229600" cy="5256213"/>
          </a:xfrm>
        </p:spPr>
        <p:txBody>
          <a:bodyPr/>
          <a:lstStyle/>
          <a:p>
            <a:pPr marL="287338" indent="-287338" eaLnBrk="1" hangingPunct="1"/>
            <a:r>
              <a:rPr lang="en-US" altLang="ko-KR" sz="1800" dirty="0"/>
              <a:t>TSPs:</a:t>
            </a:r>
          </a:p>
          <a:p>
            <a:pPr marL="611188" lvl="1" indent="-287338" eaLnBrk="1" hangingPunct="1"/>
            <a:r>
              <a:rPr lang="en-US" altLang="ko-KR" sz="1800" dirty="0"/>
              <a:t>Steepest-ascent is worse than nearest-neighbor</a:t>
            </a:r>
          </a:p>
          <a:p>
            <a:pPr marL="611188" lvl="1" indent="-287338" eaLnBrk="1" hangingPunct="1"/>
            <a:r>
              <a:rPr lang="en-US" altLang="ko-KR" sz="1800" dirty="0"/>
              <a:t>Stochastic shows the best average performance with TSP-50</a:t>
            </a:r>
          </a:p>
          <a:p>
            <a:pPr marL="898525" lvl="2" indent="-287338" eaLnBrk="1" hangingPunct="1"/>
            <a:r>
              <a:rPr lang="en-US" altLang="ko-KR" sz="1800" dirty="0"/>
              <a:t>But it took too many iterations to solve TSP-100</a:t>
            </a:r>
          </a:p>
          <a:p>
            <a:pPr marL="611188" lvl="1" indent="-287338" eaLnBrk="1" hangingPunct="1"/>
            <a:r>
              <a:rPr lang="en-US" altLang="ko-KR" sz="1800" dirty="0"/>
              <a:t>SA shows the overall best performance</a:t>
            </a:r>
          </a:p>
          <a:p>
            <a:pPr marL="611188" lvl="1" indent="-287338" eaLnBrk="1" hangingPunct="1"/>
            <a:r>
              <a:rPr lang="en-US" altLang="ko-KR" sz="1800" dirty="0"/>
              <a:t>GA does not show any competitive performance when the problem size is small (TSP-30)</a:t>
            </a:r>
          </a:p>
          <a:p>
            <a:pPr marL="611188" lvl="1" indent="-287338" eaLnBrk="1" hangingPunct="1"/>
            <a:endParaRPr lang="en-US" altLang="ko-KR" sz="1100" dirty="0"/>
          </a:p>
          <a:p>
            <a:pPr marL="287338" indent="-287338" eaLnBrk="1" hangingPunct="1"/>
            <a:r>
              <a:rPr lang="en-US" altLang="ko-KR" sz="1800" u="sng" dirty="0"/>
              <a:t>The quality of the solution found by metaheuristic algorithms is better than that by hill climbers for most problems</a:t>
            </a:r>
          </a:p>
          <a:p>
            <a:pPr marL="287338" indent="-287338" eaLnBrk="1" hangingPunct="1"/>
            <a:r>
              <a:rPr lang="en-US" altLang="ko-KR" sz="1800" dirty="0"/>
              <a:t>A hill climber should be the choice if the problem is convex</a:t>
            </a:r>
          </a:p>
          <a:p>
            <a:pPr marL="287338" indent="-287338" eaLnBrk="1" hangingPunct="1"/>
            <a:r>
              <a:rPr lang="en-US" altLang="ko-KR" sz="1800" dirty="0"/>
              <a:t>The results reported here are obtained without enough parameter tuning  (more careful investigation is needed)</a:t>
            </a:r>
          </a:p>
          <a:p>
            <a:pPr marL="287338" indent="-287338" eaLnBrk="1" hangingPunct="1"/>
            <a:endParaRPr lang="en-US" altLang="ko-KR" sz="1800" dirty="0"/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E828D62A-7AA8-6D66-F62B-18AEF65EDB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r>
              <a:rPr lang="en-US" altLang="ko-KR" sz="2400">
                <a:solidFill>
                  <a:srgbClr val="D7ADD9"/>
                </a:solidFill>
              </a:rPr>
              <a:t>Experimental Results</a:t>
            </a:r>
          </a:p>
        </p:txBody>
      </p:sp>
      <p:sp>
        <p:nvSpPr>
          <p:cNvPr id="18434" name="바닥글 개체 틀 4">
            <a:extLst>
              <a:ext uri="{FF2B5EF4-FFF2-40B4-BE49-F238E27FC236}">
                <a16:creationId xmlns:a16="http://schemas.microsoft.com/office/drawing/2014/main" id="{D4D57E74-B52A-7585-ACBA-DF8CABD60F2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Search Algorithms: Object-Oriented Implementation (Part F)</a:t>
            </a:r>
            <a:endParaRPr lang="ko-KR" altLang="ko-KR"/>
          </a:p>
        </p:txBody>
      </p:sp>
      <p:sp>
        <p:nvSpPr>
          <p:cNvPr id="44037" name="슬라이드 번호 개체 틀 8">
            <a:extLst>
              <a:ext uri="{FF2B5EF4-FFF2-40B4-BE49-F238E27FC236}">
                <a16:creationId xmlns:a16="http://schemas.microsoft.com/office/drawing/2014/main" id="{250E7C2E-79E6-3257-942C-6D81D92EAE8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D6C51E2E-2F52-4932-936E-0B0A8B5BB16D}" type="slidenum">
              <a:rPr lang="ko-KR" altLang="en-US" sz="1200">
                <a:solidFill>
                  <a:srgbClr val="898989"/>
                </a:solidFill>
                <a:latin typeface="Book Antiqua" panose="02040602050305030304" pitchFamily="18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45</a:t>
            </a:fld>
            <a:endParaRPr lang="en-US" altLang="ko-KR" sz="1200">
              <a:solidFill>
                <a:srgbClr val="898989"/>
              </a:solidFill>
              <a:latin typeface="Book Antiqua" panose="02040602050305030304" pitchFamily="18" charset="0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3">
            <a:extLst>
              <a:ext uri="{FF2B5EF4-FFF2-40B4-BE49-F238E27FC236}">
                <a16:creationId xmlns:a16="http://schemas.microsoft.com/office/drawing/2014/main" id="{7A884E17-66A2-FED5-52CD-BD0F99A1255F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>
          <a:xfrm>
            <a:off x="446088" y="981075"/>
            <a:ext cx="8229600" cy="5256213"/>
          </a:xfrm>
        </p:spPr>
        <p:txBody>
          <a:bodyPr/>
          <a:lstStyle/>
          <a:p>
            <a:pPr marL="287338" indent="-287338"/>
            <a:endParaRPr lang="en-US" altLang="ko-KR"/>
          </a:p>
          <a:p>
            <a:pPr marL="287338" indent="-287338"/>
            <a:endParaRPr lang="en-US" altLang="ko-KR"/>
          </a:p>
          <a:p>
            <a:pPr marL="287338" indent="-287338"/>
            <a:endParaRPr lang="en-US" altLang="ko-KR"/>
          </a:p>
          <a:p>
            <a:pPr marL="287338" indent="-287338"/>
            <a:endParaRPr lang="en-US" altLang="ko-KR"/>
          </a:p>
          <a:p>
            <a:pPr marL="287338" indent="-287338"/>
            <a:endParaRPr lang="en-US" altLang="ko-KR"/>
          </a:p>
          <a:p>
            <a:pPr marL="287338" indent="-287338"/>
            <a:endParaRPr lang="en-US" altLang="ko-KR"/>
          </a:p>
          <a:p>
            <a:pPr marL="287338" indent="-287338"/>
            <a:endParaRPr lang="en-US" altLang="ko-KR"/>
          </a:p>
          <a:p>
            <a:pPr marL="287338" indent="-287338"/>
            <a:endParaRPr lang="en-US" altLang="ko-KR"/>
          </a:p>
          <a:p>
            <a:pPr marL="287338" indent="-287338"/>
            <a:endParaRPr lang="en-US" altLang="ko-KR"/>
          </a:p>
          <a:p>
            <a:pPr marL="287338" indent="-287338"/>
            <a:endParaRPr lang="en-US" altLang="ko-KR"/>
          </a:p>
          <a:p>
            <a:pPr marL="287338" indent="-287338"/>
            <a:endParaRPr lang="en-US" altLang="ko-KR"/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9C6AF8AD-5A3E-F0EA-35DB-94A0187D5A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r>
              <a:rPr lang="en-US" altLang="ko-KR" sz="2400"/>
              <a:t>Results of Numerical Optimization</a:t>
            </a:r>
          </a:p>
        </p:txBody>
      </p:sp>
      <p:sp>
        <p:nvSpPr>
          <p:cNvPr id="18434" name="바닥글 개체 틀 4">
            <a:extLst>
              <a:ext uri="{FF2B5EF4-FFF2-40B4-BE49-F238E27FC236}">
                <a16:creationId xmlns:a16="http://schemas.microsoft.com/office/drawing/2014/main" id="{0955545A-4867-4115-2C37-CEDF7B3F334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Search Algorithms: Object-Oriented Implementation (Part F)</a:t>
            </a:r>
            <a:endParaRPr lang="ko-KR" altLang="ko-KR"/>
          </a:p>
        </p:txBody>
      </p:sp>
      <p:sp>
        <p:nvSpPr>
          <p:cNvPr id="46085" name="슬라이드 번호 개체 틀 5">
            <a:extLst>
              <a:ext uri="{FF2B5EF4-FFF2-40B4-BE49-F238E27FC236}">
                <a16:creationId xmlns:a16="http://schemas.microsoft.com/office/drawing/2014/main" id="{290493CB-72DA-31D4-CB4B-630FCF1076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16678AD9-0648-4795-A41F-59BEC58D62CD}" type="slidenum">
              <a:rPr lang="ko-KR" altLang="en-US" sz="1200">
                <a:solidFill>
                  <a:srgbClr val="898989"/>
                </a:solidFill>
                <a:latin typeface="Book Antiqua" panose="02040602050305030304" pitchFamily="18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46</a:t>
            </a:fld>
            <a:endParaRPr lang="ko-KR" altLang="ko-KR" sz="1200">
              <a:solidFill>
                <a:srgbClr val="898989"/>
              </a:solidFill>
              <a:latin typeface="Book Antiqua" panose="02040602050305030304" pitchFamily="18" charset="0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4D31D263-AA58-351A-B22B-1E33A03B91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1606836"/>
              </p:ext>
            </p:extLst>
          </p:nvPr>
        </p:nvGraphicFramePr>
        <p:xfrm>
          <a:off x="593725" y="908720"/>
          <a:ext cx="7956548" cy="425926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683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0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80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80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880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77">
                <a:tc>
                  <a:txBody>
                    <a:bodyPr/>
                    <a:lstStyle/>
                    <a:p>
                      <a:pPr latinLnBrk="1"/>
                      <a:endParaRPr lang="ko-KR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2" marR="91452" marT="45725" marB="45725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Convex</a:t>
                      </a:r>
                      <a:endParaRPr lang="ko-KR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2" marR="91452" marT="45725" marB="45725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Griewank</a:t>
                      </a:r>
                      <a:endParaRPr lang="ko-KR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2" marR="91452" marT="45725" marB="45725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Ackley</a:t>
                      </a:r>
                      <a:endParaRPr lang="ko-KR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2" marR="91452" marT="45725" marB="45725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806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Steepest Ascent</a:t>
                      </a:r>
                      <a:endParaRPr lang="ko-KR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2" marR="91452" marT="45725" marB="457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</a:t>
                      </a:r>
                    </a:p>
                    <a:p>
                      <a:pPr algn="r" latinLnBrk="1"/>
                      <a:r>
                        <a:rPr lang="en-US" altLang="ko-KR" sz="1800" dirty="0">
                          <a:solidFill>
                            <a:srgbClr val="0033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</a:t>
                      </a:r>
                      <a:endParaRPr lang="ko-KR" altLang="en-US" sz="1800" dirty="0">
                        <a:solidFill>
                          <a:srgbClr val="0033CC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1" marR="36001" marT="36000" marB="36000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774,692</a:t>
                      </a:r>
                      <a:endParaRPr lang="ko-KR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1" marR="36001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0.260</a:t>
                      </a:r>
                    </a:p>
                    <a:p>
                      <a:pPr algn="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0.108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1" marR="36001" marT="36000" marB="36000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67,144</a:t>
                      </a:r>
                    </a:p>
                  </a:txBody>
                  <a:tcPr marL="36001" marR="36001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17.832</a:t>
                      </a:r>
                    </a:p>
                    <a:p>
                      <a:pPr algn="r" latinLnBrk="1"/>
                      <a:r>
                        <a:rPr lang="en-US" altLang="ko-KR" sz="1800" dirty="0">
                          <a:solidFill>
                            <a:srgbClr val="0033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14.029</a:t>
                      </a:r>
                      <a:endParaRPr lang="ko-KR" altLang="en-US" sz="1800" dirty="0">
                        <a:solidFill>
                          <a:srgbClr val="0033CC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1" marR="36001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12,182</a:t>
                      </a:r>
                      <a:endParaRPr lang="ko-KR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1" marR="36001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806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First Choice</a:t>
                      </a:r>
                      <a:endParaRPr lang="ko-KR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2" marR="91452" marT="45725" marB="457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</a:t>
                      </a:r>
                    </a:p>
                    <a:p>
                      <a:pPr algn="r" latinLnBrk="1"/>
                      <a:r>
                        <a:rPr lang="en-US" altLang="ko-KR" sz="1800" dirty="0">
                          <a:solidFill>
                            <a:srgbClr val="0033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</a:t>
                      </a:r>
                      <a:endParaRPr lang="ko-KR" altLang="en-US" sz="1800" dirty="0">
                        <a:solidFill>
                          <a:srgbClr val="0033CC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1" marR="36001" marT="36000" marB="36000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274,521</a:t>
                      </a:r>
                      <a:endParaRPr lang="ko-KR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1" marR="36001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0.254</a:t>
                      </a:r>
                    </a:p>
                    <a:p>
                      <a:pPr algn="r" latinLnBrk="1"/>
                      <a:r>
                        <a:rPr lang="en-US" altLang="ko-KR" sz="1800" dirty="0">
                          <a:solidFill>
                            <a:srgbClr val="0033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0.064</a:t>
                      </a:r>
                      <a:endParaRPr lang="ko-KR" altLang="en-US" sz="1800" dirty="0">
                        <a:solidFill>
                          <a:srgbClr val="0033CC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1" marR="36001" marT="36000" marB="36000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38,824</a:t>
                      </a:r>
                    </a:p>
                  </a:txBody>
                  <a:tcPr marL="36001" marR="36001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18.214</a:t>
                      </a:r>
                    </a:p>
                    <a:p>
                      <a:pPr algn="r" latinLnBrk="1"/>
                      <a:r>
                        <a:rPr lang="en-US" altLang="ko-KR" sz="1800" dirty="0">
                          <a:solidFill>
                            <a:srgbClr val="0033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14.108</a:t>
                      </a:r>
                      <a:endParaRPr lang="ko-KR" altLang="en-US" sz="1800" dirty="0">
                        <a:solidFill>
                          <a:srgbClr val="0033CC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1" marR="36001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14,377</a:t>
                      </a:r>
                      <a:endParaRPr lang="ko-KR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1" marR="36001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806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Stochastic</a:t>
                      </a:r>
                      <a:endParaRPr lang="ko-KR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2" marR="91452" marT="45725" marB="457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</a:t>
                      </a:r>
                    </a:p>
                    <a:p>
                      <a:pPr algn="r" latinLnBrk="1"/>
                      <a:r>
                        <a:rPr lang="en-US" altLang="ko-KR" sz="1800" dirty="0">
                          <a:solidFill>
                            <a:srgbClr val="0033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</a:t>
                      </a:r>
                      <a:endParaRPr lang="ko-KR" altLang="en-US" sz="1800" dirty="0">
                        <a:solidFill>
                          <a:srgbClr val="0033CC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1" marR="36001" marT="36000" marB="36000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2,088,171</a:t>
                      </a:r>
                      <a:endParaRPr lang="ko-KR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1" marR="36001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0.218</a:t>
                      </a:r>
                    </a:p>
                    <a:p>
                      <a:pPr algn="r" latinLnBrk="1"/>
                      <a:r>
                        <a:rPr lang="en-US" altLang="ko-KR" sz="1800" dirty="0">
                          <a:solidFill>
                            <a:srgbClr val="0033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0.096</a:t>
                      </a:r>
                      <a:endParaRPr lang="ko-KR" altLang="en-US" sz="1800" dirty="0">
                        <a:solidFill>
                          <a:srgbClr val="0033CC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1" marR="36001" marT="36000" marB="36000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387,008</a:t>
                      </a:r>
                    </a:p>
                  </a:txBody>
                  <a:tcPr marL="36001" marR="36001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18.879</a:t>
                      </a:r>
                    </a:p>
                    <a:p>
                      <a:pPr algn="r" latinLnBrk="1"/>
                      <a:r>
                        <a:rPr lang="en-US" altLang="ko-KR" sz="1800" dirty="0">
                          <a:solidFill>
                            <a:srgbClr val="0033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16.729</a:t>
                      </a:r>
                      <a:endParaRPr lang="ko-KR" altLang="en-US" sz="1800" dirty="0">
                        <a:solidFill>
                          <a:srgbClr val="0033CC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1" marR="36001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141,156</a:t>
                      </a:r>
                      <a:endParaRPr lang="ko-KR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1" marR="36001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806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Gradient Descent</a:t>
                      </a:r>
                      <a:endParaRPr lang="ko-KR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2" marR="91452" marT="45725" marB="457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8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</a:t>
                      </a:r>
                    </a:p>
                    <a:p>
                      <a:pPr algn="r" latinLnBrk="1"/>
                      <a:r>
                        <a:rPr lang="en-US" altLang="ko-KR" sz="1800" b="1" dirty="0">
                          <a:solidFill>
                            <a:srgbClr val="0033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</a:t>
                      </a:r>
                      <a:endParaRPr lang="ko-KR" altLang="en-US" sz="1800" b="1" dirty="0">
                        <a:solidFill>
                          <a:srgbClr val="0033CC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1" marR="36001" marT="36000" marB="36000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199,935</a:t>
                      </a:r>
                      <a:endParaRPr lang="ko-KR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1" marR="36001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0.216</a:t>
                      </a:r>
                    </a:p>
                    <a:p>
                      <a:pPr algn="r" latinLnBrk="1"/>
                      <a:r>
                        <a:rPr lang="en-US" altLang="ko-KR" sz="1800" dirty="0">
                          <a:solidFill>
                            <a:srgbClr val="0033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0.118</a:t>
                      </a:r>
                      <a:endParaRPr lang="ko-KR" altLang="en-US" sz="1800" dirty="0">
                        <a:solidFill>
                          <a:srgbClr val="0033CC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1" marR="36001" marT="36000" marB="36000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856,635</a:t>
                      </a:r>
                      <a:endParaRPr lang="ko-KR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1" marR="36001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17.447</a:t>
                      </a:r>
                    </a:p>
                    <a:p>
                      <a:pPr algn="r" latinLnBrk="1"/>
                      <a:r>
                        <a:rPr lang="en-US" altLang="ko-KR" sz="1800" dirty="0">
                          <a:solidFill>
                            <a:srgbClr val="0033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8.101</a:t>
                      </a:r>
                      <a:endParaRPr lang="ko-KR" altLang="en-US" sz="1800" dirty="0">
                        <a:solidFill>
                          <a:srgbClr val="0033CC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1" marR="36001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5,234</a:t>
                      </a:r>
                      <a:endParaRPr lang="ko-KR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1" marR="36001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806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Simulated Annealing</a:t>
                      </a:r>
                      <a:endParaRPr lang="ko-KR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2" marR="91452" marT="45725" marB="457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</a:t>
                      </a:r>
                    </a:p>
                    <a:p>
                      <a:pPr algn="r" latinLnBrk="1"/>
                      <a:r>
                        <a:rPr lang="en-US" altLang="ko-KR" sz="1800" dirty="0">
                          <a:solidFill>
                            <a:srgbClr val="0033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</a:t>
                      </a:r>
                      <a:endParaRPr lang="ko-KR" altLang="en-US" sz="1800" dirty="0">
                        <a:solidFill>
                          <a:srgbClr val="0033CC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1" marR="36001" marT="36000" marB="36000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500,000</a:t>
                      </a:r>
                    </a:p>
                    <a:p>
                      <a:pPr algn="r" latinLnBrk="1"/>
                      <a:r>
                        <a:rPr lang="en-US" altLang="ko-KR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63,565</a:t>
                      </a:r>
                      <a:endParaRPr lang="ko-KR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1" marR="36001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0.367</a:t>
                      </a:r>
                    </a:p>
                    <a:p>
                      <a:pPr algn="r" latinLnBrk="1"/>
                      <a:r>
                        <a:rPr lang="en-US" altLang="ko-KR" sz="1800" dirty="0">
                          <a:solidFill>
                            <a:srgbClr val="0033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0.145</a:t>
                      </a:r>
                      <a:endParaRPr lang="ko-KR" altLang="en-US" sz="1800" dirty="0">
                        <a:solidFill>
                          <a:srgbClr val="0033CC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1" marR="36001" marT="36000" marB="36000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500,000</a:t>
                      </a:r>
                    </a:p>
                    <a:p>
                      <a:pPr algn="r" latinLnBrk="1"/>
                      <a:r>
                        <a:rPr lang="en-US" altLang="ko-KR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18,252</a:t>
                      </a:r>
                      <a:endParaRPr lang="ko-KR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1" marR="36001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19.319</a:t>
                      </a:r>
                    </a:p>
                    <a:p>
                      <a:pPr algn="r" latinLnBrk="1"/>
                      <a:r>
                        <a:rPr lang="en-US" altLang="ko-KR" sz="1800" b="0" dirty="0">
                          <a:solidFill>
                            <a:srgbClr val="0033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18.940</a:t>
                      </a:r>
                      <a:endParaRPr lang="ko-KR" altLang="en-US" sz="1800" b="0" dirty="0">
                        <a:solidFill>
                          <a:srgbClr val="0033CC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1" marR="36001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500,000</a:t>
                      </a:r>
                    </a:p>
                    <a:p>
                      <a:pPr algn="r" latinLnBrk="1"/>
                      <a:r>
                        <a:rPr lang="en-US" altLang="ko-KR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5,541</a:t>
                      </a:r>
                      <a:endParaRPr lang="ko-KR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1" marR="36001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806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GA</a:t>
                      </a:r>
                      <a:endParaRPr lang="ko-KR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2" marR="91452" marT="45725" marB="457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3.920</a:t>
                      </a:r>
                    </a:p>
                    <a:p>
                      <a:pPr algn="r" latinLnBrk="1"/>
                      <a:r>
                        <a:rPr lang="en-US" altLang="ko-KR" sz="1800" dirty="0">
                          <a:solidFill>
                            <a:srgbClr val="0033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0.766</a:t>
                      </a:r>
                      <a:endParaRPr lang="ko-KR" altLang="en-US" sz="1800" dirty="0">
                        <a:solidFill>
                          <a:srgbClr val="0033CC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1" marR="36001" marT="36000" marB="36000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500,000</a:t>
                      </a:r>
                    </a:p>
                    <a:p>
                      <a:pPr algn="r" latinLnBrk="1"/>
                      <a:r>
                        <a:rPr lang="en-US" altLang="ko-KR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227,140</a:t>
                      </a:r>
                      <a:endParaRPr lang="ko-KR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1" marR="36001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800" b="1" dirty="0">
                          <a:solidFill>
                            <a:srgbClr val="0033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0.036</a:t>
                      </a:r>
                    </a:p>
                    <a:p>
                      <a:pPr algn="r" latinLnBrk="1"/>
                      <a:r>
                        <a:rPr lang="en-US" altLang="ko-KR" sz="1800" b="1" dirty="0">
                          <a:solidFill>
                            <a:srgbClr val="0033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0.015</a:t>
                      </a:r>
                      <a:endParaRPr lang="ko-KR" altLang="en-US" sz="1800" b="1" dirty="0">
                        <a:solidFill>
                          <a:srgbClr val="0033CC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1" marR="36001" marT="36000" marB="36000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500,000</a:t>
                      </a:r>
                    </a:p>
                    <a:p>
                      <a:pPr algn="r" latinLnBrk="1"/>
                      <a:r>
                        <a:rPr lang="en-US" altLang="ko-KR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220,390</a:t>
                      </a:r>
                      <a:endParaRPr lang="ko-KR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1" marR="36001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8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0.214</a:t>
                      </a:r>
                    </a:p>
                    <a:p>
                      <a:pPr algn="r" latinLnBrk="1"/>
                      <a:r>
                        <a:rPr lang="en-US" altLang="ko-KR" sz="1800" b="1" dirty="0">
                          <a:solidFill>
                            <a:srgbClr val="0033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0.141</a:t>
                      </a:r>
                      <a:endParaRPr lang="ko-KR" altLang="en-US" sz="1800" b="1" dirty="0">
                        <a:solidFill>
                          <a:srgbClr val="0033CC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1" marR="36001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500,000</a:t>
                      </a:r>
                    </a:p>
                    <a:p>
                      <a:pPr algn="r" latinLnBrk="1"/>
                      <a:r>
                        <a:rPr lang="en-US" altLang="ko-KR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173,900</a:t>
                      </a:r>
                      <a:endParaRPr lang="ko-KR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1" marR="36001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4" name="그림 3">
            <a:extLst>
              <a:ext uri="{FF2B5EF4-FFF2-40B4-BE49-F238E27FC236}">
                <a16:creationId xmlns:a16="http://schemas.microsoft.com/office/drawing/2014/main" id="{BA1D8A76-3F79-4708-AD6B-DE6D9B13FF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3152" y="5278410"/>
            <a:ext cx="4335471" cy="144306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018939BB-B6A1-4FED-8C3F-AE0D20191251}"/>
              </a:ext>
            </a:extLst>
          </p:cNvPr>
          <p:cNvSpPr/>
          <p:nvPr/>
        </p:nvSpPr>
        <p:spPr>
          <a:xfrm>
            <a:off x="2247182" y="3255963"/>
            <a:ext cx="1047724" cy="554037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D57585E-3DFB-45FD-80B7-4F7652FBD818}"/>
              </a:ext>
            </a:extLst>
          </p:cNvPr>
          <p:cNvSpPr/>
          <p:nvPr/>
        </p:nvSpPr>
        <p:spPr>
          <a:xfrm>
            <a:off x="4314107" y="4551363"/>
            <a:ext cx="1047724" cy="554037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D055051-C5E5-4465-9C9B-A71E7BE957E8}"/>
              </a:ext>
            </a:extLst>
          </p:cNvPr>
          <p:cNvSpPr/>
          <p:nvPr/>
        </p:nvSpPr>
        <p:spPr>
          <a:xfrm>
            <a:off x="6510364" y="4551362"/>
            <a:ext cx="1047724" cy="554037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3">
            <a:extLst>
              <a:ext uri="{FF2B5EF4-FFF2-40B4-BE49-F238E27FC236}">
                <a16:creationId xmlns:a16="http://schemas.microsoft.com/office/drawing/2014/main" id="{DCD3572E-AF43-2E01-F62D-722E05C7F0D7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>
          <a:xfrm>
            <a:off x="446088" y="981075"/>
            <a:ext cx="8229600" cy="5256213"/>
          </a:xfrm>
        </p:spPr>
        <p:txBody>
          <a:bodyPr/>
          <a:lstStyle/>
          <a:p>
            <a:pPr marL="287338" indent="-287338"/>
            <a:endParaRPr lang="en-US" altLang="ko-KR"/>
          </a:p>
          <a:p>
            <a:pPr marL="287338" indent="-287338"/>
            <a:endParaRPr lang="en-US" altLang="ko-KR"/>
          </a:p>
          <a:p>
            <a:pPr marL="287338" indent="-287338"/>
            <a:endParaRPr lang="en-US" altLang="ko-KR"/>
          </a:p>
          <a:p>
            <a:pPr marL="287338" indent="-287338"/>
            <a:endParaRPr lang="en-US" altLang="ko-KR"/>
          </a:p>
          <a:p>
            <a:pPr marL="287338" indent="-287338"/>
            <a:endParaRPr lang="en-US" altLang="ko-KR"/>
          </a:p>
          <a:p>
            <a:pPr marL="287338" indent="-287338"/>
            <a:endParaRPr lang="en-US" altLang="ko-KR"/>
          </a:p>
          <a:p>
            <a:pPr marL="287338" indent="-287338"/>
            <a:endParaRPr lang="en-US" altLang="ko-KR"/>
          </a:p>
          <a:p>
            <a:pPr marL="287338" indent="-287338"/>
            <a:endParaRPr lang="en-US" altLang="ko-KR"/>
          </a:p>
          <a:p>
            <a:pPr marL="287338" indent="-287338"/>
            <a:endParaRPr lang="en-US" altLang="ko-KR"/>
          </a:p>
          <a:p>
            <a:pPr marL="287338" indent="-287338"/>
            <a:endParaRPr lang="en-US" altLang="ko-KR"/>
          </a:p>
          <a:p>
            <a:pPr marL="287338" indent="-287338"/>
            <a:endParaRPr lang="en-US" altLang="ko-KR"/>
          </a:p>
          <a:p>
            <a:pPr marL="287338" indent="-287338"/>
            <a:endParaRPr lang="en-US" altLang="ko-KR"/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92570FF1-9B7C-DA45-FE30-4343786006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r>
              <a:rPr lang="en-US" altLang="ko-KR" sz="2400"/>
              <a:t>Results of Combinatorial Optimization (TSP)</a:t>
            </a:r>
          </a:p>
        </p:txBody>
      </p:sp>
      <p:sp>
        <p:nvSpPr>
          <p:cNvPr id="18434" name="바닥글 개체 틀 4">
            <a:extLst>
              <a:ext uri="{FF2B5EF4-FFF2-40B4-BE49-F238E27FC236}">
                <a16:creationId xmlns:a16="http://schemas.microsoft.com/office/drawing/2014/main" id="{27FBB507-EE82-D08B-C021-7D7A9CF82D4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Search Algorithms: Object-Oriented Implementation (Part F)</a:t>
            </a:r>
            <a:endParaRPr lang="ko-KR" altLang="ko-KR"/>
          </a:p>
        </p:txBody>
      </p:sp>
      <p:sp>
        <p:nvSpPr>
          <p:cNvPr id="47109" name="슬라이드 번호 개체 틀 5">
            <a:extLst>
              <a:ext uri="{FF2B5EF4-FFF2-40B4-BE49-F238E27FC236}">
                <a16:creationId xmlns:a16="http://schemas.microsoft.com/office/drawing/2014/main" id="{AD92C198-C6DA-67B5-3469-2C9BE395F4C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1DDC6137-DD58-4A39-BA92-799BC5761A10}" type="slidenum">
              <a:rPr lang="ko-KR" altLang="en-US" sz="1200">
                <a:solidFill>
                  <a:srgbClr val="898989"/>
                </a:solidFill>
                <a:latin typeface="Book Antiqua" panose="02040602050305030304" pitchFamily="18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47</a:t>
            </a:fld>
            <a:endParaRPr lang="ko-KR" altLang="ko-KR" sz="1200">
              <a:solidFill>
                <a:srgbClr val="898989"/>
              </a:solidFill>
              <a:latin typeface="Book Antiqua" panose="02040602050305030304" pitchFamily="18" charset="0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755DED02-AB0E-F208-65D6-2E601E5ADA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395096"/>
              </p:ext>
            </p:extLst>
          </p:nvPr>
        </p:nvGraphicFramePr>
        <p:xfrm>
          <a:off x="593725" y="908720"/>
          <a:ext cx="7956548" cy="425926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683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0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80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80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880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77">
                <a:tc>
                  <a:txBody>
                    <a:bodyPr/>
                    <a:lstStyle/>
                    <a:p>
                      <a:pPr latinLnBrk="1"/>
                      <a:endParaRPr lang="ko-KR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2" marR="91452" marT="45725" marB="45725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TSP-30</a:t>
                      </a:r>
                      <a:endParaRPr lang="ko-KR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2" marR="91452" marT="45725" marB="45725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TSP-50</a:t>
                      </a:r>
                      <a:endParaRPr lang="ko-KR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2" marR="91452" marT="45725" marB="45725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TSP-100</a:t>
                      </a:r>
                      <a:endParaRPr lang="ko-KR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2" marR="91452" marT="45725" marB="45725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806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Steepest Ascent</a:t>
                      </a:r>
                      <a:endParaRPr lang="ko-KR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2" marR="91452" marT="45725" marB="457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593</a:t>
                      </a:r>
                    </a:p>
                    <a:p>
                      <a:pPr algn="r" latinLnBrk="1"/>
                      <a:r>
                        <a:rPr lang="en-US" altLang="ko-KR" sz="1800" dirty="0">
                          <a:solidFill>
                            <a:srgbClr val="0033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525</a:t>
                      </a:r>
                      <a:endParaRPr lang="ko-KR" altLang="en-US" sz="1800" dirty="0">
                        <a:solidFill>
                          <a:srgbClr val="0033CC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6,846</a:t>
                      </a:r>
                      <a:endParaRPr lang="ko-KR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782</a:t>
                      </a:r>
                    </a:p>
                    <a:p>
                      <a:pPr algn="r" latinLnBrk="1"/>
                      <a:r>
                        <a:rPr lang="en-US" altLang="ko-KR" sz="1800" dirty="0">
                          <a:solidFill>
                            <a:srgbClr val="0033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678</a:t>
                      </a:r>
                      <a:endParaRPr lang="ko-KR" altLang="en-US" sz="1800" dirty="0">
                        <a:solidFill>
                          <a:srgbClr val="0033CC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20,211</a:t>
                      </a:r>
                      <a:endParaRPr lang="ko-KR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1,223</a:t>
                      </a:r>
                    </a:p>
                    <a:p>
                      <a:pPr algn="r" latinLnBrk="1"/>
                      <a:r>
                        <a:rPr lang="en-US" altLang="ko-KR" sz="1800" dirty="0">
                          <a:solidFill>
                            <a:srgbClr val="0033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1,145</a:t>
                      </a:r>
                      <a:endParaRPr lang="ko-KR" altLang="en-US" sz="1800" dirty="0">
                        <a:solidFill>
                          <a:srgbClr val="0033CC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88,254</a:t>
                      </a:r>
                      <a:endParaRPr lang="en-US" altLang="ko-KR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806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First Choice</a:t>
                      </a:r>
                      <a:endParaRPr lang="ko-KR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2" marR="91452" marT="45725" marB="457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424</a:t>
                      </a:r>
                    </a:p>
                    <a:p>
                      <a:pPr algn="r" latinLnBrk="1"/>
                      <a:r>
                        <a:rPr lang="en-US" altLang="ko-KR" sz="1800" dirty="0">
                          <a:solidFill>
                            <a:srgbClr val="0033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408</a:t>
                      </a:r>
                      <a:endParaRPr lang="ko-KR" altLang="en-US" sz="1800" dirty="0">
                        <a:solidFill>
                          <a:srgbClr val="0033CC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30,154</a:t>
                      </a:r>
                      <a:endParaRPr lang="ko-KR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578</a:t>
                      </a:r>
                    </a:p>
                    <a:p>
                      <a:pPr algn="r" latinLnBrk="1"/>
                      <a:r>
                        <a:rPr lang="en-US" altLang="ko-KR" sz="1800" dirty="0">
                          <a:solidFill>
                            <a:srgbClr val="0033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561</a:t>
                      </a:r>
                      <a:endParaRPr lang="ko-KR" altLang="en-US" sz="1800" dirty="0">
                        <a:solidFill>
                          <a:srgbClr val="0033CC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57,207</a:t>
                      </a:r>
                      <a:endParaRPr lang="ko-KR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903</a:t>
                      </a:r>
                    </a:p>
                    <a:p>
                      <a:pPr algn="r" latinLnBrk="1"/>
                      <a:r>
                        <a:rPr lang="en-US" altLang="ko-KR" sz="1800" dirty="0">
                          <a:solidFill>
                            <a:srgbClr val="0033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869</a:t>
                      </a:r>
                      <a:endParaRPr lang="ko-KR" altLang="en-US" sz="1800" dirty="0">
                        <a:solidFill>
                          <a:srgbClr val="0033CC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131,450</a:t>
                      </a: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806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Stochastic</a:t>
                      </a:r>
                      <a:endParaRPr lang="ko-KR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2" marR="91452" marT="45725" marB="457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422</a:t>
                      </a:r>
                    </a:p>
                    <a:p>
                      <a:pPr algn="r" latinLnBrk="1"/>
                      <a:r>
                        <a:rPr lang="en-US" altLang="ko-KR" sz="1800" dirty="0">
                          <a:solidFill>
                            <a:srgbClr val="0033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408</a:t>
                      </a:r>
                      <a:endParaRPr lang="ko-KR" altLang="en-US" sz="1800" dirty="0">
                        <a:solidFill>
                          <a:srgbClr val="0033CC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670,952</a:t>
                      </a:r>
                      <a:endParaRPr lang="ko-KR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8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570</a:t>
                      </a:r>
                    </a:p>
                    <a:p>
                      <a:pPr algn="r" latinLnBrk="1"/>
                      <a:r>
                        <a:rPr lang="en-US" altLang="ko-KR" sz="1800" dirty="0">
                          <a:solidFill>
                            <a:srgbClr val="0033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561</a:t>
                      </a:r>
                      <a:endParaRPr lang="ko-KR" altLang="en-US" sz="1800" dirty="0">
                        <a:solidFill>
                          <a:srgbClr val="0033CC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2,395,138</a:t>
                      </a:r>
                      <a:endParaRPr lang="ko-KR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872</a:t>
                      </a:r>
                    </a:p>
                    <a:p>
                      <a:pPr algn="r" latinLnBrk="1"/>
                      <a:r>
                        <a:rPr lang="en-US" altLang="ko-KR" sz="1800" dirty="0">
                          <a:solidFill>
                            <a:srgbClr val="0033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840</a:t>
                      </a:r>
                      <a:endParaRPr lang="ko-KR" altLang="en-US" sz="1800" dirty="0">
                        <a:solidFill>
                          <a:srgbClr val="0033CC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10,903,041</a:t>
                      </a: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806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Nearest</a:t>
                      </a:r>
                      <a:r>
                        <a:rPr lang="en-US" altLang="ko-KR" sz="18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Neighbor</a:t>
                      </a:r>
                      <a:endParaRPr lang="ko-KR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2" marR="91452" marT="45725" marB="45725"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509</a:t>
                      </a:r>
                    </a:p>
                    <a:p>
                      <a:pPr algn="r" latinLnBrk="1"/>
                      <a:r>
                        <a:rPr lang="en-US" altLang="ko-KR" sz="1800" dirty="0">
                          <a:solidFill>
                            <a:srgbClr val="0033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455</a:t>
                      </a:r>
                      <a:endParaRPr lang="ko-KR" altLang="en-US" sz="1800" dirty="0">
                        <a:solidFill>
                          <a:srgbClr val="0033CC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694</a:t>
                      </a:r>
                    </a:p>
                    <a:p>
                      <a:pPr algn="r" latinLnBrk="1"/>
                      <a:r>
                        <a:rPr lang="en-US" altLang="ko-KR" sz="1800" dirty="0">
                          <a:solidFill>
                            <a:srgbClr val="0033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646</a:t>
                      </a:r>
                      <a:endParaRPr lang="ko-KR" altLang="en-US" sz="1800" dirty="0">
                        <a:solidFill>
                          <a:srgbClr val="0033CC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958</a:t>
                      </a:r>
                    </a:p>
                    <a:p>
                      <a:pPr algn="r" latinLnBrk="1"/>
                      <a:r>
                        <a:rPr lang="en-US" altLang="ko-KR" sz="1800" dirty="0">
                          <a:solidFill>
                            <a:srgbClr val="0033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918</a:t>
                      </a:r>
                      <a:endParaRPr lang="ko-KR" altLang="en-US" sz="1800" dirty="0">
                        <a:solidFill>
                          <a:srgbClr val="0033CC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806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Simulated Annealing</a:t>
                      </a:r>
                      <a:endParaRPr lang="ko-KR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2" marR="91452" marT="45725" marB="457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8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412</a:t>
                      </a:r>
                    </a:p>
                    <a:p>
                      <a:pPr algn="r" latinLnBrk="1"/>
                      <a:r>
                        <a:rPr lang="en-US" altLang="ko-KR" sz="1800" b="1" dirty="0">
                          <a:solidFill>
                            <a:srgbClr val="0033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408</a:t>
                      </a:r>
                      <a:endParaRPr lang="ko-KR" altLang="en-US" sz="1800" b="1" dirty="0">
                        <a:solidFill>
                          <a:srgbClr val="0033CC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500,000</a:t>
                      </a:r>
                    </a:p>
                    <a:p>
                      <a:pPr algn="r" latinLnBrk="1"/>
                      <a:r>
                        <a:rPr lang="en-US" altLang="ko-KR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28,831</a:t>
                      </a:r>
                      <a:endParaRPr lang="ko-KR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577</a:t>
                      </a:r>
                    </a:p>
                    <a:p>
                      <a:pPr algn="r" latinLnBrk="1"/>
                      <a:r>
                        <a:rPr lang="en-US" altLang="ko-KR" sz="1800" b="0" dirty="0">
                          <a:solidFill>
                            <a:srgbClr val="0033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559</a:t>
                      </a:r>
                      <a:endParaRPr lang="ko-KR" altLang="en-US" sz="1800" b="0" dirty="0">
                        <a:solidFill>
                          <a:srgbClr val="0033CC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500,000</a:t>
                      </a:r>
                    </a:p>
                    <a:p>
                      <a:pPr algn="r" latinLnBrk="1"/>
                      <a:r>
                        <a:rPr lang="en-US" altLang="ko-KR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43,962</a:t>
                      </a:r>
                      <a:endParaRPr lang="ko-KR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8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829</a:t>
                      </a:r>
                    </a:p>
                    <a:p>
                      <a:pPr algn="r" latinLnBrk="1"/>
                      <a:r>
                        <a:rPr lang="en-US" altLang="ko-KR" sz="1800" b="1" dirty="0">
                          <a:solidFill>
                            <a:srgbClr val="0033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804</a:t>
                      </a:r>
                      <a:endParaRPr lang="ko-KR" altLang="en-US" sz="1800" b="1" dirty="0">
                        <a:solidFill>
                          <a:srgbClr val="0033CC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500,000</a:t>
                      </a:r>
                    </a:p>
                    <a:p>
                      <a:pPr algn="r" latinLnBrk="1"/>
                      <a:r>
                        <a:rPr lang="en-US" altLang="ko-KR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69,084</a:t>
                      </a:r>
                      <a:endParaRPr lang="ko-KR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806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GA</a:t>
                      </a:r>
                      <a:endParaRPr lang="ko-KR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2" marR="91452" marT="45725" marB="457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658</a:t>
                      </a:r>
                    </a:p>
                    <a:p>
                      <a:pPr algn="r" latinLnBrk="1"/>
                      <a:r>
                        <a:rPr lang="en-US" altLang="ko-KR" sz="1800" b="0" dirty="0">
                          <a:solidFill>
                            <a:srgbClr val="0033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635</a:t>
                      </a:r>
                      <a:endParaRPr lang="ko-KR" altLang="en-US" sz="1800" b="0" dirty="0">
                        <a:solidFill>
                          <a:srgbClr val="0033CC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500,000</a:t>
                      </a:r>
                    </a:p>
                    <a:p>
                      <a:pPr algn="r" latinLnBrk="1"/>
                      <a:r>
                        <a:rPr lang="en-US" altLang="ko-KR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245,940</a:t>
                      </a:r>
                      <a:endParaRPr lang="ko-KR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584</a:t>
                      </a:r>
                    </a:p>
                    <a:p>
                      <a:pPr algn="r" latinLnBrk="1"/>
                      <a:r>
                        <a:rPr lang="en-US" altLang="ko-KR" sz="1800" b="1" dirty="0">
                          <a:solidFill>
                            <a:srgbClr val="0033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558</a:t>
                      </a:r>
                      <a:endParaRPr lang="ko-KR" altLang="en-US" sz="1800" b="1" dirty="0">
                        <a:solidFill>
                          <a:srgbClr val="0033CC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500,000</a:t>
                      </a:r>
                    </a:p>
                    <a:p>
                      <a:pPr algn="r" latinLnBrk="1"/>
                      <a:r>
                        <a:rPr lang="en-US" altLang="ko-KR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226,840</a:t>
                      </a:r>
                      <a:endParaRPr lang="ko-KR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854</a:t>
                      </a:r>
                    </a:p>
                    <a:p>
                      <a:pPr algn="r" latinLnBrk="1"/>
                      <a:r>
                        <a:rPr lang="en-US" altLang="ko-KR" sz="1800" b="0" dirty="0">
                          <a:solidFill>
                            <a:srgbClr val="0033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822</a:t>
                      </a:r>
                      <a:endParaRPr lang="ko-KR" altLang="en-US" sz="1800" b="0" dirty="0">
                        <a:solidFill>
                          <a:srgbClr val="0033CC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en-US" altLang="ko-KR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r" latinLnBrk="1"/>
                      <a:r>
                        <a:rPr lang="en-US" altLang="ko-KR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422,650</a:t>
                      </a:r>
                      <a:endParaRPr lang="ko-KR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8" name="그림 7">
            <a:extLst>
              <a:ext uri="{FF2B5EF4-FFF2-40B4-BE49-F238E27FC236}">
                <a16:creationId xmlns:a16="http://schemas.microsoft.com/office/drawing/2014/main" id="{39AADFE3-8C4F-487D-9E04-101A9720C7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3152" y="5278410"/>
            <a:ext cx="4335471" cy="144306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47DBDDF9-2B66-426D-AA1B-0935572B7AA0}"/>
              </a:ext>
            </a:extLst>
          </p:cNvPr>
          <p:cNvSpPr/>
          <p:nvPr/>
        </p:nvSpPr>
        <p:spPr>
          <a:xfrm>
            <a:off x="2224114" y="3894137"/>
            <a:ext cx="1047724" cy="554037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0B62AC6-2D41-42D8-B067-A6D336DF50F1}"/>
              </a:ext>
            </a:extLst>
          </p:cNvPr>
          <p:cNvSpPr/>
          <p:nvPr/>
        </p:nvSpPr>
        <p:spPr>
          <a:xfrm>
            <a:off x="6586564" y="3903662"/>
            <a:ext cx="1047724" cy="554037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2BFBFBD-146F-4EE2-AD5D-9D8960455FFB}"/>
              </a:ext>
            </a:extLst>
          </p:cNvPr>
          <p:cNvSpPr/>
          <p:nvPr/>
        </p:nvSpPr>
        <p:spPr>
          <a:xfrm>
            <a:off x="4211960" y="2636913"/>
            <a:ext cx="1047724" cy="220588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9379525-2711-4CEC-B8AD-B0C97813C8C6}"/>
              </a:ext>
            </a:extLst>
          </p:cNvPr>
          <p:cNvSpPr/>
          <p:nvPr/>
        </p:nvSpPr>
        <p:spPr>
          <a:xfrm>
            <a:off x="4211960" y="4859422"/>
            <a:ext cx="1047724" cy="220588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42297</TotalTime>
  <Words>5366</Words>
  <Application>Microsoft Office PowerPoint</Application>
  <PresentationFormat>On-screen Show (4:3)</PresentationFormat>
  <Paragraphs>749</Paragraphs>
  <Slides>47</Slides>
  <Notes>21</Notes>
  <HiddenSlides>0</HiddenSlides>
  <MMClips>0</MMClips>
  <ScaleCrop>false</ScaleCrop>
  <HeadingPairs>
    <vt:vector size="8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61" baseType="lpstr">
      <vt:lpstr>Gulim</vt:lpstr>
      <vt:lpstr>Malgun Gothic</vt:lpstr>
      <vt:lpstr>나눔스퀘어_ac</vt:lpstr>
      <vt:lpstr>Arial</vt:lpstr>
      <vt:lpstr>Book Antiqua</vt:lpstr>
      <vt:lpstr>Cambria Math</vt:lpstr>
      <vt:lpstr>Consolas</vt:lpstr>
      <vt:lpstr>Courier New</vt:lpstr>
      <vt:lpstr>Symbol</vt:lpstr>
      <vt:lpstr>Times New Roman</vt:lpstr>
      <vt:lpstr>Wingdings</vt:lpstr>
      <vt:lpstr>Wingdings 2</vt:lpstr>
      <vt:lpstr>Office 테마</vt:lpstr>
      <vt:lpstr>Equation</vt:lpstr>
      <vt:lpstr>Search Algorithms: Object-Oriented Implementation (Part F)</vt:lpstr>
      <vt:lpstr>Contents</vt:lpstr>
      <vt:lpstr>Genetic Algorithm  (GA)</vt:lpstr>
      <vt:lpstr>Genetic Algorithm</vt:lpstr>
      <vt:lpstr>Genetic Algorithm</vt:lpstr>
      <vt:lpstr>Genetic Algorithm</vt:lpstr>
      <vt:lpstr>Genetic Algorithm</vt:lpstr>
      <vt:lpstr>Genetic Algorithm</vt:lpstr>
      <vt:lpstr>Genetic Algorithm</vt:lpstr>
      <vt:lpstr>Genetic Algorithm</vt:lpstr>
      <vt:lpstr>Genetic Algorithm</vt:lpstr>
      <vt:lpstr>Genetic Algorithm</vt:lpstr>
      <vt:lpstr>Genetic Algorithm</vt:lpstr>
      <vt:lpstr>Genetic Algorithm</vt:lpstr>
      <vt:lpstr>Genetic Algorithm</vt:lpstr>
      <vt:lpstr>Genetic Algorithm</vt:lpstr>
      <vt:lpstr>Genetic Algorithm</vt:lpstr>
      <vt:lpstr>Genetic Algorithm</vt:lpstr>
      <vt:lpstr>Genetic Algorithm  (GA) Implementation</vt:lpstr>
      <vt:lpstr>Adding Genetic Algorithm</vt:lpstr>
      <vt:lpstr>Adding Genetic Algorithm</vt:lpstr>
      <vt:lpstr>Adding Genetic Algorithm</vt:lpstr>
      <vt:lpstr>Adding Genetic Algorithm</vt:lpstr>
      <vt:lpstr>Adding Genetic Algorithm</vt:lpstr>
      <vt:lpstr>Changes to ‘Setup’ Class</vt:lpstr>
      <vt:lpstr>Changes to ‘Problem’ Class</vt:lpstr>
      <vt:lpstr>Changes to ‘Problem’ Class</vt:lpstr>
      <vt:lpstr>Changes to ‘Problem’ Class</vt:lpstr>
      <vt:lpstr>Changes to ‘Problem’ Class</vt:lpstr>
      <vt:lpstr>Changes to ‘Problem’ Class</vt:lpstr>
      <vt:lpstr>Code sample for GA</vt:lpstr>
      <vt:lpstr>Code sample for Numeric problems</vt:lpstr>
      <vt:lpstr>Code sample for Numeric problems</vt:lpstr>
      <vt:lpstr>Code sample for Numeric problems</vt:lpstr>
      <vt:lpstr>Code sample for TSP problems</vt:lpstr>
      <vt:lpstr>Code sample for TSP problems</vt:lpstr>
      <vt:lpstr>Code sample for TSP problems</vt:lpstr>
      <vt:lpstr>Experiments</vt:lpstr>
      <vt:lpstr>Experiments</vt:lpstr>
      <vt:lpstr>Experiments</vt:lpstr>
      <vt:lpstr>Experimental Setting</vt:lpstr>
      <vt:lpstr>Experimental Setting</vt:lpstr>
      <vt:lpstr>Experimental Results</vt:lpstr>
      <vt:lpstr>Experimental Results</vt:lpstr>
      <vt:lpstr>Experimental Results</vt:lpstr>
      <vt:lpstr>Results of Numerical Optimization</vt:lpstr>
      <vt:lpstr>Results of Combinatorial Optimization (TSP)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krryu</dc:creator>
  <cp:lastModifiedBy>Rian Pratama</cp:lastModifiedBy>
  <cp:revision>1726</cp:revision>
  <dcterms:created xsi:type="dcterms:W3CDTF">1601-01-01T00:00:00Z</dcterms:created>
  <dcterms:modified xsi:type="dcterms:W3CDTF">2025-11-24T05:35:18Z</dcterms:modified>
</cp:coreProperties>
</file>