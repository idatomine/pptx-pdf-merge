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6" r:id="rId1"/>
  </p:sldMasterIdLst>
  <p:notesMasterIdLst>
    <p:notesMasterId r:id="rId21"/>
  </p:notesMasterIdLst>
  <p:handoutMasterIdLst>
    <p:handoutMasterId r:id="rId22"/>
  </p:handoutMasterIdLst>
  <p:sldIdLst>
    <p:sldId id="256" r:id="rId2"/>
    <p:sldId id="499" r:id="rId3"/>
    <p:sldId id="767" r:id="rId4"/>
    <p:sldId id="769" r:id="rId5"/>
    <p:sldId id="770" r:id="rId6"/>
    <p:sldId id="768" r:id="rId7"/>
    <p:sldId id="771" r:id="rId8"/>
    <p:sldId id="703" r:id="rId9"/>
    <p:sldId id="704" r:id="rId10"/>
    <p:sldId id="766" r:id="rId11"/>
    <p:sldId id="765" r:id="rId12"/>
    <p:sldId id="759" r:id="rId13"/>
    <p:sldId id="757" r:id="rId14"/>
    <p:sldId id="755" r:id="rId15"/>
    <p:sldId id="705" r:id="rId16"/>
    <p:sldId id="706" r:id="rId17"/>
    <p:sldId id="707" r:id="rId18"/>
    <p:sldId id="772" r:id="rId19"/>
    <p:sldId id="773" r:id="rId2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990033"/>
    <a:srgbClr val="99CCFF"/>
    <a:srgbClr val="D7ADD9"/>
    <a:srgbClr val="800080"/>
    <a:srgbClr val="A50021"/>
    <a:srgbClr val="FFC000"/>
    <a:srgbClr val="7882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6997E8-CA14-4927-8197-4D46A03F13CD}" v="160" dt="2025-11-12T05:48:06.0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6" autoAdjust="0"/>
    <p:restoredTop sz="94672" autoAdjust="0"/>
  </p:normalViewPr>
  <p:slideViewPr>
    <p:cSldViewPr>
      <p:cViewPr varScale="1">
        <p:scale>
          <a:sx n="114" d="100"/>
          <a:sy n="114" d="100"/>
        </p:scale>
        <p:origin x="88" y="5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an Pratama" userId="ba5a381f79e67128" providerId="LiveId" clId="{1B3D42E5-558C-46C9-A1CA-A9EF05FAD6B9}"/>
    <pc:docChg chg="undo custSel modSld">
      <pc:chgData name="Rian Pratama" userId="ba5a381f79e67128" providerId="LiveId" clId="{1B3D42E5-558C-46C9-A1CA-A9EF05FAD6B9}" dt="2025-11-12T05:48:18.648" v="1492" actId="2711"/>
      <pc:docMkLst>
        <pc:docMk/>
      </pc:docMkLst>
      <pc:sldChg chg="modSp mod">
        <pc:chgData name="Rian Pratama" userId="ba5a381f79e67128" providerId="LiveId" clId="{1B3D42E5-558C-46C9-A1CA-A9EF05FAD6B9}" dt="2025-11-12T01:53:18.374" v="45" actId="113"/>
        <pc:sldMkLst>
          <pc:docMk/>
          <pc:sldMk cId="0" sldId="499"/>
        </pc:sldMkLst>
        <pc:spChg chg="mod">
          <ac:chgData name="Rian Pratama" userId="ba5a381f79e67128" providerId="LiveId" clId="{1B3D42E5-558C-46C9-A1CA-A9EF05FAD6B9}" dt="2025-11-12T01:53:18.374" v="45" actId="113"/>
          <ac:spMkLst>
            <pc:docMk/>
            <pc:sldMk cId="0" sldId="499"/>
            <ac:spMk id="2" creationId="{AA34F2A2-CF73-47D3-8A67-46C89E1445E8}"/>
          </ac:spMkLst>
        </pc:spChg>
        <pc:spChg chg="mod">
          <ac:chgData name="Rian Pratama" userId="ba5a381f79e67128" providerId="LiveId" clId="{1B3D42E5-558C-46C9-A1CA-A9EF05FAD6B9}" dt="2025-11-12T01:23:55.498" v="1" actId="20577"/>
          <ac:spMkLst>
            <pc:docMk/>
            <pc:sldMk cId="0" sldId="499"/>
            <ac:spMk id="7170" creationId="{0E11D176-F54B-624F-3D61-AA5B30BF72DC}"/>
          </ac:spMkLst>
        </pc:spChg>
      </pc:sldChg>
      <pc:sldChg chg="modSp mod">
        <pc:chgData name="Rian Pratama" userId="ba5a381f79e67128" providerId="LiveId" clId="{1B3D42E5-558C-46C9-A1CA-A9EF05FAD6B9}" dt="2025-11-12T05:03:53.435" v="852"/>
        <pc:sldMkLst>
          <pc:docMk/>
          <pc:sldMk cId="0" sldId="703"/>
        </pc:sldMkLst>
        <pc:spChg chg="mod">
          <ac:chgData name="Rian Pratama" userId="ba5a381f79e67128" providerId="LiveId" clId="{1B3D42E5-558C-46C9-A1CA-A9EF05FAD6B9}" dt="2025-11-12T05:03:53.435" v="852"/>
          <ac:spMkLst>
            <pc:docMk/>
            <pc:sldMk cId="0" sldId="703"/>
            <ac:spMk id="16" creationId="{97063B77-6908-4D2E-BCAB-3F4B1CA9BA22}"/>
          </ac:spMkLst>
        </pc:spChg>
      </pc:sldChg>
      <pc:sldChg chg="modSp mod">
        <pc:chgData name="Rian Pratama" userId="ba5a381f79e67128" providerId="LiveId" clId="{1B3D42E5-558C-46C9-A1CA-A9EF05FAD6B9}" dt="2025-11-12T05:05:05.991" v="871" actId="2711"/>
        <pc:sldMkLst>
          <pc:docMk/>
          <pc:sldMk cId="0" sldId="704"/>
        </pc:sldMkLst>
        <pc:spChg chg="mod">
          <ac:chgData name="Rian Pratama" userId="ba5a381f79e67128" providerId="LiveId" clId="{1B3D42E5-558C-46C9-A1CA-A9EF05FAD6B9}" dt="2025-11-12T05:05:05.991" v="871" actId="2711"/>
          <ac:spMkLst>
            <pc:docMk/>
            <pc:sldMk cId="0" sldId="704"/>
            <ac:spMk id="11266" creationId="{2B9C1007-FDAC-5C5E-971A-56F83669A7EF}"/>
          </ac:spMkLst>
        </pc:spChg>
      </pc:sldChg>
      <pc:sldChg chg="modSp mod">
        <pc:chgData name="Rian Pratama" userId="ba5a381f79e67128" providerId="LiveId" clId="{1B3D42E5-558C-46C9-A1CA-A9EF05FAD6B9}" dt="2025-11-12T05:20:49.263" v="908" actId="207"/>
        <pc:sldMkLst>
          <pc:docMk/>
          <pc:sldMk cId="0" sldId="705"/>
        </pc:sldMkLst>
        <pc:spChg chg="mod">
          <ac:chgData name="Rian Pratama" userId="ba5a381f79e67128" providerId="LiveId" clId="{1B3D42E5-558C-46C9-A1CA-A9EF05FAD6B9}" dt="2025-11-12T05:20:49.263" v="908" actId="207"/>
          <ac:spMkLst>
            <pc:docMk/>
            <pc:sldMk cId="0" sldId="705"/>
            <ac:spMk id="23554" creationId="{12CB3658-FADA-A432-E21C-F8A292BB60A7}"/>
          </ac:spMkLst>
        </pc:spChg>
      </pc:sldChg>
      <pc:sldChg chg="addSp modSp mod">
        <pc:chgData name="Rian Pratama" userId="ba5a381f79e67128" providerId="LiveId" clId="{1B3D42E5-558C-46C9-A1CA-A9EF05FAD6B9}" dt="2025-11-12T05:27:35.637" v="981"/>
        <pc:sldMkLst>
          <pc:docMk/>
          <pc:sldMk cId="0" sldId="707"/>
        </pc:sldMkLst>
        <pc:spChg chg="add">
          <ac:chgData name="Rian Pratama" userId="ba5a381f79e67128" providerId="LiveId" clId="{1B3D42E5-558C-46C9-A1CA-A9EF05FAD6B9}" dt="2025-11-12T05:24:28.772" v="946"/>
          <ac:spMkLst>
            <pc:docMk/>
            <pc:sldMk cId="0" sldId="707"/>
            <ac:spMk id="3" creationId="{D1B3B034-5BE5-90CC-3A7D-F9458BD7B263}"/>
          </ac:spMkLst>
        </pc:spChg>
        <pc:spChg chg="add">
          <ac:chgData name="Rian Pratama" userId="ba5a381f79e67128" providerId="LiveId" clId="{1B3D42E5-558C-46C9-A1CA-A9EF05FAD6B9}" dt="2025-11-12T05:24:41.454" v="948"/>
          <ac:spMkLst>
            <pc:docMk/>
            <pc:sldMk cId="0" sldId="707"/>
            <ac:spMk id="4" creationId="{1F3DD544-93F2-2DDA-63F8-0B9B4232CDD3}"/>
          </ac:spMkLst>
        </pc:spChg>
        <pc:spChg chg="mod">
          <ac:chgData name="Rian Pratama" userId="ba5a381f79e67128" providerId="LiveId" clId="{1B3D42E5-558C-46C9-A1CA-A9EF05FAD6B9}" dt="2025-11-12T05:23:21.412" v="923" actId="2711"/>
          <ac:spMkLst>
            <pc:docMk/>
            <pc:sldMk cId="0" sldId="707"/>
            <ac:spMk id="6" creationId="{8CB203F3-F0CD-4421-8D0C-16CDAFDC5BC3}"/>
          </ac:spMkLst>
        </pc:spChg>
        <pc:spChg chg="mod">
          <ac:chgData name="Rian Pratama" userId="ba5a381f79e67128" providerId="LiveId" clId="{1B3D42E5-558C-46C9-A1CA-A9EF05FAD6B9}" dt="2025-11-12T05:27:35.637" v="981"/>
          <ac:spMkLst>
            <pc:docMk/>
            <pc:sldMk cId="0" sldId="707"/>
            <ac:spMk id="10" creationId="{FDA9D065-E31F-456E-B1A3-D0089EFB273A}"/>
          </ac:spMkLst>
        </pc:spChg>
      </pc:sldChg>
      <pc:sldChg chg="modSp mod">
        <pc:chgData name="Rian Pratama" userId="ba5a381f79e67128" providerId="LiveId" clId="{1B3D42E5-558C-46C9-A1CA-A9EF05FAD6B9}" dt="2025-11-12T05:19:42.827" v="900" actId="20577"/>
        <pc:sldMkLst>
          <pc:docMk/>
          <pc:sldMk cId="0" sldId="755"/>
        </pc:sldMkLst>
        <pc:spChg chg="mod">
          <ac:chgData name="Rian Pratama" userId="ba5a381f79e67128" providerId="LiveId" clId="{1B3D42E5-558C-46C9-A1CA-A9EF05FAD6B9}" dt="2025-11-12T05:19:38.580" v="897"/>
          <ac:spMkLst>
            <pc:docMk/>
            <pc:sldMk cId="0" sldId="755"/>
            <ac:spMk id="6" creationId="{4A7319B6-1A55-4330-8279-9D0902B27B7E}"/>
          </ac:spMkLst>
        </pc:spChg>
        <pc:spChg chg="mod">
          <ac:chgData name="Rian Pratama" userId="ba5a381f79e67128" providerId="LiveId" clId="{1B3D42E5-558C-46C9-A1CA-A9EF05FAD6B9}" dt="2025-11-12T05:19:42.827" v="900" actId="20577"/>
          <ac:spMkLst>
            <pc:docMk/>
            <pc:sldMk cId="0" sldId="755"/>
            <ac:spMk id="7" creationId="{37B9763A-81BD-4133-972F-6269B0CEE60C}"/>
          </ac:spMkLst>
        </pc:spChg>
      </pc:sldChg>
      <pc:sldChg chg="modSp mod">
        <pc:chgData name="Rian Pratama" userId="ba5a381f79e67128" providerId="LiveId" clId="{1B3D42E5-558C-46C9-A1CA-A9EF05FAD6B9}" dt="2025-11-12T05:11:03.856" v="880"/>
        <pc:sldMkLst>
          <pc:docMk/>
          <pc:sldMk cId="0" sldId="757"/>
        </pc:sldMkLst>
        <pc:spChg chg="mod">
          <ac:chgData name="Rian Pratama" userId="ba5a381f79e67128" providerId="LiveId" clId="{1B3D42E5-558C-46C9-A1CA-A9EF05FAD6B9}" dt="2025-11-12T05:11:03.856" v="880"/>
          <ac:spMkLst>
            <pc:docMk/>
            <pc:sldMk cId="0" sldId="757"/>
            <ac:spMk id="25" creationId="{C37847BC-9F81-4311-9586-2AD476AC7996}"/>
          </ac:spMkLst>
        </pc:spChg>
      </pc:sldChg>
      <pc:sldChg chg="addSp delSp modSp mod">
        <pc:chgData name="Rian Pratama" userId="ba5a381f79e67128" providerId="LiveId" clId="{1B3D42E5-558C-46C9-A1CA-A9EF05FAD6B9}" dt="2025-11-12T02:03:33.966" v="319" actId="14100"/>
        <pc:sldMkLst>
          <pc:docMk/>
          <pc:sldMk cId="2390606368" sldId="767"/>
        </pc:sldMkLst>
        <pc:spChg chg="mod">
          <ac:chgData name="Rian Pratama" userId="ba5a381f79e67128" providerId="LiveId" clId="{1B3D42E5-558C-46C9-A1CA-A9EF05FAD6B9}" dt="2025-11-12T01:55:14.625" v="54" actId="20577"/>
          <ac:spMkLst>
            <pc:docMk/>
            <pc:sldMk cId="2390606368" sldId="767"/>
            <ac:spMk id="2" creationId="{50B01AEB-429B-4D79-A779-E71028592453}"/>
          </ac:spMkLst>
        </pc:spChg>
        <pc:spChg chg="mod">
          <ac:chgData name="Rian Pratama" userId="ba5a381f79e67128" providerId="LiveId" clId="{1B3D42E5-558C-46C9-A1CA-A9EF05FAD6B9}" dt="2025-11-12T02:00:59.011" v="170" actId="20577"/>
          <ac:spMkLst>
            <pc:docMk/>
            <pc:sldMk cId="2390606368" sldId="767"/>
            <ac:spMk id="3" creationId="{FCA1B3FF-E1A2-4A97-B06C-3033995E25DA}"/>
          </ac:spMkLst>
        </pc:spChg>
        <pc:spChg chg="del topLvl">
          <ac:chgData name="Rian Pratama" userId="ba5a381f79e67128" providerId="LiveId" clId="{1B3D42E5-558C-46C9-A1CA-A9EF05FAD6B9}" dt="2025-11-12T02:00:15.729" v="154" actId="478"/>
          <ac:spMkLst>
            <pc:docMk/>
            <pc:sldMk cId="2390606368" sldId="767"/>
            <ac:spMk id="6" creationId="{A46E4DFF-C131-4761-B5F9-64C83E0A8407}"/>
          </ac:spMkLst>
        </pc:spChg>
        <pc:spChg chg="del topLvl">
          <ac:chgData name="Rian Pratama" userId="ba5a381f79e67128" providerId="LiveId" clId="{1B3D42E5-558C-46C9-A1CA-A9EF05FAD6B9}" dt="2025-11-12T02:00:18.002" v="155" actId="478"/>
          <ac:spMkLst>
            <pc:docMk/>
            <pc:sldMk cId="2390606368" sldId="767"/>
            <ac:spMk id="7" creationId="{4DF824DC-FFDC-4E33-8D61-912709D1AD73}"/>
          </ac:spMkLst>
        </pc:spChg>
        <pc:spChg chg="add mod ord">
          <ac:chgData name="Rian Pratama" userId="ba5a381f79e67128" providerId="LiveId" clId="{1B3D42E5-558C-46C9-A1CA-A9EF05FAD6B9}" dt="2025-11-12T02:01:44.044" v="175" actId="14100"/>
          <ac:spMkLst>
            <pc:docMk/>
            <pc:sldMk cId="2390606368" sldId="767"/>
            <ac:spMk id="9" creationId="{70908A30-13BF-3727-D7B8-3A2F85E0ABC1}"/>
          </ac:spMkLst>
        </pc:spChg>
        <pc:spChg chg="add mod">
          <ac:chgData name="Rian Pratama" userId="ba5a381f79e67128" providerId="LiveId" clId="{1B3D42E5-558C-46C9-A1CA-A9EF05FAD6B9}" dt="2025-11-12T02:03:33.966" v="319" actId="14100"/>
          <ac:spMkLst>
            <pc:docMk/>
            <pc:sldMk cId="2390606368" sldId="767"/>
            <ac:spMk id="10" creationId="{A25F5BE6-A1B1-8D58-5B8C-3933DAD99843}"/>
          </ac:spMkLst>
        </pc:spChg>
        <pc:grpChg chg="del">
          <ac:chgData name="Rian Pratama" userId="ba5a381f79e67128" providerId="LiveId" clId="{1B3D42E5-558C-46C9-A1CA-A9EF05FAD6B9}" dt="2025-11-12T02:00:15.729" v="154" actId="478"/>
          <ac:grpSpMkLst>
            <pc:docMk/>
            <pc:sldMk cId="2390606368" sldId="767"/>
            <ac:grpSpMk id="8" creationId="{1513AF7F-DE4E-478A-BB2A-B1D73EC501F1}"/>
          </ac:grpSpMkLst>
        </pc:grpChg>
      </pc:sldChg>
      <pc:sldChg chg="addSp modSp mod">
        <pc:chgData name="Rian Pratama" userId="ba5a381f79e67128" providerId="LiveId" clId="{1B3D42E5-558C-46C9-A1CA-A9EF05FAD6B9}" dt="2025-11-12T04:45:42.226" v="769" actId="20577"/>
        <pc:sldMkLst>
          <pc:docMk/>
          <pc:sldMk cId="4059009556" sldId="768"/>
        </pc:sldMkLst>
        <pc:spChg chg="mod">
          <ac:chgData name="Rian Pratama" userId="ba5a381f79e67128" providerId="LiveId" clId="{1B3D42E5-558C-46C9-A1CA-A9EF05FAD6B9}" dt="2025-11-12T04:45:42.226" v="769" actId="20577"/>
          <ac:spMkLst>
            <pc:docMk/>
            <pc:sldMk cId="4059009556" sldId="768"/>
            <ac:spMk id="2" creationId="{50B01AEB-429B-4D79-A779-E71028592453}"/>
          </ac:spMkLst>
        </pc:spChg>
        <pc:spChg chg="mod">
          <ac:chgData name="Rian Pratama" userId="ba5a381f79e67128" providerId="LiveId" clId="{1B3D42E5-558C-46C9-A1CA-A9EF05FAD6B9}" dt="2025-11-12T04:45:20.622" v="767" actId="2711"/>
          <ac:spMkLst>
            <pc:docMk/>
            <pc:sldMk cId="4059009556" sldId="768"/>
            <ac:spMk id="3" creationId="{FCA1B3FF-E1A2-4A97-B06C-3033995E25DA}"/>
          </ac:spMkLst>
        </pc:spChg>
        <pc:spChg chg="add">
          <ac:chgData name="Rian Pratama" userId="ba5a381f79e67128" providerId="LiveId" clId="{1B3D42E5-558C-46C9-A1CA-A9EF05FAD6B9}" dt="2025-11-12T04:44:25.500" v="743"/>
          <ac:spMkLst>
            <pc:docMk/>
            <pc:sldMk cId="4059009556" sldId="768"/>
            <ac:spMk id="6" creationId="{DD3839E4-A6D3-75FA-261D-C4DDE00239ED}"/>
          </ac:spMkLst>
        </pc:spChg>
      </pc:sldChg>
      <pc:sldChg chg="modSp mod">
        <pc:chgData name="Rian Pratama" userId="ba5a381f79e67128" providerId="LiveId" clId="{1B3D42E5-558C-46C9-A1CA-A9EF05FAD6B9}" dt="2025-11-12T02:09:59.465" v="451" actId="20577"/>
        <pc:sldMkLst>
          <pc:docMk/>
          <pc:sldMk cId="4190969314" sldId="769"/>
        </pc:sldMkLst>
        <pc:spChg chg="mod">
          <ac:chgData name="Rian Pratama" userId="ba5a381f79e67128" providerId="LiveId" clId="{1B3D42E5-558C-46C9-A1CA-A9EF05FAD6B9}" dt="2025-11-12T02:09:59.465" v="451" actId="20577"/>
          <ac:spMkLst>
            <pc:docMk/>
            <pc:sldMk cId="4190969314" sldId="769"/>
            <ac:spMk id="2" creationId="{50B01AEB-429B-4D79-A779-E71028592453}"/>
          </ac:spMkLst>
        </pc:spChg>
        <pc:spChg chg="mod">
          <ac:chgData name="Rian Pratama" userId="ba5a381f79e67128" providerId="LiveId" clId="{1B3D42E5-558C-46C9-A1CA-A9EF05FAD6B9}" dt="2025-11-12T02:09:11.554" v="396" actId="1076"/>
          <ac:spMkLst>
            <pc:docMk/>
            <pc:sldMk cId="4190969314" sldId="769"/>
            <ac:spMk id="3" creationId="{FCA1B3FF-E1A2-4A97-B06C-3033995E25DA}"/>
          </ac:spMkLst>
        </pc:spChg>
        <pc:spChg chg="mod">
          <ac:chgData name="Rian Pratama" userId="ba5a381f79e67128" providerId="LiveId" clId="{1B3D42E5-558C-46C9-A1CA-A9EF05FAD6B9}" dt="2025-11-12T02:09:20.386" v="397" actId="1076"/>
          <ac:spMkLst>
            <pc:docMk/>
            <pc:sldMk cId="4190969314" sldId="769"/>
            <ac:spMk id="8" creationId="{14BC3EE8-F998-405D-9236-AEF381A45E3F}"/>
          </ac:spMkLst>
        </pc:spChg>
        <pc:spChg chg="mod">
          <ac:chgData name="Rian Pratama" userId="ba5a381f79e67128" providerId="LiveId" clId="{1B3D42E5-558C-46C9-A1CA-A9EF05FAD6B9}" dt="2025-11-12T02:09:20.386" v="397" actId="1076"/>
          <ac:spMkLst>
            <pc:docMk/>
            <pc:sldMk cId="4190969314" sldId="769"/>
            <ac:spMk id="9" creationId="{BEE1491B-7E32-4329-B311-918DE6C15A1C}"/>
          </ac:spMkLst>
        </pc:spChg>
        <pc:spChg chg="mod">
          <ac:chgData name="Rian Pratama" userId="ba5a381f79e67128" providerId="LiveId" clId="{1B3D42E5-558C-46C9-A1CA-A9EF05FAD6B9}" dt="2025-11-12T02:09:20.386" v="397" actId="1076"/>
          <ac:spMkLst>
            <pc:docMk/>
            <pc:sldMk cId="4190969314" sldId="769"/>
            <ac:spMk id="10" creationId="{7DCC6F69-9068-49F5-8D30-1AC9F462F210}"/>
          </ac:spMkLst>
        </pc:spChg>
        <pc:spChg chg="mod">
          <ac:chgData name="Rian Pratama" userId="ba5a381f79e67128" providerId="LiveId" clId="{1B3D42E5-558C-46C9-A1CA-A9EF05FAD6B9}" dt="2025-11-12T02:09:20.386" v="397" actId="1076"/>
          <ac:spMkLst>
            <pc:docMk/>
            <pc:sldMk cId="4190969314" sldId="769"/>
            <ac:spMk id="11" creationId="{E3927DF4-08E9-436D-A9C6-887458768F91}"/>
          </ac:spMkLst>
        </pc:spChg>
        <pc:spChg chg="mod">
          <ac:chgData name="Rian Pratama" userId="ba5a381f79e67128" providerId="LiveId" clId="{1B3D42E5-558C-46C9-A1CA-A9EF05FAD6B9}" dt="2025-11-12T02:09:20.386" v="397" actId="1076"/>
          <ac:spMkLst>
            <pc:docMk/>
            <pc:sldMk cId="4190969314" sldId="769"/>
            <ac:spMk id="12" creationId="{C62115FB-B414-4D96-A2C3-26A7606EBEDD}"/>
          </ac:spMkLst>
        </pc:spChg>
        <pc:spChg chg="mod">
          <ac:chgData name="Rian Pratama" userId="ba5a381f79e67128" providerId="LiveId" clId="{1B3D42E5-558C-46C9-A1CA-A9EF05FAD6B9}" dt="2025-11-12T02:09:20.386" v="397" actId="1076"/>
          <ac:spMkLst>
            <pc:docMk/>
            <pc:sldMk cId="4190969314" sldId="769"/>
            <ac:spMk id="13" creationId="{DBE8B062-273B-4963-8D9C-09D1BD02340D}"/>
          </ac:spMkLst>
        </pc:spChg>
        <pc:spChg chg="mod">
          <ac:chgData name="Rian Pratama" userId="ba5a381f79e67128" providerId="LiveId" clId="{1B3D42E5-558C-46C9-A1CA-A9EF05FAD6B9}" dt="2025-11-12T02:09:20.386" v="397" actId="1076"/>
          <ac:spMkLst>
            <pc:docMk/>
            <pc:sldMk cId="4190969314" sldId="769"/>
            <ac:spMk id="14" creationId="{728FF343-BDA0-41DD-BF25-BD8D17DD555A}"/>
          </ac:spMkLst>
        </pc:spChg>
        <pc:spChg chg="mod">
          <ac:chgData name="Rian Pratama" userId="ba5a381f79e67128" providerId="LiveId" clId="{1B3D42E5-558C-46C9-A1CA-A9EF05FAD6B9}" dt="2025-11-12T02:09:46.638" v="424" actId="1076"/>
          <ac:spMkLst>
            <pc:docMk/>
            <pc:sldMk cId="4190969314" sldId="769"/>
            <ac:spMk id="15" creationId="{DAD06419-19F6-45EE-878D-0BA6179AB81D}"/>
          </ac:spMkLst>
        </pc:spChg>
      </pc:sldChg>
      <pc:sldChg chg="modSp mod">
        <pc:chgData name="Rian Pratama" userId="ba5a381f79e67128" providerId="LiveId" clId="{1B3D42E5-558C-46C9-A1CA-A9EF05FAD6B9}" dt="2025-11-12T04:56:22.619" v="783" actId="207"/>
        <pc:sldMkLst>
          <pc:docMk/>
          <pc:sldMk cId="227080311" sldId="770"/>
        </pc:sldMkLst>
        <pc:spChg chg="mod">
          <ac:chgData name="Rian Pratama" userId="ba5a381f79e67128" providerId="LiveId" clId="{1B3D42E5-558C-46C9-A1CA-A9EF05FAD6B9}" dt="2025-11-12T02:10:06.299" v="452"/>
          <ac:spMkLst>
            <pc:docMk/>
            <pc:sldMk cId="227080311" sldId="770"/>
            <ac:spMk id="2" creationId="{50B01AEB-429B-4D79-A779-E71028592453}"/>
          </ac:spMkLst>
        </pc:spChg>
        <pc:spChg chg="mod">
          <ac:chgData name="Rian Pratama" userId="ba5a381f79e67128" providerId="LiveId" clId="{1B3D42E5-558C-46C9-A1CA-A9EF05FAD6B9}" dt="2025-11-12T04:56:22.619" v="783" actId="207"/>
          <ac:spMkLst>
            <pc:docMk/>
            <pc:sldMk cId="227080311" sldId="770"/>
            <ac:spMk id="3" creationId="{FCA1B3FF-E1A2-4A97-B06C-3033995E25DA}"/>
          </ac:spMkLst>
        </pc:spChg>
      </pc:sldChg>
      <pc:sldChg chg="modSp mod">
        <pc:chgData name="Rian Pratama" userId="ba5a381f79e67128" providerId="LiveId" clId="{1B3D42E5-558C-46C9-A1CA-A9EF05FAD6B9}" dt="2025-11-12T05:02:05.918" v="846" actId="948"/>
        <pc:sldMkLst>
          <pc:docMk/>
          <pc:sldMk cId="2779757266" sldId="771"/>
        </pc:sldMkLst>
        <pc:spChg chg="mod">
          <ac:chgData name="Rian Pratama" userId="ba5a381f79e67128" providerId="LiveId" clId="{1B3D42E5-558C-46C9-A1CA-A9EF05FAD6B9}" dt="2025-11-12T04:45:46.614" v="770"/>
          <ac:spMkLst>
            <pc:docMk/>
            <pc:sldMk cId="2779757266" sldId="771"/>
            <ac:spMk id="2" creationId="{DA7562D5-6F29-CB8B-FC53-DCBBCC4571FB}"/>
          </ac:spMkLst>
        </pc:spChg>
        <pc:spChg chg="mod">
          <ac:chgData name="Rian Pratama" userId="ba5a381f79e67128" providerId="LiveId" clId="{1B3D42E5-558C-46C9-A1CA-A9EF05FAD6B9}" dt="2025-11-12T05:02:05.918" v="846" actId="948"/>
          <ac:spMkLst>
            <pc:docMk/>
            <pc:sldMk cId="2779757266" sldId="771"/>
            <ac:spMk id="3" creationId="{B1790859-5BF9-581D-374E-042B7D75A74E}"/>
          </ac:spMkLst>
        </pc:spChg>
      </pc:sldChg>
      <pc:sldChg chg="modSp mod">
        <pc:chgData name="Rian Pratama" userId="ba5a381f79e67128" providerId="LiveId" clId="{1B3D42E5-558C-46C9-A1CA-A9EF05FAD6B9}" dt="2025-11-12T05:48:06.014" v="1491"/>
        <pc:sldMkLst>
          <pc:docMk/>
          <pc:sldMk cId="4188996729" sldId="772"/>
        </pc:sldMkLst>
        <pc:spChg chg="mod">
          <ac:chgData name="Rian Pratama" userId="ba5a381f79e67128" providerId="LiveId" clId="{1B3D42E5-558C-46C9-A1CA-A9EF05FAD6B9}" dt="2025-11-12T05:48:06.014" v="1491"/>
          <ac:spMkLst>
            <pc:docMk/>
            <pc:sldMk cId="4188996729" sldId="772"/>
            <ac:spMk id="2" creationId="{2ADD0093-E338-EFCD-4329-4FAA306188A9}"/>
          </ac:spMkLst>
        </pc:spChg>
        <pc:spChg chg="mod">
          <ac:chgData name="Rian Pratama" userId="ba5a381f79e67128" providerId="LiveId" clId="{1B3D42E5-558C-46C9-A1CA-A9EF05FAD6B9}" dt="2025-11-12T05:36:39.757" v="1295" actId="1076"/>
          <ac:spMkLst>
            <pc:docMk/>
            <pc:sldMk cId="4188996729" sldId="772"/>
            <ac:spMk id="3" creationId="{0A697EDF-9B70-E9E7-A92C-72198C4E74A4}"/>
          </ac:spMkLst>
        </pc:spChg>
      </pc:sldChg>
      <pc:sldChg chg="addSp modSp mod">
        <pc:chgData name="Rian Pratama" userId="ba5a381f79e67128" providerId="LiveId" clId="{1B3D42E5-558C-46C9-A1CA-A9EF05FAD6B9}" dt="2025-11-12T05:48:18.648" v="1492" actId="2711"/>
        <pc:sldMkLst>
          <pc:docMk/>
          <pc:sldMk cId="3607227635" sldId="773"/>
        </pc:sldMkLst>
        <pc:spChg chg="mod">
          <ac:chgData name="Rian Pratama" userId="ba5a381f79e67128" providerId="LiveId" clId="{1B3D42E5-558C-46C9-A1CA-A9EF05FAD6B9}" dt="2025-11-12T05:48:18.648" v="1492" actId="2711"/>
          <ac:spMkLst>
            <pc:docMk/>
            <pc:sldMk cId="3607227635" sldId="773"/>
            <ac:spMk id="2" creationId="{EF66BBBA-F940-90B2-649D-034AF14FB850}"/>
          </ac:spMkLst>
        </pc:spChg>
        <pc:spChg chg="mod">
          <ac:chgData name="Rian Pratama" userId="ba5a381f79e67128" providerId="LiveId" clId="{1B3D42E5-558C-46C9-A1CA-A9EF05FAD6B9}" dt="2025-11-12T05:45:24.109" v="1490" actId="113"/>
          <ac:spMkLst>
            <pc:docMk/>
            <pc:sldMk cId="3607227635" sldId="773"/>
            <ac:spMk id="3" creationId="{710D7D7D-E6BD-8A7F-227D-F250B8C04AF7}"/>
          </ac:spMkLst>
        </pc:spChg>
        <pc:spChg chg="add">
          <ac:chgData name="Rian Pratama" userId="ba5a381f79e67128" providerId="LiveId" clId="{1B3D42E5-558C-46C9-A1CA-A9EF05FAD6B9}" dt="2025-11-12T05:40:20.019" v="1341"/>
          <ac:spMkLst>
            <pc:docMk/>
            <pc:sldMk cId="3607227635" sldId="773"/>
            <ac:spMk id="6" creationId="{0C9A4CFD-F87E-12A1-FEB5-1F9D8A6C643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:a16="http://schemas.microsoft.com/office/drawing/2014/main" id="{1316229A-3DB2-2CA0-D00B-7FAA50A2282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A9E28C48-9B4E-FDE0-A0F4-786E9592889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2996" name="Rectangle 4">
            <a:extLst>
              <a:ext uri="{FF2B5EF4-FFF2-40B4-BE49-F238E27FC236}">
                <a16:creationId xmlns:a16="http://schemas.microsoft.com/office/drawing/2014/main" id="{CC8BBF82-7BDD-7F52-12D3-B15C78F5056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2997" name="Rectangle 5">
            <a:extLst>
              <a:ext uri="{FF2B5EF4-FFF2-40B4-BE49-F238E27FC236}">
                <a16:creationId xmlns:a16="http://schemas.microsoft.com/office/drawing/2014/main" id="{05000E0A-C527-667B-5153-0E69FF16E40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5E147542-6C9F-46B7-861E-EF81559660F7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DAB065AD-BDDE-2C96-BCA7-C3BDEAD420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444D99AF-697D-B9AD-F8A8-ECEE09A937B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FF61F5DE-ECC4-BD63-FE71-7EDD04D22B6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E584EFC4-2106-1CAC-A333-7106121412E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C7AA52A1-3BDC-2770-0144-13D74B5B693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ADEE2139-9900-90A5-3A40-3AA85242B1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4B19F855-8DEC-431C-9CAA-E4A3FCD1EFC5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이미지 개체 틀 1">
            <a:extLst>
              <a:ext uri="{FF2B5EF4-FFF2-40B4-BE49-F238E27FC236}">
                <a16:creationId xmlns:a16="http://schemas.microsoft.com/office/drawing/2014/main" id="{844E2F9F-013C-C7D9-0F69-4F880721C08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슬라이드 노트 개체 틀 2">
            <a:extLst>
              <a:ext uri="{FF2B5EF4-FFF2-40B4-BE49-F238E27FC236}">
                <a16:creationId xmlns:a16="http://schemas.microsoft.com/office/drawing/2014/main" id="{FEDBA002-EFF9-BDA5-1595-2DFCFD0A2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48" name="슬라이드 번호 개체 틀 3">
            <a:extLst>
              <a:ext uri="{FF2B5EF4-FFF2-40B4-BE49-F238E27FC236}">
                <a16:creationId xmlns:a16="http://schemas.microsoft.com/office/drawing/2014/main" id="{A1BAC1DA-8705-8E05-D2D2-767FECA95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E48C33CB-C412-4A4E-AA6C-5B725E0B7240}" type="slidenum">
              <a:rPr lang="ko-KR" altLang="en-US"/>
              <a:pPr/>
              <a:t>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이미지 개체 틀 1">
            <a:extLst>
              <a:ext uri="{FF2B5EF4-FFF2-40B4-BE49-F238E27FC236}">
                <a16:creationId xmlns:a16="http://schemas.microsoft.com/office/drawing/2014/main" id="{4E9A5669-0D94-2E6C-75E3-62B5D75732C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슬라이드 노트 개체 틀 2">
            <a:extLst>
              <a:ext uri="{FF2B5EF4-FFF2-40B4-BE49-F238E27FC236}">
                <a16:creationId xmlns:a16="http://schemas.microsoft.com/office/drawing/2014/main" id="{9BF9E40D-C862-7606-66FE-1DFCDD00B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196" name="슬라이드 번호 개체 틀 3">
            <a:extLst>
              <a:ext uri="{FF2B5EF4-FFF2-40B4-BE49-F238E27FC236}">
                <a16:creationId xmlns:a16="http://schemas.microsoft.com/office/drawing/2014/main" id="{68D22210-C768-22F5-9149-B01A72FBB2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9BE18182-CD5F-4D52-BCEE-8D7162881017}" type="slidenum">
              <a:rPr lang="ko-KR" altLang="en-US"/>
              <a:pPr/>
              <a:t>2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>
            <a:extLst>
              <a:ext uri="{FF2B5EF4-FFF2-40B4-BE49-F238E27FC236}">
                <a16:creationId xmlns:a16="http://schemas.microsoft.com/office/drawing/2014/main" id="{9FDD14FD-92F4-28D7-0CC5-8295855A25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>
            <a:extLst>
              <a:ext uri="{FF2B5EF4-FFF2-40B4-BE49-F238E27FC236}">
                <a16:creationId xmlns:a16="http://schemas.microsoft.com/office/drawing/2014/main" id="{51E911ED-EA2A-4028-EDCC-B9760C93E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>
            <a:extLst>
              <a:ext uri="{FF2B5EF4-FFF2-40B4-BE49-F238E27FC236}">
                <a16:creationId xmlns:a16="http://schemas.microsoft.com/office/drawing/2014/main" id="{11E5529A-26BE-DB73-8CCB-5B2834CFFE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35A9E472-40BC-4F82-B769-FDD0A380A6F5}" type="slidenum">
              <a:rPr lang="ko-KR" altLang="en-US"/>
              <a:pPr/>
              <a:t>8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이미지 개체 틀 1">
            <a:extLst>
              <a:ext uri="{FF2B5EF4-FFF2-40B4-BE49-F238E27FC236}">
                <a16:creationId xmlns:a16="http://schemas.microsoft.com/office/drawing/2014/main" id="{CEF84312-8CD2-3F9A-7E05-024C50BD52C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슬라이드 노트 개체 틀 2">
            <a:extLst>
              <a:ext uri="{FF2B5EF4-FFF2-40B4-BE49-F238E27FC236}">
                <a16:creationId xmlns:a16="http://schemas.microsoft.com/office/drawing/2014/main" id="{C42F1408-B203-932E-5397-5D294E98F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2" name="슬라이드 번호 개체 틀 3">
            <a:extLst>
              <a:ext uri="{FF2B5EF4-FFF2-40B4-BE49-F238E27FC236}">
                <a16:creationId xmlns:a16="http://schemas.microsoft.com/office/drawing/2014/main" id="{5EB64C07-E00F-10E2-6D50-AB32FB2134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96FA1BE3-CCF3-46C8-9607-36F47D565F41}" type="slidenum">
              <a:rPr lang="ko-KR" altLang="en-US"/>
              <a:pPr/>
              <a:t>9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7938B0A3-BB4A-CD03-D23F-DB3A88EB14B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1F6B0607-0B36-FD65-C790-7502BC28E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77D9FEA3-30AC-8135-9B37-3C426CAA59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6FC67BF1-B059-42DD-8832-793BC7F48322}" type="slidenum">
              <a:rPr lang="ko-KR" altLang="en-US"/>
              <a:pPr/>
              <a:t>10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>
            <a:extLst>
              <a:ext uri="{FF2B5EF4-FFF2-40B4-BE49-F238E27FC236}">
                <a16:creationId xmlns:a16="http://schemas.microsoft.com/office/drawing/2014/main" id="{A2BC5CA6-C89C-97AE-4AFE-98EA88C1F18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슬라이드 노트 개체 틀 2">
            <a:extLst>
              <a:ext uri="{FF2B5EF4-FFF2-40B4-BE49-F238E27FC236}">
                <a16:creationId xmlns:a16="http://schemas.microsoft.com/office/drawing/2014/main" id="{88015D93-8AEC-3DB1-5F86-9CBCA8BA9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B3279137-720B-DF22-2C0C-9A1B3BD2CE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96FF95D3-85DA-4863-8C47-7D416995BB53}" type="slidenum">
              <a:rPr lang="ko-KR" altLang="en-US"/>
              <a:pPr/>
              <a:t>11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>
            <a:extLst>
              <a:ext uri="{FF2B5EF4-FFF2-40B4-BE49-F238E27FC236}">
                <a16:creationId xmlns:a16="http://schemas.microsoft.com/office/drawing/2014/main" id="{0645846D-8A0F-3FBB-3B8C-D0301FE729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슬라이드 노트 개체 틀 2">
            <a:extLst>
              <a:ext uri="{FF2B5EF4-FFF2-40B4-BE49-F238E27FC236}">
                <a16:creationId xmlns:a16="http://schemas.microsoft.com/office/drawing/2014/main" id="{6CBCEDFE-9AEA-91F8-C643-7F7AEDD42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436" name="슬라이드 번호 개체 틀 3">
            <a:extLst>
              <a:ext uri="{FF2B5EF4-FFF2-40B4-BE49-F238E27FC236}">
                <a16:creationId xmlns:a16="http://schemas.microsoft.com/office/drawing/2014/main" id="{ADCC7631-4ADC-649F-FC5C-14CF94CA25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A22D10AC-71BB-47CC-A1FE-71D153AB5D55}" type="slidenum">
              <a:rPr lang="ko-KR" altLang="en-US"/>
              <a:pPr/>
              <a:t>12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>
            <a:extLst>
              <a:ext uri="{FF2B5EF4-FFF2-40B4-BE49-F238E27FC236}">
                <a16:creationId xmlns:a16="http://schemas.microsoft.com/office/drawing/2014/main" id="{BFD9CA31-A274-6990-437E-813973F407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슬라이드 노트 개체 틀 2">
            <a:extLst>
              <a:ext uri="{FF2B5EF4-FFF2-40B4-BE49-F238E27FC236}">
                <a16:creationId xmlns:a16="http://schemas.microsoft.com/office/drawing/2014/main" id="{69C3153A-F501-A460-354C-6EAC7E888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484" name="슬라이드 번호 개체 틀 3">
            <a:extLst>
              <a:ext uri="{FF2B5EF4-FFF2-40B4-BE49-F238E27FC236}">
                <a16:creationId xmlns:a16="http://schemas.microsoft.com/office/drawing/2014/main" id="{0DC8CBA1-B5F1-7CAD-3A9A-4D138A69A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5D4A5FEF-436E-46C7-B746-0C913A4538E0}" type="slidenum">
              <a:rPr lang="ko-KR" altLang="en-US"/>
              <a:pPr/>
              <a:t>13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슬라이드 이미지 개체 틀 1">
            <a:extLst>
              <a:ext uri="{FF2B5EF4-FFF2-40B4-BE49-F238E27FC236}">
                <a16:creationId xmlns:a16="http://schemas.microsoft.com/office/drawing/2014/main" id="{B61FF46A-88F7-E991-B4EC-59928B4347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슬라이드 노트 개체 틀 2">
            <a:extLst>
              <a:ext uri="{FF2B5EF4-FFF2-40B4-BE49-F238E27FC236}">
                <a16:creationId xmlns:a16="http://schemas.microsoft.com/office/drawing/2014/main" id="{2BBD01BA-766E-B9C4-4703-AEDC73EDB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32" name="슬라이드 번호 개체 틀 3">
            <a:extLst>
              <a:ext uri="{FF2B5EF4-FFF2-40B4-BE49-F238E27FC236}">
                <a16:creationId xmlns:a16="http://schemas.microsoft.com/office/drawing/2014/main" id="{4C98F514-2DAB-BA5B-DD21-885A7EC77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C6E61F99-8F3A-4A9A-B67D-E130380E8FA3}" type="slidenum">
              <a:rPr lang="ko-KR" altLang="en-US"/>
              <a:pPr/>
              <a:t>14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슬라이드 이미지 개체 틀 1">
            <a:extLst>
              <a:ext uri="{FF2B5EF4-FFF2-40B4-BE49-F238E27FC236}">
                <a16:creationId xmlns:a16="http://schemas.microsoft.com/office/drawing/2014/main" id="{C81BC487-20AE-2E2E-60AA-9FF2838AC3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슬라이드 노트 개체 틀 2">
            <a:extLst>
              <a:ext uri="{FF2B5EF4-FFF2-40B4-BE49-F238E27FC236}">
                <a16:creationId xmlns:a16="http://schemas.microsoft.com/office/drawing/2014/main" id="{29227B32-BFB9-0EF0-6A98-6E1CC3E68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4580" name="슬라이드 번호 개체 틀 3">
            <a:extLst>
              <a:ext uri="{FF2B5EF4-FFF2-40B4-BE49-F238E27FC236}">
                <a16:creationId xmlns:a16="http://schemas.microsoft.com/office/drawing/2014/main" id="{DE980824-C264-5959-5B8A-2CF33F4550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E4F785C3-8958-407F-A435-71A4D7872824}" type="slidenum">
              <a:rPr lang="ko-KR" altLang="en-US"/>
              <a:pPr/>
              <a:t>15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슬라이드 이미지 개체 틀 1">
            <a:extLst>
              <a:ext uri="{FF2B5EF4-FFF2-40B4-BE49-F238E27FC236}">
                <a16:creationId xmlns:a16="http://schemas.microsoft.com/office/drawing/2014/main" id="{AFC7A9D6-EB9C-0524-6CAC-4FBFF724A7C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슬라이드 노트 개체 틀 2">
            <a:extLst>
              <a:ext uri="{FF2B5EF4-FFF2-40B4-BE49-F238E27FC236}">
                <a16:creationId xmlns:a16="http://schemas.microsoft.com/office/drawing/2014/main" id="{7EB95E3D-3DD2-05A6-B07C-C2CE8A224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628" name="슬라이드 번호 개체 틀 3">
            <a:extLst>
              <a:ext uri="{FF2B5EF4-FFF2-40B4-BE49-F238E27FC236}">
                <a16:creationId xmlns:a16="http://schemas.microsoft.com/office/drawing/2014/main" id="{F12EF839-1C6F-5270-27DB-1CBD71CE05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37E0F32A-E656-47E9-9CC6-79937D914AB0}" type="slidenum">
              <a:rPr lang="ko-KR" altLang="en-US"/>
              <a:pPr/>
              <a:t>16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슬라이드 이미지 개체 틀 1">
            <a:extLst>
              <a:ext uri="{FF2B5EF4-FFF2-40B4-BE49-F238E27FC236}">
                <a16:creationId xmlns:a16="http://schemas.microsoft.com/office/drawing/2014/main" id="{E3D4E08E-82F3-0766-D656-674698A72B3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슬라이드 노트 개체 틀 2">
            <a:extLst>
              <a:ext uri="{FF2B5EF4-FFF2-40B4-BE49-F238E27FC236}">
                <a16:creationId xmlns:a16="http://schemas.microsoft.com/office/drawing/2014/main" id="{27156ECD-B356-9675-2A0A-4131537FE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8676" name="슬라이드 번호 개체 틀 3">
            <a:extLst>
              <a:ext uri="{FF2B5EF4-FFF2-40B4-BE49-F238E27FC236}">
                <a16:creationId xmlns:a16="http://schemas.microsoft.com/office/drawing/2014/main" id="{40039F37-FED4-E6FC-B1C7-921C5D0D3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641A76B2-83EE-45C8-BFD2-BF75681E0835}" type="slidenum">
              <a:rPr lang="ko-KR" altLang="en-US"/>
              <a:pPr/>
              <a:t>17</a:t>
            </a:fld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lnSpc>
                <a:spcPct val="120000"/>
              </a:lnSpc>
              <a:defRPr sz="36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28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6FAFED-56D8-8C06-2C4A-A4865B4D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E9F55E-2F80-42CE-47AF-5E78138D7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D)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9DB433-D598-3D62-833A-7B8003762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04AD01-3EB5-4383-81AF-65F542D50067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04427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  <a:noFill/>
          <a:ln cmpd="sng">
            <a:noFill/>
          </a:ln>
        </p:spPr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256584"/>
          </a:xfrm>
        </p:spPr>
        <p:txBody>
          <a:bodyPr/>
          <a:lstStyle>
            <a:lvl1pPr marL="288000" indent="-288000">
              <a:lnSpc>
                <a:spcPct val="120000"/>
              </a:lnSpc>
              <a:defRPr sz="2000">
                <a:latin typeface="Arial" pitchFamily="34" charset="0"/>
                <a:cs typeface="Arial" pitchFamily="34" charset="0"/>
              </a:defRPr>
            </a:lvl1pPr>
            <a:lvl2pPr marL="612000">
              <a:lnSpc>
                <a:spcPct val="120000"/>
              </a:lnSpc>
              <a:defRPr sz="2000">
                <a:latin typeface="Arial" pitchFamily="34" charset="0"/>
                <a:cs typeface="Arial" pitchFamily="34" charset="0"/>
              </a:defRPr>
            </a:lvl2pPr>
            <a:lvl3pPr marL="900000" indent="-288000">
              <a:lnSpc>
                <a:spcPct val="120000"/>
              </a:lnSpc>
              <a:buFont typeface="Arial" pitchFamily="34" charset="0"/>
              <a:buChar char="○"/>
              <a:defRPr sz="2000">
                <a:latin typeface="Arial" pitchFamily="34" charset="0"/>
                <a:cs typeface="Arial" pitchFamily="34" charset="0"/>
              </a:defRPr>
            </a:lvl3pPr>
            <a:lvl4pPr marL="1080000">
              <a:lnSpc>
                <a:spcPct val="120000"/>
              </a:lnSpc>
              <a:buFont typeface="Wingdings" pitchFamily="2" charset="2"/>
              <a:buChar char="ü"/>
              <a:defRPr sz="1800">
                <a:latin typeface="Arial" pitchFamily="34" charset="0"/>
                <a:cs typeface="Arial" pitchFamily="34" charset="0"/>
              </a:defRPr>
            </a:lvl4pPr>
            <a:lvl5pPr marL="1332000">
              <a:lnSpc>
                <a:spcPct val="120000"/>
              </a:lnSpc>
              <a:defRPr sz="18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50D296E1-F0E8-FB1E-0066-08502E61A2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051050" y="6356350"/>
            <a:ext cx="5041900" cy="365125"/>
          </a:xfrm>
        </p:spPr>
        <p:txBody>
          <a:bodyPr/>
          <a:lstStyle>
            <a:lvl1pPr>
              <a:defRPr>
                <a:latin typeface="Book Antiqua" pitchFamily="18" charset="0"/>
              </a:defRPr>
            </a:lvl1pPr>
          </a:lstStyle>
          <a:p>
            <a:pPr>
              <a:defRPr/>
            </a:pPr>
            <a:r>
              <a:rPr lang="en-US" altLang="ko-KR"/>
              <a:t>Search Algorithms: Object-Oriented Implementation (Part D)</a:t>
            </a:r>
            <a:endParaRPr lang="ko-KR" altLang="ko-KR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41E619FB-C7F8-0040-C6F1-7B4F9B3128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596188" y="6356350"/>
            <a:ext cx="1090612" cy="365125"/>
          </a:xfrm>
        </p:spPr>
        <p:txBody>
          <a:bodyPr/>
          <a:lstStyle>
            <a:lvl1pPr>
              <a:defRPr>
                <a:latin typeface="Book Antiqua" panose="02040602050305030304" pitchFamily="18" charset="0"/>
              </a:defRPr>
            </a:lvl1pPr>
          </a:lstStyle>
          <a:p>
            <a:fld id="{CCC6D964-9752-4432-9B3C-BD12E3EA2420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70199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4B99EB-50A4-E611-B6C3-51F518421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185B9D-E8ED-133D-4485-9A4F2E1A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D)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768B78-4E3E-16A8-D015-AE63F31B8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DF91F5-66BE-4C87-B84B-8C45FA12B7CA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42755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A03803CD-EA2B-9BDF-AFDC-C87AF0FEA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DE5FE39C-A156-4F7E-E152-474C06D94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D)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54273CF3-869E-4D92-CEF3-F163AF197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99112E-6899-4681-83B2-9765379FCC18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05560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AE59A464-3582-2139-3C08-6D55563B9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F6DCA5F5-2E15-4DB7-4934-25CD48ACA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D)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6242EC10-7E79-9D4D-2FCA-A75E01391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199617-AD28-445A-993D-9405A9045449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31306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56ACDF84-05EC-02D7-E63D-84FA88B3C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F7889C2B-302A-2F61-CDEF-791EC2147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D)</a:t>
            </a:r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86E548E9-62DF-EDEB-C9EB-2A9AC1483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FCF095-F328-4E32-91EF-0763380B264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5940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3AC456F6-460F-5B96-B10E-792B6D4F7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CC8F8BDB-E45D-B660-A693-14044778F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D)</a:t>
            </a:r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59CC4079-9E33-633C-BE9B-B35AD44F7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1FC6F5-6373-43CD-A1B5-5C2481B5FCC0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59025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A8CD4A14-7259-879A-D12F-E8713FAC0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95E24194-47B4-663E-6C94-54982DD9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D)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6B95BC1D-E5FE-38DE-6CC0-0881696F8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8E4B83-B69A-4BF6-8404-E92A97B34A4B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9717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55B75918-6CEC-6A55-9238-19C45A1D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5D1B7CB8-3196-76CA-A314-23ACC2A20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D)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0F77F583-4237-3E20-4D61-3BC3921A0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866AE-67C8-464C-A601-5083EA026DB1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79158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F49425-2528-5E7D-420F-D59903728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5B2091-63F1-22F7-043B-1FC4BD2C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D)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4E5CD9-1859-ED89-6EDF-8466A6A1E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82F2E0-BB3D-4326-BAD7-FD0FD6AA0CA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35652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C6D8C7-A141-20E9-4841-A966934A3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FF6176-5351-89D1-2B77-82738B3F0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D)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C08486-0B80-34F0-6606-DA7540E89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26C8F4-7E3E-4E61-8888-46031C38D6F2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0964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BC2E6334-9E18-5584-A670-322A297350E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33F069BE-E5A2-C70F-621C-5B40049CBBC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196975"/>
            <a:ext cx="8229600" cy="492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CA4388-6A47-F99D-1A29-A9DCFA5E0B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latin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596832-F89C-29D8-AD1A-A881DA2455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latin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/>
              <a:t>Search Algorithms: Object-Oriented Implementation (Part D)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38EE04-AC69-9602-020C-D81C19EF68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D8829C80-EAD9-4FB1-BE66-1B93D2E5209F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40" r:id="rId1"/>
    <p:sldLayoutId id="2147485750" r:id="rId2"/>
    <p:sldLayoutId id="2147485741" r:id="rId3"/>
    <p:sldLayoutId id="2147485742" r:id="rId4"/>
    <p:sldLayoutId id="2147485743" r:id="rId5"/>
    <p:sldLayoutId id="2147485744" r:id="rId6"/>
    <p:sldLayoutId id="2147485745" r:id="rId7"/>
    <p:sldLayoutId id="2147485746" r:id="rId8"/>
    <p:sldLayoutId id="2147485747" r:id="rId9"/>
    <p:sldLayoutId id="2147485748" r:id="rId10"/>
    <p:sldLayoutId id="2147485749" r:id="rId11"/>
  </p:sldLayoutIdLst>
  <p:hf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A2C508E-4158-E24B-FDC3-682B0BD7BAD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95288" y="1844675"/>
            <a:ext cx="8353425" cy="2016125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7882AA"/>
                </a:solidFill>
              </a:rPr>
              <a:t>Search Algorithms: Object-Oriented Implementation (Part D)</a:t>
            </a:r>
            <a:endParaRPr lang="ko-KR" altLang="en-US">
              <a:solidFill>
                <a:srgbClr val="7882AA"/>
              </a:solidFill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FE4C991-D086-DA70-4EBB-69D1662E7E2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071563" y="4149725"/>
            <a:ext cx="7143750" cy="1366838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endParaRPr lang="en-US" altLang="ko-KR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>
            <a:extLst>
              <a:ext uri="{FF2B5EF4-FFF2-40B4-BE49-F238E27FC236}">
                <a16:creationId xmlns:a16="http://schemas.microsoft.com/office/drawing/2014/main" id="{0E11D176-F54B-624F-3D61-AA5B30BF72DC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Conventional vs. AI Algorithms</a:t>
            </a:r>
          </a:p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Local Search Algorithms</a:t>
            </a:r>
          </a:p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Implementing Hill-Climbing Algorithms</a:t>
            </a:r>
          </a:p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Defining ‘Problem’ Class</a:t>
            </a:r>
          </a:p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Adding Gradient Descent</a:t>
            </a:r>
          </a:p>
          <a:p>
            <a:pPr marL="287338" indent="-287338"/>
            <a:r>
              <a:rPr lang="en-US" altLang="ko-KR" sz="2400" dirty="0">
                <a:solidFill>
                  <a:srgbClr val="0033CC"/>
                </a:solidFill>
              </a:rPr>
              <a:t>Defining ‘</a:t>
            </a:r>
            <a:r>
              <a:rPr lang="en-US" altLang="ko-KR" sz="2400" dirty="0" err="1">
                <a:solidFill>
                  <a:srgbClr val="0033CC"/>
                </a:solidFill>
              </a:rPr>
              <a:t>HillClimbing</a:t>
            </a:r>
            <a:r>
              <a:rPr lang="en-US" altLang="ko-KR" sz="2400" dirty="0">
                <a:solidFill>
                  <a:srgbClr val="0033CC"/>
                </a:solidFill>
              </a:rPr>
              <a:t>’ Class</a:t>
            </a:r>
          </a:p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Adding More Algorithms and Classes</a:t>
            </a:r>
          </a:p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Experiments</a:t>
            </a: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A7BCDAF-27C2-E799-2FCB-C37F18AD1D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>
                <a:solidFill>
                  <a:srgbClr val="7882AA"/>
                </a:solidFill>
              </a:rPr>
              <a:t>Contents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93B82521-AA34-CB4F-127A-E692CF93F8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D)</a:t>
            </a:r>
            <a:endParaRPr lang="ko-KR" altLang="ko-KR"/>
          </a:p>
        </p:txBody>
      </p:sp>
      <p:sp>
        <p:nvSpPr>
          <p:cNvPr id="7173" name="슬라이드 번호 개체 틀 1">
            <a:extLst>
              <a:ext uri="{FF2B5EF4-FFF2-40B4-BE49-F238E27FC236}">
                <a16:creationId xmlns:a16="http://schemas.microsoft.com/office/drawing/2014/main" id="{616B8B6A-519D-0378-048B-0445474F60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22E800E-11B5-4DB7-B9A7-241F53E1405F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sp>
        <p:nvSpPr>
          <p:cNvPr id="2" name="말풍선: 사각형 1">
            <a:extLst>
              <a:ext uri="{FF2B5EF4-FFF2-40B4-BE49-F238E27FC236}">
                <a16:creationId xmlns:a16="http://schemas.microsoft.com/office/drawing/2014/main" id="{AA34F2A2-CF73-47D3-8A67-46C89E1445E8}"/>
              </a:ext>
            </a:extLst>
          </p:cNvPr>
          <p:cNvSpPr/>
          <p:nvPr/>
        </p:nvSpPr>
        <p:spPr>
          <a:xfrm>
            <a:off x="4932040" y="3140968"/>
            <a:ext cx="2952328" cy="702319"/>
          </a:xfrm>
          <a:prstGeom prst="wedgeRectCallout">
            <a:avLst>
              <a:gd name="adj1" fmla="val -57122"/>
              <a:gd name="adj2" fmla="val 4451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Helvetica" pitchFamily="2" charset="0"/>
              </a:rPr>
              <a:t>Goal: Implement a </a:t>
            </a:r>
            <a:r>
              <a:rPr lang="en-US" sz="1200" dirty="0" err="1">
                <a:latin typeface="Consolas" panose="020B0609020204030204" pitchFamily="49" charset="0"/>
              </a:rPr>
              <a:t>HillClimbing</a:t>
            </a:r>
            <a:r>
              <a:rPr lang="en-US" sz="1200" dirty="0">
                <a:latin typeface="Helvetica" pitchFamily="2" charset="0"/>
              </a:rPr>
              <a:t> class that integrates multiple Search Algorithms into a single unit!</a:t>
            </a:r>
            <a:endParaRPr lang="ko-KR" altLang="en-US" sz="1200" dirty="0">
              <a:latin typeface="Helvetica" pitchFamily="2" charset="0"/>
              <a:ea typeface="나눔스퀘어_ac" panose="020B0600000101010101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908A30-13BF-3727-D7B8-3A2F85E0ABC1}"/>
              </a:ext>
            </a:extLst>
          </p:cNvPr>
          <p:cNvSpPr/>
          <p:nvPr/>
        </p:nvSpPr>
        <p:spPr>
          <a:xfrm>
            <a:off x="899592" y="4149080"/>
            <a:ext cx="6696596" cy="19442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0B01AEB-429B-4D79-A779-E71028592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Summary of Implementation So Far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A1B3FF-E1A2-4A97-B06C-3033995E2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600" dirty="0"/>
              <a:t>Search Algorithm (C) / Search Tool v2 </a:t>
            </a:r>
            <a:r>
              <a:rPr lang="en-US" sz="1600" dirty="0"/>
              <a:t>Implementation Status</a:t>
            </a:r>
            <a:endParaRPr lang="en-US" altLang="ko-KR" sz="1600" dirty="0"/>
          </a:p>
          <a:p>
            <a:pPr lvl="1"/>
            <a:r>
              <a:rPr lang="en-US" altLang="ko-KR" sz="1400" dirty="0"/>
              <a:t>problem.py : </a:t>
            </a:r>
            <a:r>
              <a:rPr lang="en-US" sz="1400" dirty="0"/>
              <a:t>Definition of the class for </a:t>
            </a:r>
            <a:r>
              <a:rPr lang="en-US" sz="1400" i="1" dirty="0"/>
              <a:t>variables/functions related to the problem's solution</a:t>
            </a:r>
            <a:r>
              <a:rPr lang="en-US" sz="1400" dirty="0"/>
              <a:t>.</a:t>
            </a:r>
            <a:endParaRPr lang="en-US" altLang="ko-KR" sz="1400" dirty="0"/>
          </a:p>
          <a:p>
            <a:pPr lvl="2"/>
            <a:r>
              <a:rPr lang="en-US" altLang="ko-KR" sz="1200" dirty="0">
                <a:latin typeface="Consolas" panose="020B0609020204030204" pitchFamily="49" charset="0"/>
              </a:rPr>
              <a:t>Problem</a:t>
            </a:r>
            <a:r>
              <a:rPr lang="ko-KR" altLang="en-US" sz="1200" dirty="0"/>
              <a:t> </a:t>
            </a:r>
            <a:r>
              <a:rPr lang="en-US" altLang="ko-KR" sz="1200" dirty="0"/>
              <a:t>Class</a:t>
            </a:r>
            <a:r>
              <a:rPr lang="ko-KR" altLang="en-US" sz="1200" dirty="0"/>
              <a:t> </a:t>
            </a:r>
            <a:r>
              <a:rPr lang="en-US" altLang="ko-KR" sz="1200" dirty="0"/>
              <a:t>definition</a:t>
            </a:r>
            <a:r>
              <a:rPr lang="ko-KR" altLang="en-US" sz="1200" dirty="0"/>
              <a:t> </a:t>
            </a:r>
            <a:r>
              <a:rPr lang="en-US" altLang="ko-KR" sz="1200" dirty="0"/>
              <a:t>: </a:t>
            </a:r>
            <a:r>
              <a:rPr lang="en-US" sz="1200" dirty="0"/>
              <a:t>Includes content common regardless of the problem type (e.g., saving the solution, saving </a:t>
            </a:r>
            <a:r>
              <a:rPr lang="en-US" sz="1200" dirty="0" err="1">
                <a:latin typeface="Consolas" panose="020B0609020204030204" pitchFamily="49" charset="0"/>
              </a:rPr>
              <a:t>numEval</a:t>
            </a:r>
            <a:r>
              <a:rPr lang="en-US" sz="1200" dirty="0"/>
              <a:t>, etc.)</a:t>
            </a:r>
            <a:endParaRPr lang="en-US" altLang="ko-KR" sz="1200" dirty="0"/>
          </a:p>
          <a:p>
            <a:pPr lvl="2"/>
            <a:r>
              <a:rPr lang="en-US" sz="1200" dirty="0"/>
              <a:t>Defines two subclasses based on the problem type, and defines information and frequently used functions related to each problem</a:t>
            </a:r>
            <a:r>
              <a:rPr lang="en-US" altLang="ko-KR" sz="1200" dirty="0"/>
              <a:t>:</a:t>
            </a:r>
          </a:p>
          <a:p>
            <a:pPr lvl="3"/>
            <a:r>
              <a:rPr lang="en-US" sz="1200" dirty="0">
                <a:latin typeface="Consolas" panose="020B0609020204030204" pitchFamily="49" charset="0"/>
              </a:rPr>
              <a:t>Numeric</a:t>
            </a:r>
            <a:r>
              <a:rPr lang="en-US" sz="1200" dirty="0"/>
              <a:t> Class (</a:t>
            </a:r>
            <a:r>
              <a:rPr lang="en-US" sz="1200" i="1" dirty="0"/>
              <a:t>inheriting from </a:t>
            </a:r>
            <a:r>
              <a:rPr lang="en-US" sz="1200" dirty="0">
                <a:latin typeface="Consolas" panose="020B0609020204030204" pitchFamily="49" charset="0"/>
              </a:rPr>
              <a:t>Problem</a:t>
            </a:r>
            <a:r>
              <a:rPr lang="en-US" sz="1200" dirty="0"/>
              <a:t>)</a:t>
            </a:r>
          </a:p>
          <a:p>
            <a:pPr lvl="3"/>
            <a:r>
              <a:rPr lang="en-US" sz="1200" dirty="0">
                <a:latin typeface="Consolas" panose="020B0609020204030204" pitchFamily="49" charset="0"/>
              </a:rPr>
              <a:t>TSP</a:t>
            </a:r>
            <a:r>
              <a:rPr lang="en-US" sz="1200" dirty="0"/>
              <a:t> Class (</a:t>
            </a:r>
            <a:r>
              <a:rPr lang="en-US" sz="1200" i="1" dirty="0"/>
              <a:t>inheriting from </a:t>
            </a:r>
            <a:r>
              <a:rPr lang="en-US" sz="1200" dirty="0">
                <a:latin typeface="Consolas" panose="020B0609020204030204" pitchFamily="49" charset="0"/>
              </a:rPr>
              <a:t>Problem</a:t>
            </a:r>
            <a:r>
              <a:rPr lang="en-US" sz="1200" dirty="0"/>
              <a:t>)</a:t>
            </a:r>
          </a:p>
          <a:p>
            <a:pPr lvl="3"/>
            <a:endParaRPr lang="en-US" altLang="ko-KR" sz="1400" dirty="0"/>
          </a:p>
          <a:p>
            <a:pPr lvl="1"/>
            <a:r>
              <a:rPr lang="en-US" sz="1400" dirty="0"/>
              <a:t>And, the solution algorithms for solving problems are each implemented in </a:t>
            </a:r>
            <a:r>
              <a:rPr lang="en-US" sz="1400" b="1" dirty="0"/>
              <a:t>separate files</a:t>
            </a:r>
            <a:r>
              <a:rPr lang="en-US" sz="1400" dirty="0"/>
              <a:t>.</a:t>
            </a:r>
            <a:endParaRPr lang="en-US" altLang="ko-KR" sz="1400" dirty="0"/>
          </a:p>
          <a:p>
            <a:pPr lvl="2"/>
            <a:r>
              <a:rPr lang="en-US" sz="1200" dirty="0"/>
              <a:t>Separate source code and </a:t>
            </a:r>
            <a:r>
              <a:rPr lang="en-US" sz="1200" dirty="0">
                <a:latin typeface="Consolas" panose="020B0609020204030204" pitchFamily="49" charset="0"/>
              </a:rPr>
              <a:t>main</a:t>
            </a:r>
            <a:r>
              <a:rPr lang="en-US" sz="1200" dirty="0"/>
              <a:t> function are defined according to the solution algorithm used to solve the problem</a:t>
            </a:r>
          </a:p>
          <a:p>
            <a:pPr lvl="2"/>
            <a:r>
              <a:rPr lang="en-US" sz="1200" dirty="0"/>
              <a:t>Implementation code for solution algorithms to solve </a:t>
            </a:r>
            <a:r>
              <a:rPr lang="en-US" sz="1200" b="1" dirty="0"/>
              <a:t>Numerical Optimization</a:t>
            </a:r>
            <a:r>
              <a:rPr lang="en-US" sz="1200" dirty="0"/>
              <a:t> problems:</a:t>
            </a:r>
            <a:endParaRPr lang="en-US" altLang="ko-KR" sz="1200" dirty="0"/>
          </a:p>
          <a:p>
            <a:pPr lvl="3"/>
            <a:r>
              <a:rPr lang="en-US" altLang="ko-KR" sz="1200" dirty="0">
                <a:latin typeface="Consolas" panose="020B0609020204030204" pitchFamily="49" charset="0"/>
              </a:rPr>
              <a:t>steepest ascent (n).</a:t>
            </a:r>
            <a:r>
              <a:rPr lang="en-US" altLang="ko-KR" sz="1200" dirty="0" err="1">
                <a:latin typeface="Consolas" panose="020B0609020204030204" pitchFamily="49" charset="0"/>
              </a:rPr>
              <a:t>py</a:t>
            </a:r>
            <a:r>
              <a:rPr lang="en-US" altLang="ko-KR" sz="1200" dirty="0">
                <a:latin typeface="Consolas" panose="020B0609020204030204" pitchFamily="49" charset="0"/>
              </a:rPr>
              <a:t> </a:t>
            </a:r>
            <a:r>
              <a:rPr lang="en-US" altLang="ko-KR" sz="1200" dirty="0"/>
              <a:t>: </a:t>
            </a:r>
            <a:r>
              <a:rPr lang="en-US" sz="1200" dirty="0"/>
              <a:t>Code to solve </a:t>
            </a:r>
            <a:r>
              <a:rPr lang="en-US" sz="1200" i="1" dirty="0"/>
              <a:t>Numeric</a:t>
            </a:r>
            <a:r>
              <a:rPr lang="en-US" sz="1200" dirty="0"/>
              <a:t> problems using the </a:t>
            </a:r>
            <a:r>
              <a:rPr lang="en-US" sz="1200" b="1" dirty="0"/>
              <a:t>SA</a:t>
            </a:r>
            <a:r>
              <a:rPr lang="en-US" sz="1200" dirty="0"/>
              <a:t> method</a:t>
            </a:r>
            <a:endParaRPr lang="en-US" altLang="ko-KR" sz="1200" dirty="0"/>
          </a:p>
          <a:p>
            <a:pPr lvl="3"/>
            <a:r>
              <a:rPr lang="en-US" altLang="ko-KR" sz="1200" dirty="0">
                <a:latin typeface="Consolas" panose="020B0609020204030204" pitchFamily="49" charset="0"/>
              </a:rPr>
              <a:t>first-choice (n).</a:t>
            </a:r>
            <a:r>
              <a:rPr lang="en-US" altLang="ko-KR" sz="1200" dirty="0" err="1">
                <a:latin typeface="Consolas" panose="020B0609020204030204" pitchFamily="49" charset="0"/>
              </a:rPr>
              <a:t>py</a:t>
            </a:r>
            <a:r>
              <a:rPr lang="en-US" altLang="ko-KR" sz="1200" dirty="0">
                <a:latin typeface="Consolas" panose="020B0609020204030204" pitchFamily="49" charset="0"/>
              </a:rPr>
              <a:t> </a:t>
            </a:r>
            <a:r>
              <a:rPr lang="en-US" altLang="ko-KR" sz="1200" dirty="0"/>
              <a:t>: </a:t>
            </a:r>
            <a:r>
              <a:rPr lang="en-US" sz="1200" dirty="0"/>
              <a:t>Code to solve </a:t>
            </a:r>
            <a:r>
              <a:rPr lang="en-US" sz="1200" i="1" dirty="0"/>
              <a:t>Numeric</a:t>
            </a:r>
            <a:r>
              <a:rPr lang="en-US" sz="1200" dirty="0"/>
              <a:t> problems using the </a:t>
            </a:r>
            <a:r>
              <a:rPr lang="en-US" sz="1200" b="1" dirty="0"/>
              <a:t>FC</a:t>
            </a:r>
            <a:r>
              <a:rPr lang="en-US" sz="1200" dirty="0"/>
              <a:t> method</a:t>
            </a:r>
            <a:endParaRPr lang="en-US" altLang="ko-KR" sz="1200" dirty="0"/>
          </a:p>
          <a:p>
            <a:pPr lvl="3"/>
            <a:r>
              <a:rPr lang="en-US" altLang="ko-KR" sz="1200" dirty="0">
                <a:latin typeface="Consolas" panose="020B0609020204030204" pitchFamily="49" charset="0"/>
              </a:rPr>
              <a:t>gradient descent.py </a:t>
            </a:r>
            <a:r>
              <a:rPr lang="en-US" altLang="ko-KR" sz="1200" dirty="0"/>
              <a:t>: </a:t>
            </a:r>
            <a:r>
              <a:rPr lang="en-US" sz="1200" dirty="0"/>
              <a:t>Code to solve </a:t>
            </a:r>
            <a:r>
              <a:rPr lang="en-US" sz="1200" i="1" dirty="0"/>
              <a:t>Numeric</a:t>
            </a:r>
            <a:r>
              <a:rPr lang="en-US" sz="1200" dirty="0"/>
              <a:t> problems using the </a:t>
            </a:r>
            <a:r>
              <a:rPr lang="en-US" sz="1200" b="1" dirty="0"/>
              <a:t>GD</a:t>
            </a:r>
            <a:r>
              <a:rPr lang="en-US" sz="1200" dirty="0"/>
              <a:t> method</a:t>
            </a:r>
            <a:endParaRPr lang="en-US" altLang="ko-KR" sz="1200" dirty="0"/>
          </a:p>
          <a:p>
            <a:pPr lvl="2"/>
            <a:r>
              <a:rPr lang="en-US" sz="1200" dirty="0"/>
              <a:t>Implementation code for solution algorithms to solve </a:t>
            </a:r>
            <a:r>
              <a:rPr lang="en-US" sz="1200" b="1" dirty="0"/>
              <a:t>TSP</a:t>
            </a:r>
            <a:r>
              <a:rPr lang="en-US" sz="1200" dirty="0"/>
              <a:t> problems:</a:t>
            </a:r>
            <a:endParaRPr lang="en-US" altLang="ko-KR" sz="1200" dirty="0"/>
          </a:p>
          <a:p>
            <a:pPr lvl="3"/>
            <a:r>
              <a:rPr lang="en-US" altLang="ko-KR" sz="1200" dirty="0">
                <a:latin typeface="Consolas" panose="020B0609020204030204" pitchFamily="49" charset="0"/>
              </a:rPr>
              <a:t>steepest ascent (tsp).</a:t>
            </a:r>
            <a:r>
              <a:rPr lang="en-US" altLang="ko-KR" sz="1200" dirty="0" err="1">
                <a:latin typeface="Consolas" panose="020B0609020204030204" pitchFamily="49" charset="0"/>
              </a:rPr>
              <a:t>py</a:t>
            </a:r>
            <a:r>
              <a:rPr lang="en-US" altLang="ko-KR" sz="1200" dirty="0">
                <a:latin typeface="Consolas" panose="020B0609020204030204" pitchFamily="49" charset="0"/>
              </a:rPr>
              <a:t> </a:t>
            </a:r>
            <a:r>
              <a:rPr lang="en-US" altLang="ko-KR" sz="1200" dirty="0"/>
              <a:t>: </a:t>
            </a:r>
            <a:r>
              <a:rPr lang="en-US" sz="1200" dirty="0"/>
              <a:t>Code to solve </a:t>
            </a:r>
            <a:r>
              <a:rPr lang="en-US" sz="1200" i="1" dirty="0"/>
              <a:t>TSP</a:t>
            </a:r>
            <a:r>
              <a:rPr lang="en-US" sz="1200" dirty="0"/>
              <a:t> problems using the </a:t>
            </a:r>
            <a:r>
              <a:rPr lang="en-US" sz="1200" b="1" dirty="0"/>
              <a:t>SA</a:t>
            </a:r>
            <a:r>
              <a:rPr lang="en-US" sz="1200" dirty="0"/>
              <a:t> method</a:t>
            </a:r>
            <a:endParaRPr lang="en-US" altLang="ko-KR" sz="1200" dirty="0"/>
          </a:p>
          <a:p>
            <a:pPr lvl="3"/>
            <a:r>
              <a:rPr lang="en-US" altLang="ko-KR" sz="1200" dirty="0">
                <a:latin typeface="Consolas" panose="020B0609020204030204" pitchFamily="49" charset="0"/>
              </a:rPr>
              <a:t>first-choice (tsp).</a:t>
            </a:r>
            <a:r>
              <a:rPr lang="en-US" altLang="ko-KR" sz="1200" dirty="0" err="1">
                <a:latin typeface="Consolas" panose="020B0609020204030204" pitchFamily="49" charset="0"/>
              </a:rPr>
              <a:t>py</a:t>
            </a:r>
            <a:r>
              <a:rPr lang="en-US" altLang="ko-KR" sz="1200" dirty="0">
                <a:latin typeface="Consolas" panose="020B0609020204030204" pitchFamily="49" charset="0"/>
              </a:rPr>
              <a:t> </a:t>
            </a:r>
            <a:r>
              <a:rPr lang="en-US" altLang="ko-KR" sz="1200" dirty="0"/>
              <a:t>: </a:t>
            </a:r>
            <a:r>
              <a:rPr lang="en-US" sz="1200" dirty="0"/>
              <a:t>Code to solve </a:t>
            </a:r>
            <a:r>
              <a:rPr lang="en-US" sz="1200" i="1" dirty="0"/>
              <a:t>TSP</a:t>
            </a:r>
            <a:r>
              <a:rPr lang="en-US" sz="1200" dirty="0"/>
              <a:t> problems using the </a:t>
            </a:r>
            <a:r>
              <a:rPr lang="en-US" sz="1200" b="1" dirty="0"/>
              <a:t>FC</a:t>
            </a:r>
            <a:r>
              <a:rPr lang="en-US" sz="1200" dirty="0"/>
              <a:t> method</a:t>
            </a:r>
            <a:endParaRPr lang="en-US" altLang="ko-KR" sz="1200" dirty="0"/>
          </a:p>
          <a:p>
            <a:pPr lvl="2"/>
            <a:endParaRPr lang="en-US" altLang="ko-KR" sz="1400" dirty="0"/>
          </a:p>
          <a:p>
            <a:pPr lvl="1"/>
            <a:endParaRPr lang="ko-KR" altLang="en-US" sz="16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3297693-FC4C-444D-ACDB-1E1AF2CB75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D)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00D542-1178-4F7F-B03D-41D89CF3D9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C6D964-9752-4432-9B3C-BD12E3EA2420}" type="slidenum">
              <a:rPr lang="ko-KR" altLang="en-US" smtClean="0"/>
              <a:pPr/>
              <a:t>3</a:t>
            </a:fld>
            <a:endParaRPr lang="en-US" altLang="ko-KR"/>
          </a:p>
        </p:txBody>
      </p:sp>
      <p:sp>
        <p:nvSpPr>
          <p:cNvPr id="10" name="말풍선: 사각형 14">
            <a:extLst>
              <a:ext uri="{FF2B5EF4-FFF2-40B4-BE49-F238E27FC236}">
                <a16:creationId xmlns:a16="http://schemas.microsoft.com/office/drawing/2014/main" id="{A25F5BE6-A1B1-8D58-5B8C-3933DAD99843}"/>
              </a:ext>
            </a:extLst>
          </p:cNvPr>
          <p:cNvSpPr/>
          <p:nvPr/>
        </p:nvSpPr>
        <p:spPr>
          <a:xfrm>
            <a:off x="7843946" y="4869160"/>
            <a:ext cx="1048534" cy="504056"/>
          </a:xfrm>
          <a:prstGeom prst="wedgeRectCallout">
            <a:avLst>
              <a:gd name="adj1" fmla="val -73475"/>
              <a:gd name="adj2" fmla="val -16589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Today’s Topic</a:t>
            </a:r>
            <a:endParaRPr lang="ko-KR" altLang="en-US" sz="1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0606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B01AEB-429B-4D79-A779-E71028592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dirty="0"/>
              <a:t>Code Improvement Idea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A1B3FF-E1A2-4A97-B06C-3033995E2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600" dirty="0"/>
              <a:t>Search Algorithm (C) - Search Tool v2 drawbacks</a:t>
            </a:r>
          </a:p>
          <a:p>
            <a:pPr lvl="1"/>
            <a:r>
              <a:rPr lang="en-US" sz="1400" dirty="0"/>
              <a:t>Each solution algorithm is implemented with a </a:t>
            </a:r>
            <a:r>
              <a:rPr lang="en-US" sz="1400" b="1" dirty="0">
                <a:solidFill>
                  <a:srgbClr val="FF0000"/>
                </a:solidFill>
              </a:rPr>
              <a:t>separate main program</a:t>
            </a:r>
            <a:r>
              <a:rPr lang="en-US" sz="1400" dirty="0"/>
              <a:t> (source code).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lvl="1"/>
            <a:r>
              <a:rPr lang="en-US" sz="1400" dirty="0"/>
              <a:t>To run a specific algorithm, </a:t>
            </a:r>
            <a:r>
              <a:rPr lang="en-US" sz="1400" b="1" dirty="0">
                <a:solidFill>
                  <a:srgbClr val="FF0000"/>
                </a:solidFill>
              </a:rPr>
              <a:t>the corresponding program must be found and executed</a:t>
            </a:r>
            <a:r>
              <a:rPr lang="en-US" sz="1400" dirty="0"/>
              <a:t>.</a:t>
            </a:r>
            <a:endParaRPr lang="en-US" altLang="ko-KR" sz="1400" dirty="0"/>
          </a:p>
          <a:p>
            <a:pPr lvl="1"/>
            <a:r>
              <a:rPr lang="en-US" sz="1400" dirty="0"/>
              <a:t>If a new solution algorithm is added, a </a:t>
            </a:r>
            <a:r>
              <a:rPr lang="en-US" sz="1400" b="1" dirty="0">
                <a:solidFill>
                  <a:srgbClr val="FF0000"/>
                </a:solidFill>
              </a:rPr>
              <a:t>new program and new source code</a:t>
            </a:r>
            <a:r>
              <a:rPr lang="en-US" sz="1400" dirty="0"/>
              <a:t> are required.</a:t>
            </a:r>
            <a:endParaRPr lang="en-US" altLang="ko-KR" sz="1400" dirty="0"/>
          </a:p>
          <a:p>
            <a:pPr lvl="2"/>
            <a:r>
              <a:rPr lang="en-US" altLang="ko-KR" sz="1400" dirty="0"/>
              <a:t>Ex: To add the Gradient Descent algorithm, a new </a:t>
            </a:r>
            <a:r>
              <a:rPr lang="en-US" altLang="ko-KR" sz="1400" dirty="0">
                <a:latin typeface="Consolas" panose="020B0609020204030204" pitchFamily="49" charset="0"/>
              </a:rPr>
              <a:t>gradient descent.py</a:t>
            </a:r>
            <a:r>
              <a:rPr lang="en-US" altLang="ko-KR" sz="1400" dirty="0"/>
              <a:t> source code was created and implemented.</a:t>
            </a:r>
          </a:p>
          <a:p>
            <a:pPr lvl="2"/>
            <a:endParaRPr lang="en-US" altLang="ko-KR" sz="1600" dirty="0"/>
          </a:p>
          <a:p>
            <a:r>
              <a:rPr lang="en-US" sz="1600" dirty="0"/>
              <a:t>Idea for Improvement</a:t>
            </a:r>
            <a:endParaRPr lang="en-US" altLang="ko-KR" sz="1600" dirty="0"/>
          </a:p>
          <a:p>
            <a:pPr lvl="1" latinLnBrk="0"/>
            <a:r>
              <a:rPr lang="en-US" sz="1400" b="1" dirty="0">
                <a:solidFill>
                  <a:srgbClr val="0033CC"/>
                </a:solidFill>
              </a:rPr>
              <a:t>Integrate</a:t>
            </a:r>
            <a:r>
              <a:rPr lang="en-US" sz="1400" dirty="0">
                <a:solidFill>
                  <a:srgbClr val="0033CC"/>
                </a:solidFill>
              </a:rPr>
              <a:t> the implemented solution algorithms from </a:t>
            </a:r>
            <a:r>
              <a:rPr lang="en-US" sz="1400" i="1" dirty="0">
                <a:solidFill>
                  <a:srgbClr val="0033CC"/>
                </a:solidFill>
              </a:rPr>
              <a:t>different source codes</a:t>
            </a:r>
            <a:r>
              <a:rPr lang="en-US" sz="1400" dirty="0">
                <a:solidFill>
                  <a:srgbClr val="0033CC"/>
                </a:solidFill>
              </a:rPr>
              <a:t> into </a:t>
            </a:r>
            <a:r>
              <a:rPr lang="en-US" sz="1400" b="1" dirty="0">
                <a:solidFill>
                  <a:srgbClr val="0033CC"/>
                </a:solidFill>
              </a:rPr>
              <a:t>one main program</a:t>
            </a:r>
            <a:r>
              <a:rPr lang="en-US" sz="1400" dirty="0">
                <a:solidFill>
                  <a:srgbClr val="0033CC"/>
                </a:solidFill>
              </a:rPr>
              <a:t> (= one source code) and allow the user to </a:t>
            </a:r>
            <a:r>
              <a:rPr lang="en-US" sz="1400" u="sng" dirty="0">
                <a:solidFill>
                  <a:srgbClr val="0033CC"/>
                </a:solidFill>
              </a:rPr>
              <a:t>select the solution algorithm</a:t>
            </a:r>
            <a:r>
              <a:rPr lang="en-US" sz="1400" dirty="0">
                <a:solidFill>
                  <a:srgbClr val="0033CC"/>
                </a:solidFill>
              </a:rPr>
              <a:t> during program execution</a:t>
            </a:r>
            <a:r>
              <a:rPr lang="en-US" altLang="ko-KR" sz="1400" dirty="0">
                <a:solidFill>
                  <a:srgbClr val="0033CC"/>
                </a:solidFill>
              </a:rPr>
              <a:t>!</a:t>
            </a:r>
          </a:p>
          <a:p>
            <a:pPr lvl="1"/>
            <a:endParaRPr lang="en-US" altLang="ko-KR" sz="1400" dirty="0"/>
          </a:p>
          <a:p>
            <a:pPr lvl="1"/>
            <a:endParaRPr lang="ko-KR" altLang="en-US" sz="16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3297693-FC4C-444D-ACDB-1E1AF2CB75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D)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00D542-1178-4F7F-B03D-41D89CF3D9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C6D964-9752-4432-9B3C-BD12E3EA2420}" type="slidenum">
              <a:rPr lang="ko-KR" altLang="en-US" smtClean="0"/>
              <a:pPr/>
              <a:t>4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BC3EE8-F998-405D-9236-AEF381A45E3F}"/>
              </a:ext>
            </a:extLst>
          </p:cNvPr>
          <p:cNvSpPr/>
          <p:nvPr/>
        </p:nvSpPr>
        <p:spPr>
          <a:xfrm>
            <a:off x="960098" y="4432316"/>
            <a:ext cx="2734071" cy="2880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steepest ascent (n).</a:t>
            </a:r>
            <a:r>
              <a:rPr lang="en-US" altLang="ko-KR" sz="1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endParaRPr lang="en-US" altLang="ko-KR" sz="1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EE1491B-7E32-4329-B311-918DE6C15A1C}"/>
              </a:ext>
            </a:extLst>
          </p:cNvPr>
          <p:cNvSpPr/>
          <p:nvPr/>
        </p:nvSpPr>
        <p:spPr>
          <a:xfrm>
            <a:off x="960098" y="4792356"/>
            <a:ext cx="2734071" cy="2880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first-choice (n).</a:t>
            </a:r>
            <a:r>
              <a:rPr lang="en-US" altLang="ko-KR" sz="1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endParaRPr lang="en-US" altLang="ko-KR" sz="1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DCC6F69-9068-49F5-8D30-1AC9F462F210}"/>
              </a:ext>
            </a:extLst>
          </p:cNvPr>
          <p:cNvSpPr/>
          <p:nvPr/>
        </p:nvSpPr>
        <p:spPr>
          <a:xfrm>
            <a:off x="957865" y="5152396"/>
            <a:ext cx="2734071" cy="2880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gradient descent.py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3927DF4-08E9-436D-A9C6-887458768F91}"/>
              </a:ext>
            </a:extLst>
          </p:cNvPr>
          <p:cNvSpPr/>
          <p:nvPr/>
        </p:nvSpPr>
        <p:spPr>
          <a:xfrm>
            <a:off x="957865" y="5512435"/>
            <a:ext cx="2734071" cy="2880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steepest ascent (tsp).</a:t>
            </a:r>
            <a:r>
              <a:rPr lang="en-US" altLang="ko-KR" sz="1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endParaRPr lang="en-US" altLang="ko-KR" sz="1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62115FB-B414-4D96-A2C3-26A7606EBEDD}"/>
              </a:ext>
            </a:extLst>
          </p:cNvPr>
          <p:cNvSpPr/>
          <p:nvPr/>
        </p:nvSpPr>
        <p:spPr>
          <a:xfrm>
            <a:off x="957865" y="5859314"/>
            <a:ext cx="2734071" cy="2880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first-choice (tsp).</a:t>
            </a:r>
            <a:r>
              <a:rPr lang="en-US" altLang="ko-KR" sz="1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endParaRPr lang="en-US" altLang="ko-KR" sz="1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BE8B062-273B-4963-8D9C-09D1BD02340D}"/>
              </a:ext>
            </a:extLst>
          </p:cNvPr>
          <p:cNvSpPr/>
          <p:nvPr/>
        </p:nvSpPr>
        <p:spPr>
          <a:xfrm>
            <a:off x="5781731" y="4432316"/>
            <a:ext cx="2088902" cy="17150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728FF343-BDA0-41DD-BF25-BD8D17DD555A}"/>
              </a:ext>
            </a:extLst>
          </p:cNvPr>
          <p:cNvSpPr/>
          <p:nvPr/>
        </p:nvSpPr>
        <p:spPr>
          <a:xfrm>
            <a:off x="4283968" y="5053925"/>
            <a:ext cx="978408" cy="484632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말풍선: 사각형 14">
            <a:extLst>
              <a:ext uri="{FF2B5EF4-FFF2-40B4-BE49-F238E27FC236}">
                <a16:creationId xmlns:a16="http://schemas.microsoft.com/office/drawing/2014/main" id="{DAD06419-19F6-45EE-878D-0BA6179AB81D}"/>
              </a:ext>
            </a:extLst>
          </p:cNvPr>
          <p:cNvSpPr/>
          <p:nvPr/>
        </p:nvSpPr>
        <p:spPr>
          <a:xfrm>
            <a:off x="4060674" y="5619641"/>
            <a:ext cx="1296144" cy="677190"/>
          </a:xfrm>
          <a:prstGeom prst="wedgeRectCallout">
            <a:avLst>
              <a:gd name="adj1" fmla="val -9594"/>
              <a:gd name="adj2" fmla="val -78122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Algorithm integration</a:t>
            </a:r>
            <a:endParaRPr lang="ko-KR" altLang="en-US" sz="1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0969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B01AEB-429B-4D79-A779-E71028592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dirty="0"/>
              <a:t>Code Improvement Idea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A1B3FF-E1A2-4A97-B06C-3033995E2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/>
            <a:r>
              <a:rPr lang="en-US" altLang="ko-KR" sz="1600" dirty="0"/>
              <a:t>Search Algorithm (C) Search Tool v2:</a:t>
            </a:r>
            <a:r>
              <a:rPr lang="ko-KR" altLang="en-US" sz="1600" dirty="0"/>
              <a:t> </a:t>
            </a:r>
            <a:r>
              <a:rPr lang="en-US" altLang="ko-KR" sz="1600" dirty="0"/>
              <a:t>Implementation Method to </a:t>
            </a:r>
            <a:r>
              <a:rPr lang="en-US" altLang="ko-KR" sz="1600" dirty="0">
                <a:solidFill>
                  <a:srgbClr val="0033CC"/>
                </a:solidFill>
              </a:rPr>
              <a:t>v3</a:t>
            </a:r>
          </a:p>
          <a:p>
            <a:pPr lvl="1" latinLnBrk="0"/>
            <a:r>
              <a:rPr lang="en-US" altLang="ko-KR" sz="1400" dirty="0"/>
              <a:t>Source code structure:</a:t>
            </a:r>
          </a:p>
          <a:p>
            <a:pPr lvl="2" latinLnBrk="0"/>
            <a:r>
              <a:rPr lang="en-US" altLang="ko-KR" sz="1400" dirty="0">
                <a:latin typeface="Consolas" panose="020B0609020204030204" pitchFamily="49" charset="0"/>
              </a:rPr>
              <a:t>main.py</a:t>
            </a:r>
            <a:r>
              <a:rPr lang="en-US" altLang="ko-KR" sz="1400" dirty="0"/>
              <a:t> : </a:t>
            </a:r>
            <a:r>
              <a:rPr lang="en-US" sz="1400" dirty="0"/>
              <a:t>Receives </a:t>
            </a:r>
            <a:r>
              <a:rPr lang="en-US" sz="1400" i="1" dirty="0"/>
              <a:t>user input</a:t>
            </a:r>
            <a:r>
              <a:rPr lang="en-US" sz="1400" dirty="0"/>
              <a:t>, selects the </a:t>
            </a:r>
            <a:r>
              <a:rPr lang="en-US" sz="1400" b="1" dirty="0">
                <a:solidFill>
                  <a:srgbClr val="0033CC"/>
                </a:solidFill>
              </a:rPr>
              <a:t>Problem Type</a:t>
            </a:r>
            <a:r>
              <a:rPr lang="en-US" sz="1400" dirty="0">
                <a:solidFill>
                  <a:srgbClr val="0033CC"/>
                </a:solidFill>
              </a:rPr>
              <a:t> </a:t>
            </a:r>
            <a:r>
              <a:rPr lang="en-US" sz="1400" dirty="0"/>
              <a:t>and the </a:t>
            </a:r>
            <a:r>
              <a:rPr lang="en-US" sz="1400" b="1" dirty="0">
                <a:solidFill>
                  <a:srgbClr val="0033CC"/>
                </a:solidFill>
              </a:rPr>
              <a:t>Solution Algorithm</a:t>
            </a:r>
            <a:endParaRPr lang="en-US" altLang="ko-KR" sz="1400" dirty="0">
              <a:solidFill>
                <a:srgbClr val="0033CC"/>
              </a:solidFill>
            </a:endParaRPr>
          </a:p>
          <a:p>
            <a:pPr lvl="2" latinLnBrk="0"/>
            <a:r>
              <a:rPr lang="en-US" altLang="ko-KR" sz="1400" dirty="0">
                <a:latin typeface="Consolas" panose="020B0609020204030204" pitchFamily="49" charset="0"/>
              </a:rPr>
              <a:t>problem.py</a:t>
            </a:r>
            <a:r>
              <a:rPr lang="en-US" altLang="ko-KR" sz="1400" dirty="0"/>
              <a:t> : </a:t>
            </a:r>
            <a:r>
              <a:rPr lang="en-US" sz="1400" dirty="0"/>
              <a:t>Code definition related to the Numeric and TSP problems.</a:t>
            </a:r>
            <a:endParaRPr lang="en-US" altLang="ko-KR" sz="1400" dirty="0"/>
          </a:p>
          <a:p>
            <a:pPr lvl="2" latinLnBrk="0"/>
            <a:r>
              <a:rPr lang="en-US" altLang="ko-KR" sz="1400" dirty="0">
                <a:solidFill>
                  <a:srgbClr val="0033CC"/>
                </a:solidFill>
                <a:latin typeface="Consolas" panose="020B0609020204030204" pitchFamily="49" charset="0"/>
              </a:rPr>
              <a:t>optimizer.py</a:t>
            </a:r>
            <a:r>
              <a:rPr lang="en-US" altLang="ko-KR" sz="1400" dirty="0">
                <a:solidFill>
                  <a:srgbClr val="0033CC"/>
                </a:solidFill>
              </a:rPr>
              <a:t> </a:t>
            </a:r>
            <a:r>
              <a:rPr lang="en-US" altLang="ko-KR" sz="1400" dirty="0"/>
              <a:t>: </a:t>
            </a:r>
            <a:r>
              <a:rPr lang="en-US" sz="1400" dirty="0"/>
              <a:t>Definition of the </a:t>
            </a:r>
            <a:r>
              <a:rPr lang="en-US" sz="1400" i="1" dirty="0"/>
              <a:t>classes and methods (functions)</a:t>
            </a:r>
            <a:r>
              <a:rPr lang="en-US" sz="1400" dirty="0"/>
              <a:t> for the solution algorithm implementation.</a:t>
            </a:r>
            <a:endParaRPr lang="en-US" altLang="ko-KR" sz="1400" dirty="0"/>
          </a:p>
          <a:p>
            <a:pPr lvl="2" latinLnBrk="0"/>
            <a:r>
              <a:rPr lang="en-US" altLang="ko-KR" sz="1400" dirty="0">
                <a:solidFill>
                  <a:srgbClr val="0033CC"/>
                </a:solidFill>
                <a:latin typeface="Consolas" panose="020B0609020204030204" pitchFamily="49" charset="0"/>
              </a:rPr>
              <a:t>setup.py</a:t>
            </a:r>
            <a:r>
              <a:rPr lang="en-US" altLang="ko-KR" sz="1400" dirty="0">
                <a:solidFill>
                  <a:srgbClr val="0033CC"/>
                </a:solidFill>
              </a:rPr>
              <a:t> </a:t>
            </a:r>
            <a:r>
              <a:rPr lang="en-US" altLang="ko-KR" sz="1400" dirty="0"/>
              <a:t>: </a:t>
            </a:r>
            <a:r>
              <a:rPr lang="en-US" sz="1400" dirty="0"/>
              <a:t>Definition of the functions and management of information commonly used by the </a:t>
            </a:r>
            <a:r>
              <a:rPr lang="en-US" sz="1400" dirty="0">
                <a:latin typeface="Consolas" panose="020B0609020204030204" pitchFamily="49" charset="0"/>
              </a:rPr>
              <a:t>Problem</a:t>
            </a:r>
            <a:r>
              <a:rPr lang="en-US" sz="1400" dirty="0"/>
              <a:t> class and the </a:t>
            </a:r>
            <a:r>
              <a:rPr lang="en-US" sz="1400" dirty="0" err="1">
                <a:latin typeface="Consolas" panose="020B0609020204030204" pitchFamily="49" charset="0"/>
              </a:rPr>
              <a:t>HillClimbing</a:t>
            </a:r>
            <a:r>
              <a:rPr lang="en-US" sz="1400" dirty="0"/>
              <a:t> class.</a:t>
            </a:r>
            <a:endParaRPr lang="ko-KR" altLang="en-US" sz="1400" dirty="0"/>
          </a:p>
          <a:p>
            <a:pPr lvl="1" latinLnBrk="0"/>
            <a:r>
              <a:rPr lang="en-US" altLang="ko-KR" sz="1400" dirty="0"/>
              <a:t>Class structure change:</a:t>
            </a:r>
          </a:p>
          <a:p>
            <a:pPr lvl="2" latinLnBrk="0"/>
            <a:r>
              <a:rPr lang="en-US" sz="1400" dirty="0"/>
              <a:t>Extract the common information/attributes used by the existing</a:t>
            </a:r>
            <a:r>
              <a:rPr lang="en-US" sz="1400" i="1" dirty="0"/>
              <a:t> </a:t>
            </a:r>
            <a:r>
              <a:rPr lang="en-US" sz="1400" dirty="0">
                <a:latin typeface="Consolas" panose="020B0609020204030204" pitchFamily="49" charset="0"/>
              </a:rPr>
              <a:t>Problem</a:t>
            </a:r>
            <a:r>
              <a:rPr lang="en-US" sz="1400" i="1" dirty="0"/>
              <a:t> </a:t>
            </a:r>
            <a:r>
              <a:rPr lang="en-US" sz="1400" dirty="0"/>
              <a:t>class and the newly defined </a:t>
            </a:r>
            <a:r>
              <a:rPr lang="en-US" sz="1400" dirty="0" err="1">
                <a:latin typeface="Consolas" panose="020B0609020204030204" pitchFamily="49" charset="0"/>
              </a:rPr>
              <a:t>HillClimbing</a:t>
            </a:r>
            <a:r>
              <a:rPr lang="en-US" sz="1400" i="1" dirty="0"/>
              <a:t> </a:t>
            </a:r>
            <a:r>
              <a:rPr lang="en-US" sz="1400" dirty="0"/>
              <a:t>class, define them in a </a:t>
            </a:r>
            <a:r>
              <a:rPr lang="en-US" sz="1400" b="1" dirty="0"/>
              <a:t>separate </a:t>
            </a:r>
            <a:r>
              <a:rPr lang="en-US" sz="1400" dirty="0">
                <a:latin typeface="Consolas" panose="020B0609020204030204" pitchFamily="49" charset="0"/>
              </a:rPr>
              <a:t>Setup</a:t>
            </a:r>
            <a:r>
              <a:rPr lang="en-US" sz="1400" b="1" dirty="0"/>
              <a:t> class</a:t>
            </a:r>
            <a:r>
              <a:rPr lang="en-US" sz="1400" dirty="0"/>
              <a:t>, and </a:t>
            </a:r>
            <a:r>
              <a:rPr lang="en-US" sz="1400" u="sng" dirty="0"/>
              <a:t>modify the code</a:t>
            </a:r>
            <a:r>
              <a:rPr lang="en-US" sz="1400" dirty="0"/>
              <a:t> so that both the </a:t>
            </a:r>
            <a:r>
              <a:rPr lang="en-US" sz="1400" dirty="0">
                <a:latin typeface="Consolas" panose="020B0609020204030204" pitchFamily="49" charset="0"/>
              </a:rPr>
              <a:t>Problem</a:t>
            </a:r>
            <a:r>
              <a:rPr lang="en-US" sz="1400" dirty="0"/>
              <a:t> class and the </a:t>
            </a:r>
            <a:r>
              <a:rPr lang="en-US" sz="1400" dirty="0" err="1">
                <a:latin typeface="Consolas" panose="020B0609020204030204" pitchFamily="49" charset="0"/>
              </a:rPr>
              <a:t>HillClimbing</a:t>
            </a:r>
            <a:r>
              <a:rPr lang="en-US" sz="1400" dirty="0"/>
              <a:t> class inherit from it.</a:t>
            </a:r>
            <a:endParaRPr lang="en-US" altLang="ko-KR" sz="1400" dirty="0"/>
          </a:p>
          <a:p>
            <a:pPr lvl="1" latinLnBrk="0"/>
            <a:r>
              <a:rPr lang="en-US" altLang="ko-KR" sz="1400" dirty="0"/>
              <a:t>Class for solution algorithms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en-US" altLang="ko-KR" sz="1400" dirty="0">
                <a:solidFill>
                  <a:srgbClr val="0033CC"/>
                </a:solidFill>
                <a:latin typeface="Consolas" panose="020B0609020204030204" pitchFamily="49" charset="0"/>
              </a:rPr>
              <a:t>optimizer.py</a:t>
            </a:r>
          </a:p>
          <a:p>
            <a:pPr lvl="2" latinLnBrk="0"/>
            <a:r>
              <a:rPr lang="en-US" sz="1400" dirty="0"/>
              <a:t>Implement the class </a:t>
            </a:r>
            <a:r>
              <a:rPr lang="en-US" sz="1400" dirty="0" err="1">
                <a:latin typeface="Consolas" panose="020B0609020204030204" pitchFamily="49" charset="0"/>
              </a:rPr>
              <a:t>HillClimbing</a:t>
            </a:r>
            <a:r>
              <a:rPr lang="en-US" sz="1400" dirty="0"/>
              <a:t>, and define the respective </a:t>
            </a:r>
            <a:r>
              <a:rPr lang="en-US" sz="1400" dirty="0" err="1">
                <a:latin typeface="Consolas" panose="020B0609020204030204" pitchFamily="49" charset="0"/>
              </a:rPr>
              <a:t>SteepestAscent</a:t>
            </a:r>
            <a:r>
              <a:rPr lang="en-US" sz="1400" dirty="0"/>
              <a:t>, </a:t>
            </a:r>
            <a:r>
              <a:rPr lang="en-US" sz="1400" dirty="0">
                <a:latin typeface="Consolas" panose="020B0609020204030204" pitchFamily="49" charset="0"/>
              </a:rPr>
              <a:t>FirstChoice</a:t>
            </a:r>
            <a:r>
              <a:rPr lang="en-US" sz="1400" dirty="0"/>
              <a:t>, and </a:t>
            </a:r>
            <a:r>
              <a:rPr lang="en-US" sz="1400" dirty="0" err="1">
                <a:latin typeface="Consolas" panose="020B0609020204030204" pitchFamily="49" charset="0"/>
              </a:rPr>
              <a:t>GradientDescent</a:t>
            </a:r>
            <a:r>
              <a:rPr lang="en-US" sz="1400" dirty="0"/>
              <a:t> classes that </a:t>
            </a:r>
            <a:r>
              <a:rPr lang="en-US" sz="1400" i="1" dirty="0"/>
              <a:t>inherit</a:t>
            </a:r>
            <a:r>
              <a:rPr lang="en-US" sz="1400" dirty="0"/>
              <a:t> from it.</a:t>
            </a:r>
            <a:endParaRPr lang="en-US" altLang="ko-KR" sz="1400" dirty="0"/>
          </a:p>
          <a:p>
            <a:pPr lvl="1" latinLnBrk="0"/>
            <a:r>
              <a:rPr lang="en-US" altLang="ko-KR" sz="1400" dirty="0"/>
              <a:t>Main program: </a:t>
            </a:r>
            <a:r>
              <a:rPr lang="en-US" altLang="ko-KR" sz="1400" dirty="0">
                <a:solidFill>
                  <a:srgbClr val="0033CC"/>
                </a:solidFill>
                <a:latin typeface="Consolas" panose="020B0609020204030204" pitchFamily="49" charset="0"/>
              </a:rPr>
              <a:t>main.py</a:t>
            </a:r>
          </a:p>
          <a:p>
            <a:pPr lvl="2" latinLnBrk="0"/>
            <a:r>
              <a:rPr lang="en-US" altLang="ko-KR" sz="1400" dirty="0"/>
              <a:t>Write a single main program and allow the user to select simultaneously via user input:</a:t>
            </a:r>
          </a:p>
          <a:p>
            <a:pPr lvl="3" latinLnBrk="0"/>
            <a:r>
              <a:rPr lang="en-US" altLang="ko-KR" sz="1200" dirty="0"/>
              <a:t>(1) Which problem to solve (Numeric or TSP), and</a:t>
            </a:r>
          </a:p>
          <a:p>
            <a:pPr lvl="3" latinLnBrk="0"/>
            <a:r>
              <a:rPr lang="en-US" altLang="ko-KR" sz="1200" dirty="0"/>
              <a:t>(2) Which solution algorithm to use (SA, FC, GD).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3297693-FC4C-444D-ACDB-1E1AF2CB75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D)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00D542-1178-4F7F-B03D-41D89CF3D9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C6D964-9752-4432-9B3C-BD12E3EA2420}" type="slidenum">
              <a:rPr lang="ko-KR" altLang="en-US" smtClean="0"/>
              <a:pPr/>
              <a:t>5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C5D6C7A-8F21-85CE-18E8-1F3768645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2562" y="93815"/>
            <a:ext cx="1090612" cy="118928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7080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B01AEB-429B-4D79-A779-E71028592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dirty="0"/>
              <a:t>Search Tool v3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A1B3FF-E1A2-4A97-B06C-3033995E2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600" dirty="0"/>
              <a:t>Search Algorithm (</a:t>
            </a:r>
            <a:r>
              <a:rPr lang="en-US" altLang="ko-KR" sz="1600" dirty="0">
                <a:solidFill>
                  <a:srgbClr val="0033CC"/>
                </a:solidFill>
              </a:rPr>
              <a:t>D</a:t>
            </a:r>
            <a:r>
              <a:rPr lang="en-US" altLang="ko-KR" sz="1600" dirty="0"/>
              <a:t>) / Search Tool </a:t>
            </a:r>
            <a:r>
              <a:rPr lang="en-US" altLang="ko-KR" sz="1600" dirty="0">
                <a:solidFill>
                  <a:srgbClr val="0033CC"/>
                </a:solidFill>
              </a:rPr>
              <a:t>v3</a:t>
            </a:r>
            <a:r>
              <a:rPr lang="en-US" altLang="ko-KR" sz="1600" dirty="0"/>
              <a:t> Implementation details</a:t>
            </a:r>
          </a:p>
          <a:p>
            <a:pPr lvl="1"/>
            <a:r>
              <a:rPr lang="en-US" altLang="ko-KR" sz="1400" dirty="0">
                <a:solidFill>
                  <a:srgbClr val="0033CC"/>
                </a:solidFill>
              </a:rPr>
              <a:t>Implementation of the top-level Setup class to store </a:t>
            </a:r>
            <a:r>
              <a:rPr lang="en-US" altLang="ko-KR" sz="1400" dirty="0">
                <a:solidFill>
                  <a:srgbClr val="0033CC"/>
                </a:solidFill>
                <a:latin typeface="Consolas" panose="020B0609020204030204" pitchFamily="49" charset="0"/>
              </a:rPr>
              <a:t>delta</a:t>
            </a:r>
            <a:r>
              <a:rPr lang="en-US" altLang="ko-KR" sz="1400" dirty="0">
                <a:solidFill>
                  <a:srgbClr val="0033CC"/>
                </a:solidFill>
              </a:rPr>
              <a:t>, </a:t>
            </a:r>
            <a:r>
              <a:rPr lang="en-US" altLang="ko-KR" sz="1400" dirty="0">
                <a:solidFill>
                  <a:srgbClr val="0033CC"/>
                </a:solidFill>
                <a:latin typeface="Consolas" panose="020B0609020204030204" pitchFamily="49" charset="0"/>
              </a:rPr>
              <a:t>alpha</a:t>
            </a:r>
            <a:r>
              <a:rPr lang="en-US" altLang="ko-KR" sz="1400" dirty="0">
                <a:solidFill>
                  <a:srgbClr val="0033CC"/>
                </a:solidFill>
              </a:rPr>
              <a:t>, and </a:t>
            </a:r>
            <a:r>
              <a:rPr lang="en-US" altLang="ko-KR" sz="1400" dirty="0">
                <a:solidFill>
                  <a:srgbClr val="0033CC"/>
                </a:solidFill>
                <a:latin typeface="Consolas" panose="020B0609020204030204" pitchFamily="49" charset="0"/>
              </a:rPr>
              <a:t>dx</a:t>
            </a:r>
            <a:r>
              <a:rPr lang="en-US" altLang="ko-KR" sz="1400" dirty="0">
                <a:solidFill>
                  <a:srgbClr val="0033CC"/>
                </a:solidFill>
              </a:rPr>
              <a:t> values.</a:t>
            </a:r>
          </a:p>
          <a:p>
            <a:pPr lvl="2"/>
            <a:r>
              <a:rPr lang="en-US" altLang="ko-KR" sz="1200" dirty="0"/>
              <a:t>The </a:t>
            </a:r>
            <a:r>
              <a:rPr lang="en-US" altLang="ko-KR" sz="1200" dirty="0">
                <a:latin typeface="Consolas" panose="020B0609020204030204" pitchFamily="49" charset="0"/>
              </a:rPr>
              <a:t>Problem</a:t>
            </a:r>
            <a:r>
              <a:rPr lang="en-US" altLang="ko-KR" sz="1200" dirty="0"/>
              <a:t> class (for problems) and the </a:t>
            </a:r>
            <a:r>
              <a:rPr lang="en-US" altLang="ko-KR" sz="1200" dirty="0" err="1">
                <a:latin typeface="Consolas" panose="020B0609020204030204" pitchFamily="49" charset="0"/>
              </a:rPr>
              <a:t>HillClimbing</a:t>
            </a:r>
            <a:r>
              <a:rPr lang="en-US" altLang="ko-KR" sz="1200" dirty="0"/>
              <a:t> class (for solution algorithms) will both inherit from the </a:t>
            </a:r>
            <a:r>
              <a:rPr lang="en-US" altLang="ko-KR" sz="1200" dirty="0">
                <a:latin typeface="Consolas" panose="020B0609020204030204" pitchFamily="49" charset="0"/>
              </a:rPr>
              <a:t>Setup</a:t>
            </a:r>
            <a:r>
              <a:rPr lang="en-US" altLang="ko-KR" sz="1200" dirty="0"/>
              <a:t> class.</a:t>
            </a:r>
          </a:p>
          <a:p>
            <a:pPr lvl="2"/>
            <a:r>
              <a:rPr lang="en-US" altLang="ko-KR" sz="1200" dirty="0">
                <a:latin typeface="Consolas" panose="020B0609020204030204" pitchFamily="49" charset="0"/>
              </a:rPr>
              <a:t>delta</a:t>
            </a:r>
            <a:r>
              <a:rPr lang="en-US" altLang="ko-KR" sz="1200" dirty="0"/>
              <a:t> : Used when generating mutants (= neighbor solution) in the Numeric Optimization problem type.</a:t>
            </a:r>
          </a:p>
          <a:p>
            <a:pPr lvl="2"/>
            <a:r>
              <a:rPr lang="en-US" altLang="ko-KR" sz="1200" dirty="0">
                <a:latin typeface="Consolas" panose="020B0609020204030204" pitchFamily="49" charset="0"/>
              </a:rPr>
              <a:t>alpha</a:t>
            </a:r>
            <a:r>
              <a:rPr lang="en-US" altLang="ko-KR" sz="1200" dirty="0"/>
              <a:t> : </a:t>
            </a:r>
            <a:r>
              <a:rPr lang="en-US" sz="1200" dirty="0"/>
              <a:t>Determines the </a:t>
            </a:r>
            <a:r>
              <a:rPr lang="en-US" sz="1200" i="1" dirty="0"/>
              <a:t>step size</a:t>
            </a:r>
            <a:r>
              <a:rPr lang="en-US" sz="1200" dirty="0"/>
              <a:t> or </a:t>
            </a:r>
            <a:r>
              <a:rPr lang="en-US" sz="1200" i="1" dirty="0"/>
              <a:t>learning rate</a:t>
            </a:r>
            <a:r>
              <a:rPr lang="en-US" sz="1200" dirty="0"/>
              <a:t> in the </a:t>
            </a:r>
            <a:r>
              <a:rPr lang="en-US" sz="1200" b="1" dirty="0"/>
              <a:t>Gradient Descent</a:t>
            </a:r>
            <a:r>
              <a:rPr lang="en-US" sz="1200" dirty="0"/>
              <a:t> solution algorithm.</a:t>
            </a:r>
            <a:endParaRPr lang="en-US" altLang="ko-KR" sz="1200" dirty="0"/>
          </a:p>
          <a:p>
            <a:pPr lvl="2"/>
            <a:r>
              <a:rPr lang="en-US" altLang="ko-KR" sz="1200" dirty="0">
                <a:latin typeface="Consolas" panose="020B0609020204030204" pitchFamily="49" charset="0"/>
              </a:rPr>
              <a:t>dx</a:t>
            </a:r>
            <a:r>
              <a:rPr lang="en-US" altLang="ko-KR" sz="1200" dirty="0"/>
              <a:t> : </a:t>
            </a:r>
            <a:r>
              <a:rPr lang="en-US" sz="1200" dirty="0"/>
              <a:t>Used when calculating the </a:t>
            </a:r>
            <a:r>
              <a:rPr lang="en-US" sz="1200" i="1" dirty="0"/>
              <a:t>gradient</a:t>
            </a:r>
            <a:r>
              <a:rPr lang="en-US" sz="1200" dirty="0"/>
              <a:t> in the </a:t>
            </a:r>
            <a:r>
              <a:rPr lang="en-US" sz="1200" b="1" dirty="0"/>
              <a:t>Gradient Descent</a:t>
            </a:r>
            <a:r>
              <a:rPr lang="en-US" sz="1200" dirty="0"/>
              <a:t> solution algorithm.</a:t>
            </a:r>
            <a:endParaRPr lang="en-US" altLang="ko-KR" sz="1200" dirty="0"/>
          </a:p>
          <a:p>
            <a:pPr lvl="2"/>
            <a:endParaRPr lang="en-US" altLang="ko-KR" sz="1200" dirty="0"/>
          </a:p>
          <a:p>
            <a:pPr lvl="1"/>
            <a:r>
              <a:rPr lang="en-US" altLang="ko-KR" sz="1400" dirty="0">
                <a:latin typeface="Consolas" panose="020B0609020204030204" pitchFamily="49" charset="0"/>
              </a:rPr>
              <a:t>problem.py</a:t>
            </a:r>
            <a:r>
              <a:rPr lang="en-US" altLang="ko-KR" sz="1400" dirty="0"/>
              <a:t> : </a:t>
            </a:r>
            <a:r>
              <a:rPr lang="en-US" sz="1400" dirty="0"/>
              <a:t>Defines and differentiates classes based on the </a:t>
            </a:r>
            <a:r>
              <a:rPr lang="en-US" sz="1400" b="1" dirty="0">
                <a:solidFill>
                  <a:srgbClr val="FF0000"/>
                </a:solidFill>
              </a:rPr>
              <a:t>nature of the problem.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lvl="2"/>
            <a:r>
              <a:rPr lang="en-US" altLang="ko-KR" sz="1200" dirty="0"/>
              <a:t>Definition of the </a:t>
            </a:r>
            <a:r>
              <a:rPr lang="en-US" altLang="ko-KR" sz="1200" dirty="0">
                <a:latin typeface="Consolas" panose="020B0609020204030204" pitchFamily="49" charset="0"/>
              </a:rPr>
              <a:t>Problem</a:t>
            </a:r>
            <a:r>
              <a:rPr lang="en-US" altLang="ko-KR" sz="1200" dirty="0"/>
              <a:t> class (inheriting from </a:t>
            </a:r>
            <a:r>
              <a:rPr lang="en-US" altLang="ko-KR" sz="1200" dirty="0">
                <a:latin typeface="Consolas" panose="020B0609020204030204" pitchFamily="49" charset="0"/>
              </a:rPr>
              <a:t>Setup</a:t>
            </a:r>
            <a:r>
              <a:rPr lang="en-US" altLang="ko-KR" sz="1200" dirty="0"/>
              <a:t>).</a:t>
            </a:r>
          </a:p>
          <a:p>
            <a:pPr lvl="2"/>
            <a:r>
              <a:rPr lang="en-US" altLang="ko-KR" sz="1200" dirty="0"/>
              <a:t>Definition of the </a:t>
            </a:r>
            <a:r>
              <a:rPr lang="en-US" altLang="ko-KR" sz="1200" dirty="0">
                <a:latin typeface="Consolas" panose="020B0609020204030204" pitchFamily="49" charset="0"/>
              </a:rPr>
              <a:t>Numeric</a:t>
            </a:r>
            <a:r>
              <a:rPr lang="en-US" altLang="ko-KR" sz="1200" dirty="0"/>
              <a:t> class (inheriting from </a:t>
            </a:r>
            <a:r>
              <a:rPr lang="en-US" altLang="ko-KR" sz="1200" dirty="0">
                <a:latin typeface="Consolas" panose="020B0609020204030204" pitchFamily="49" charset="0"/>
              </a:rPr>
              <a:t>Problem</a:t>
            </a:r>
            <a:r>
              <a:rPr lang="en-US" altLang="ko-KR" sz="1200" dirty="0"/>
              <a:t>).</a:t>
            </a:r>
          </a:p>
          <a:p>
            <a:pPr lvl="2"/>
            <a:r>
              <a:rPr lang="en-US" altLang="ko-KR" sz="1200" dirty="0"/>
              <a:t>Definition of the </a:t>
            </a:r>
            <a:r>
              <a:rPr lang="en-US" altLang="ko-KR" sz="1200" dirty="0">
                <a:latin typeface="Consolas" panose="020B0609020204030204" pitchFamily="49" charset="0"/>
              </a:rPr>
              <a:t>TSP</a:t>
            </a:r>
            <a:r>
              <a:rPr lang="en-US" altLang="ko-KR" sz="1200" dirty="0"/>
              <a:t> class (inheriting from </a:t>
            </a:r>
            <a:r>
              <a:rPr lang="en-US" altLang="ko-KR" sz="1200" dirty="0">
                <a:latin typeface="Consolas" panose="020B0609020204030204" pitchFamily="49" charset="0"/>
              </a:rPr>
              <a:t>Problem</a:t>
            </a:r>
            <a:r>
              <a:rPr lang="en-US" altLang="ko-KR" sz="1200" dirty="0"/>
              <a:t>).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3297693-FC4C-444D-ACDB-1E1AF2CB75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D)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00D542-1178-4F7F-B03D-41D89CF3D9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C6D964-9752-4432-9B3C-BD12E3EA2420}" type="slidenum">
              <a:rPr lang="ko-KR" altLang="en-US" smtClean="0"/>
              <a:pPr/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59009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487B7-C391-6C2C-8B65-8397A7DB9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7562D5-6F29-CB8B-FC53-DCBBCC457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dirty="0"/>
              <a:t>Search Tool v3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790859-5BF9-581D-374E-042B7D75A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/>
            <a:r>
              <a:rPr lang="en-US" altLang="ko-KR" sz="1600" dirty="0"/>
              <a:t>Search Algorithm (</a:t>
            </a:r>
            <a:r>
              <a:rPr lang="en-US" altLang="ko-KR" sz="1600" dirty="0">
                <a:solidFill>
                  <a:srgbClr val="0033CC"/>
                </a:solidFill>
              </a:rPr>
              <a:t>D</a:t>
            </a:r>
            <a:r>
              <a:rPr lang="en-US" altLang="ko-KR" sz="1600" dirty="0"/>
              <a:t>) / Search Tool </a:t>
            </a:r>
            <a:r>
              <a:rPr lang="en-US" altLang="ko-KR" sz="1600" dirty="0">
                <a:solidFill>
                  <a:srgbClr val="0033CC"/>
                </a:solidFill>
              </a:rPr>
              <a:t>v3</a:t>
            </a:r>
            <a:r>
              <a:rPr lang="en-US" altLang="ko-KR" sz="1600" dirty="0"/>
              <a:t> Implementation details</a:t>
            </a:r>
          </a:p>
          <a:p>
            <a:pPr lvl="1" latinLnBrk="0"/>
            <a:r>
              <a:rPr lang="en-US" altLang="ko-KR" sz="1400" dirty="0">
                <a:solidFill>
                  <a:srgbClr val="0033CC"/>
                </a:solidFill>
                <a:latin typeface="Consolas" panose="020B0609020204030204" pitchFamily="49" charset="0"/>
              </a:rPr>
              <a:t>optimizer.py</a:t>
            </a:r>
            <a:r>
              <a:rPr lang="en-US" altLang="ko-KR" sz="1400" dirty="0">
                <a:solidFill>
                  <a:srgbClr val="0033CC"/>
                </a:solidFill>
              </a:rPr>
              <a:t> : Defines and differentiates classes according to the </a:t>
            </a:r>
            <a:r>
              <a:rPr lang="en-US" altLang="ko-KR" sz="1400" b="1" dirty="0">
                <a:solidFill>
                  <a:srgbClr val="0033CC"/>
                </a:solidFill>
              </a:rPr>
              <a:t>solution algorithm</a:t>
            </a:r>
            <a:r>
              <a:rPr lang="en-US" altLang="ko-KR" sz="1400" dirty="0">
                <a:solidFill>
                  <a:srgbClr val="0033CC"/>
                </a:solidFill>
              </a:rPr>
              <a:t> used to solve the problem</a:t>
            </a:r>
          </a:p>
          <a:p>
            <a:pPr lvl="2" latinLnBrk="0"/>
            <a:r>
              <a:rPr lang="en-US" altLang="ko-KR" sz="1200" dirty="0"/>
              <a:t>Definition of the </a:t>
            </a:r>
            <a:r>
              <a:rPr lang="en-US" altLang="ko-KR" sz="1200" dirty="0" err="1">
                <a:latin typeface="Consolas" panose="020B0609020204030204" pitchFamily="49" charset="0"/>
              </a:rPr>
              <a:t>HillClimbing</a:t>
            </a:r>
            <a:r>
              <a:rPr lang="en-US" altLang="ko-KR" sz="1200" dirty="0"/>
              <a:t> class (inheriting from </a:t>
            </a:r>
            <a:r>
              <a:rPr lang="en-US" altLang="ko-KR" sz="1200" dirty="0">
                <a:latin typeface="Consolas" panose="020B0609020204030204" pitchFamily="49" charset="0"/>
              </a:rPr>
              <a:t>Setup</a:t>
            </a:r>
            <a:r>
              <a:rPr lang="en-US" altLang="ko-KR" sz="1200" dirty="0"/>
              <a:t>).</a:t>
            </a:r>
          </a:p>
          <a:p>
            <a:pPr lvl="2" latinLnBrk="0"/>
            <a:r>
              <a:rPr lang="en-US" altLang="ko-KR" sz="1200" dirty="0"/>
              <a:t>Defines the </a:t>
            </a:r>
            <a:r>
              <a:rPr lang="en-US" altLang="ko-KR" sz="1200" dirty="0" err="1">
                <a:latin typeface="Consolas" panose="020B0609020204030204" pitchFamily="49" charset="0"/>
              </a:rPr>
              <a:t>SteepestAscent</a:t>
            </a:r>
            <a:r>
              <a:rPr lang="en-US" altLang="ko-KR" sz="1200" dirty="0"/>
              <a:t> class (inheriting from </a:t>
            </a:r>
            <a:r>
              <a:rPr lang="en-US" altLang="ko-KR" sz="1200" dirty="0" err="1">
                <a:latin typeface="Consolas" panose="020B0609020204030204" pitchFamily="49" charset="0"/>
              </a:rPr>
              <a:t>HillClimbing</a:t>
            </a:r>
            <a:r>
              <a:rPr lang="en-US" altLang="ko-KR" sz="1200" dirty="0"/>
              <a:t>) and implements the class using the code previously implemented in </a:t>
            </a:r>
            <a:r>
              <a:rPr lang="en-US" altLang="ko-KR" sz="1200" dirty="0">
                <a:latin typeface="Consolas" panose="020B0609020204030204" pitchFamily="49" charset="0"/>
              </a:rPr>
              <a:t>steepest ascent (</a:t>
            </a:r>
            <a:r>
              <a:rPr lang="en-US" altLang="ko-KR" sz="1200" dirty="0" err="1">
                <a:latin typeface="Consolas" panose="020B0609020204030204" pitchFamily="49" charset="0"/>
              </a:rPr>
              <a:t>n.tsp</a:t>
            </a:r>
            <a:r>
              <a:rPr lang="en-US" altLang="ko-KR" sz="1200" dirty="0">
                <a:latin typeface="Consolas" panose="020B0609020204030204" pitchFamily="49" charset="0"/>
              </a:rPr>
              <a:t>).</a:t>
            </a:r>
            <a:r>
              <a:rPr lang="en-US" altLang="ko-KR" sz="1200" dirty="0" err="1">
                <a:latin typeface="Consolas" panose="020B0609020204030204" pitchFamily="49" charset="0"/>
              </a:rPr>
              <a:t>py</a:t>
            </a:r>
            <a:r>
              <a:rPr lang="en-US" altLang="ko-KR" sz="1200" dirty="0"/>
              <a:t>.</a:t>
            </a:r>
          </a:p>
          <a:p>
            <a:pPr lvl="2" latinLnBrk="0"/>
            <a:r>
              <a:rPr lang="en-US" altLang="ko-KR" sz="1200" dirty="0"/>
              <a:t>Defines the </a:t>
            </a:r>
            <a:r>
              <a:rPr lang="en-US" altLang="ko-KR" sz="1200" dirty="0">
                <a:latin typeface="Consolas" panose="020B0609020204030204" pitchFamily="49" charset="0"/>
              </a:rPr>
              <a:t>FirstChoice</a:t>
            </a:r>
            <a:r>
              <a:rPr lang="en-US" altLang="ko-KR" sz="1200" dirty="0"/>
              <a:t> class (inheriting from </a:t>
            </a:r>
            <a:r>
              <a:rPr lang="en-US" altLang="ko-KR" sz="1200" dirty="0" err="1">
                <a:latin typeface="Consolas" panose="020B0609020204030204" pitchFamily="49" charset="0"/>
              </a:rPr>
              <a:t>HillClimbing</a:t>
            </a:r>
            <a:r>
              <a:rPr lang="en-US" altLang="ko-KR" sz="1200" dirty="0"/>
              <a:t>) and implements the class using the code previously implemented in </a:t>
            </a:r>
            <a:r>
              <a:rPr lang="en-US" altLang="ko-KR" sz="1200" dirty="0">
                <a:latin typeface="Consolas" panose="020B0609020204030204" pitchFamily="49" charset="0"/>
              </a:rPr>
              <a:t>first-choice (</a:t>
            </a:r>
            <a:r>
              <a:rPr lang="en-US" altLang="ko-KR" sz="1200" dirty="0" err="1">
                <a:latin typeface="Consolas" panose="020B0609020204030204" pitchFamily="49" charset="0"/>
              </a:rPr>
              <a:t>n.tsp</a:t>
            </a:r>
            <a:r>
              <a:rPr lang="en-US" altLang="ko-KR" sz="1200" dirty="0">
                <a:latin typeface="Consolas" panose="020B0609020204030204" pitchFamily="49" charset="0"/>
              </a:rPr>
              <a:t>).</a:t>
            </a:r>
            <a:r>
              <a:rPr lang="en-US" altLang="ko-KR" sz="1200" dirty="0" err="1">
                <a:latin typeface="Consolas" panose="020B0609020204030204" pitchFamily="49" charset="0"/>
              </a:rPr>
              <a:t>py</a:t>
            </a:r>
            <a:r>
              <a:rPr lang="en-US" altLang="ko-KR" sz="1200" dirty="0"/>
              <a:t>.</a:t>
            </a:r>
          </a:p>
          <a:p>
            <a:pPr lvl="2" latinLnBrk="0"/>
            <a:r>
              <a:rPr lang="en-US" altLang="ko-KR" sz="1200" dirty="0"/>
              <a:t>Defines the </a:t>
            </a:r>
            <a:r>
              <a:rPr lang="en-US" altLang="ko-KR" sz="1200" dirty="0" err="1">
                <a:latin typeface="Consolas" panose="020B0609020204030204" pitchFamily="49" charset="0"/>
              </a:rPr>
              <a:t>GradientDescent</a:t>
            </a:r>
            <a:r>
              <a:rPr lang="en-US" altLang="ko-KR" sz="1200" dirty="0"/>
              <a:t> class (inheriting from </a:t>
            </a:r>
            <a:r>
              <a:rPr lang="en-US" altLang="ko-KR" sz="1200" dirty="0" err="1">
                <a:latin typeface="Consolas" panose="020B0609020204030204" pitchFamily="49" charset="0"/>
              </a:rPr>
              <a:t>HillClimbing</a:t>
            </a:r>
            <a:r>
              <a:rPr lang="en-US" altLang="ko-KR" sz="1200" dirty="0"/>
              <a:t>) and implements the class using the code previously implemented in </a:t>
            </a:r>
            <a:r>
              <a:rPr lang="en-US" altLang="ko-KR" sz="1200" dirty="0">
                <a:latin typeface="Consolas" panose="020B0609020204030204" pitchFamily="49" charset="0"/>
              </a:rPr>
              <a:t>gradient descent.py</a:t>
            </a:r>
            <a:r>
              <a:rPr lang="en-US" altLang="ko-KR" sz="1200" dirty="0"/>
              <a:t>.</a:t>
            </a:r>
          </a:p>
          <a:p>
            <a:pPr lvl="2" latinLnBrk="0"/>
            <a:endParaRPr lang="en-US" altLang="ko-KR" sz="1200" dirty="0"/>
          </a:p>
          <a:p>
            <a:pPr lvl="1" latinLnBrk="0"/>
            <a:r>
              <a:rPr lang="en-US" altLang="ko-KR" sz="1400" dirty="0">
                <a:solidFill>
                  <a:srgbClr val="0033CC"/>
                </a:solidFill>
                <a:latin typeface="Consolas" panose="020B0609020204030204" pitchFamily="49" charset="0"/>
              </a:rPr>
              <a:t>main.py</a:t>
            </a:r>
            <a:r>
              <a:rPr lang="en-US" altLang="ko-KR" sz="1400" dirty="0">
                <a:solidFill>
                  <a:srgbClr val="0033CC"/>
                </a:solidFill>
              </a:rPr>
              <a:t>: Implements the user interface (UI) so the user can make selections during program execution.</a:t>
            </a:r>
          </a:p>
          <a:p>
            <a:pPr lvl="2" latinLnBrk="0"/>
            <a:r>
              <a:rPr lang="en-US" altLang="ko-KR" sz="1400" dirty="0"/>
              <a:t>Select which type of problem to solve: </a:t>
            </a:r>
            <a:r>
              <a:rPr lang="en-US" altLang="ko-KR" sz="1400" dirty="0">
                <a:latin typeface="Consolas" panose="020B0609020204030204" pitchFamily="49" charset="0"/>
              </a:rPr>
              <a:t>Numeric</a:t>
            </a:r>
            <a:r>
              <a:rPr lang="en-US" altLang="ko-KR" sz="1400" dirty="0"/>
              <a:t> or </a:t>
            </a:r>
            <a:r>
              <a:rPr lang="en-US" altLang="ko-KR" sz="1400" dirty="0">
                <a:latin typeface="Consolas" panose="020B0609020204030204" pitchFamily="49" charset="0"/>
              </a:rPr>
              <a:t>TSP</a:t>
            </a:r>
            <a:r>
              <a:rPr lang="en-US" altLang="ko-KR" sz="1400" dirty="0"/>
              <a:t> class.</a:t>
            </a:r>
          </a:p>
          <a:p>
            <a:pPr lvl="2" latinLnBrk="0"/>
            <a:r>
              <a:rPr lang="en-US" altLang="ko-KR" sz="1400" dirty="0"/>
              <a:t>Select which solution algorithm to use for the chosen problem: </a:t>
            </a:r>
            <a:r>
              <a:rPr lang="en-US" altLang="ko-KR" sz="1400" dirty="0" err="1">
                <a:latin typeface="Consolas" panose="020B0609020204030204" pitchFamily="49" charset="0"/>
              </a:rPr>
              <a:t>SteepestAscent</a:t>
            </a:r>
            <a:r>
              <a:rPr lang="en-US" altLang="ko-KR" sz="1400" dirty="0"/>
              <a:t>, </a:t>
            </a:r>
            <a:r>
              <a:rPr lang="en-US" altLang="ko-KR" sz="1400" dirty="0">
                <a:latin typeface="Consolas" panose="020B0609020204030204" pitchFamily="49" charset="0"/>
              </a:rPr>
              <a:t>FirstChoice</a:t>
            </a:r>
            <a:r>
              <a:rPr lang="en-US" altLang="ko-KR" sz="1400" dirty="0"/>
              <a:t>, or </a:t>
            </a:r>
            <a:r>
              <a:rPr lang="en-US" altLang="ko-KR" sz="1400" dirty="0" err="1">
                <a:latin typeface="Consolas" panose="020B0609020204030204" pitchFamily="49" charset="0"/>
              </a:rPr>
              <a:t>GradientDescent</a:t>
            </a:r>
            <a:r>
              <a:rPr lang="en-US" altLang="ko-KR" sz="1400" dirty="0"/>
              <a:t> class.</a:t>
            </a:r>
          </a:p>
          <a:p>
            <a:pPr lvl="2" latinLnBrk="0"/>
            <a:r>
              <a:rPr lang="en-US" altLang="ko-KR" sz="1400" i="1" dirty="0"/>
              <a:t>Note</a:t>
            </a:r>
            <a:r>
              <a:rPr lang="en-US" altLang="ko-KR" sz="1400" dirty="0"/>
              <a:t>: Logic is required to </a:t>
            </a:r>
            <a:r>
              <a:rPr lang="en-US" altLang="ko-KR" sz="1400" dirty="0">
                <a:solidFill>
                  <a:srgbClr val="C00000"/>
                </a:solidFill>
              </a:rPr>
              <a:t>prevent the user</a:t>
            </a:r>
            <a:r>
              <a:rPr lang="en-US" altLang="ko-KR" sz="1400" dirty="0"/>
              <a:t> from selecting the </a:t>
            </a:r>
            <a:r>
              <a:rPr lang="en-US" altLang="ko-KR" sz="1400" dirty="0">
                <a:latin typeface="Consolas" panose="020B0609020204030204" pitchFamily="49" charset="0"/>
              </a:rPr>
              <a:t>Gradient Descent</a:t>
            </a:r>
            <a:r>
              <a:rPr lang="en-US" altLang="ko-KR" sz="1400" dirty="0"/>
              <a:t> algorithm in the case of a </a:t>
            </a:r>
            <a:r>
              <a:rPr lang="en-US" altLang="ko-KR" sz="1400" dirty="0">
                <a:latin typeface="Consolas" panose="020B0609020204030204" pitchFamily="49" charset="0"/>
              </a:rPr>
              <a:t>TSP</a:t>
            </a:r>
            <a:r>
              <a:rPr lang="en-US" altLang="ko-KR" sz="1400" dirty="0"/>
              <a:t> problem.</a:t>
            </a:r>
            <a:endParaRPr lang="en-US" altLang="ko-KR" sz="12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68BCB6-F150-48F5-D9A5-C13ABCE1EA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Search Algorithms: Object-Oriented Implementation (Part D)</a:t>
            </a:r>
            <a:endParaRPr lang="ko-KR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CF2F70-3C4D-B2DF-1EA8-4DDFFA0D78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C6D964-9752-4432-9B3C-BD12E3EA2420}" type="slidenum">
              <a:rPr lang="ko-KR" altLang="en-US" smtClean="0"/>
              <a:pPr/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79757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3">
            <a:extLst>
              <a:ext uri="{FF2B5EF4-FFF2-40B4-BE49-F238E27FC236}">
                <a16:creationId xmlns:a16="http://schemas.microsoft.com/office/drawing/2014/main" id="{751E489A-7765-A0B2-4F7C-506A2802397E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>
              <a:defRPr/>
            </a:pPr>
            <a:r>
              <a:rPr lang="en-US" altLang="ko-KR" sz="1800" dirty="0"/>
              <a:t>We define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HillClimbing</a:t>
            </a:r>
            <a:r>
              <a:rPr lang="en-US" altLang="ko-KR" sz="1800" dirty="0"/>
              <a:t> class to </a:t>
            </a:r>
            <a:r>
              <a:rPr lang="en-US" altLang="ko-KR" sz="1800" u="sng" dirty="0"/>
              <a:t>put together all the </a:t>
            </a:r>
            <a:r>
              <a:rPr lang="en-US" altLang="ko-KR" sz="1800" u="sng" dirty="0">
                <a:highlight>
                  <a:srgbClr val="FFFF00"/>
                </a:highlight>
              </a:rPr>
              <a:t>search algorithms</a:t>
            </a:r>
            <a:r>
              <a:rPr lang="en-US" altLang="ko-KR" sz="1800" dirty="0">
                <a:highlight>
                  <a:srgbClr val="FFFF00"/>
                </a:highlight>
              </a:rPr>
              <a:t> </a:t>
            </a:r>
            <a:r>
              <a:rPr lang="en-US" altLang="ko-KR" sz="1200" dirty="0">
                <a:highlight>
                  <a:srgbClr val="FFFF00"/>
                </a:highlight>
              </a:rPr>
              <a:t>(optimizer.py) </a:t>
            </a:r>
            <a:r>
              <a:rPr lang="en-US" altLang="ko-KR" sz="1800" dirty="0"/>
              <a:t>and </a:t>
            </a:r>
            <a:r>
              <a:rPr lang="en-US" altLang="ko-KR" sz="1800" u="sng" dirty="0"/>
              <a:t>unite all the programs into a single main program </a:t>
            </a:r>
            <a:r>
              <a:rPr lang="en-US" altLang="ko-KR" sz="1200" u="sng" dirty="0"/>
              <a:t>(main.py)</a:t>
            </a:r>
            <a:endParaRPr lang="en-US" altLang="ko-KR" sz="1800" u="sng" dirty="0"/>
          </a:p>
          <a:p>
            <a:pPr marL="611338" lvl="1" indent="-287338" eaLnBrk="1" hangingPunct="1">
              <a:defRPr/>
            </a:pPr>
            <a:r>
              <a:rPr lang="en-US" altLang="ko-KR" sz="1600" dirty="0"/>
              <a:t>Search algorithms become subclasses under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HillClimbing</a:t>
            </a:r>
            <a:endParaRPr lang="en-US" altLang="ko-KR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11338" lvl="1" indent="-287338" eaLnBrk="1" hangingPunct="1">
              <a:defRPr/>
            </a:pPr>
            <a:r>
              <a:rPr lang="en-US" altLang="ko-KR" sz="1600" dirty="0"/>
              <a:t>The class hierarchy of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HillClimbing</a:t>
            </a:r>
            <a:r>
              <a:rPr lang="en-US" altLang="ko-KR" sz="1600" dirty="0"/>
              <a:t> is stored in a separate file named ‘optimizer.py’</a:t>
            </a: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7338" indent="-287338" eaLnBrk="1" hangingPunct="1">
              <a:defRPr/>
            </a:pPr>
            <a:endParaRPr lang="en-US" altLang="ko-KR" sz="1800" dirty="0"/>
          </a:p>
          <a:p>
            <a:pPr marL="287338" indent="-287338" eaLnBrk="1" hangingPunct="1">
              <a:defRPr/>
            </a:pPr>
            <a:endParaRPr lang="en-US" altLang="ko-KR" sz="1800" dirty="0"/>
          </a:p>
          <a:p>
            <a:pPr marL="287338" indent="-287338" eaLnBrk="1" hangingPunct="1">
              <a:defRPr/>
            </a:pPr>
            <a:endParaRPr lang="en-US" altLang="ko-KR" sz="1600" dirty="0"/>
          </a:p>
          <a:p>
            <a:pPr marL="287338" indent="-287338" eaLnBrk="1" hangingPunct="1">
              <a:defRPr/>
            </a:pPr>
            <a:endParaRPr lang="en-US" altLang="ko-KR" sz="1600" dirty="0"/>
          </a:p>
          <a:p>
            <a:pPr marL="287338" indent="-287338" eaLnBrk="1" hangingPunct="1">
              <a:defRPr/>
            </a:pPr>
            <a:r>
              <a:rPr lang="en-US" altLang="ko-KR" sz="1800" dirty="0"/>
              <a:t>The names of the search algorithms are now the names of the subclasses under the 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HillClimbing</a:t>
            </a:r>
            <a:r>
              <a:rPr lang="en-US" altLang="ko-KR" sz="1800" dirty="0"/>
              <a:t> class</a:t>
            </a:r>
          </a:p>
          <a:p>
            <a:pPr marL="611188" lvl="1" indent="-287338" eaLnBrk="1" hangingPunct="1">
              <a:defRPr/>
            </a:pPr>
            <a:r>
              <a:rPr lang="en-US" altLang="ko-KR" sz="1600" dirty="0"/>
              <a:t>The body of each search algorithm becomes the body of the </a:t>
            </a:r>
            <a:r>
              <a:rPr lang="en-US" altLang="ko-KR" sz="1400" b="1" dirty="0">
                <a:solidFill>
                  <a:srgbClr val="0033CC"/>
                </a:solidFill>
                <a:latin typeface="Courier New" panose="02070309020205020404" pitchFamily="49" charset="0"/>
              </a:rPr>
              <a:t>run</a:t>
            </a:r>
            <a:r>
              <a:rPr lang="en-US" altLang="ko-KR" sz="1600" dirty="0">
                <a:solidFill>
                  <a:srgbClr val="0033CC"/>
                </a:solidFill>
              </a:rPr>
              <a:t> method</a:t>
            </a:r>
            <a:r>
              <a:rPr lang="en-US" altLang="ko-KR" sz="1600" dirty="0"/>
              <a:t> of the corresponding subclass</a:t>
            </a:r>
            <a:endParaRPr lang="en-US" altLang="ko-KR" sz="1400" dirty="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F829C237-A81E-AB8C-7255-84A2BF2EAD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>
                <a:solidFill>
                  <a:srgbClr val="0033CC"/>
                </a:solidFill>
              </a:rPr>
              <a:t>Defining ‘HillClimbing’ Class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0AC26F51-9C5A-D54D-8AD8-B85EAAFDBD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D)</a:t>
            </a:r>
            <a:endParaRPr lang="ko-KR" altLang="ko-KR"/>
          </a:p>
        </p:txBody>
      </p:sp>
      <p:sp>
        <p:nvSpPr>
          <p:cNvPr id="9221" name="슬라이드 번호 개체 틀 8">
            <a:extLst>
              <a:ext uri="{FF2B5EF4-FFF2-40B4-BE49-F238E27FC236}">
                <a16:creationId xmlns:a16="http://schemas.microsoft.com/office/drawing/2014/main" id="{4AF2EF18-EA5F-E667-BC35-6CF0CD274C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98ED16CA-30A2-4069-8D40-408686F2D52E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8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F5A0A2D-E653-4986-98AA-10A1068018A1}"/>
              </a:ext>
            </a:extLst>
          </p:cNvPr>
          <p:cNvGrpSpPr/>
          <p:nvPr/>
        </p:nvGrpSpPr>
        <p:grpSpPr>
          <a:xfrm>
            <a:off x="1214462" y="2785293"/>
            <a:ext cx="6165850" cy="1147763"/>
            <a:chOff x="927100" y="3213100"/>
            <a:chExt cx="7316788" cy="11477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7F0488D-3FF9-4936-916A-902AB86C255A}"/>
                </a:ext>
              </a:extLst>
            </p:cNvPr>
            <p:cNvSpPr/>
            <p:nvPr/>
          </p:nvSpPr>
          <p:spPr>
            <a:xfrm>
              <a:off x="3455988" y="3213100"/>
              <a:ext cx="2268537" cy="3603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 b="1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HillClimbing</a:t>
              </a:r>
              <a:endParaRPr lang="en-US" altLang="ko-KR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DC44F69-654D-776A-175C-A370F8A96AF7}"/>
                </a:ext>
              </a:extLst>
            </p:cNvPr>
            <p:cNvSpPr/>
            <p:nvPr/>
          </p:nvSpPr>
          <p:spPr>
            <a:xfrm>
              <a:off x="927100" y="4000500"/>
              <a:ext cx="2268538" cy="3603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 b="1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SteepestAscent</a:t>
              </a:r>
              <a:endParaRPr lang="en-US" altLang="ko-KR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660413F-AE2F-F8C5-8FA4-F215A6CC4B3E}"/>
                </a:ext>
              </a:extLst>
            </p:cNvPr>
            <p:cNvSpPr/>
            <p:nvPr/>
          </p:nvSpPr>
          <p:spPr>
            <a:xfrm>
              <a:off x="3455988" y="4000500"/>
              <a:ext cx="2268537" cy="3603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 b="1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FirstChoice</a:t>
              </a:r>
              <a:endParaRPr lang="en-US" altLang="ko-KR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6BA0BB7-2E24-4FBA-42F1-638857378727}"/>
                </a:ext>
              </a:extLst>
            </p:cNvPr>
            <p:cNvSpPr/>
            <p:nvPr/>
          </p:nvSpPr>
          <p:spPr>
            <a:xfrm>
              <a:off x="5975350" y="4000500"/>
              <a:ext cx="2268538" cy="3603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 b="1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GradientDescent</a:t>
              </a:r>
              <a:endParaRPr lang="en-US" altLang="ko-KR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5F2CC64-A682-CCFD-F99A-321789F2962A}"/>
                </a:ext>
              </a:extLst>
            </p:cNvPr>
            <p:cNvCxnSpPr>
              <a:stCxn id="7" idx="2"/>
              <a:endCxn id="9" idx="0"/>
            </p:cNvCxnSpPr>
            <p:nvPr/>
          </p:nvCxnSpPr>
          <p:spPr>
            <a:xfrm flipH="1">
              <a:off x="2062163" y="3573463"/>
              <a:ext cx="2528887" cy="4270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E41D86F-1152-540E-170A-A6E754FA41E1}"/>
                </a:ext>
              </a:extLst>
            </p:cNvPr>
            <p:cNvCxnSpPr>
              <a:stCxn id="7" idx="2"/>
              <a:endCxn id="11" idx="0"/>
            </p:cNvCxnSpPr>
            <p:nvPr/>
          </p:nvCxnSpPr>
          <p:spPr>
            <a:xfrm>
              <a:off x="4591050" y="3573463"/>
              <a:ext cx="0" cy="4270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EB4A9AF1-6E9D-E6A2-AA41-EC1C8DF6CAF9}"/>
                </a:ext>
              </a:extLst>
            </p:cNvPr>
            <p:cNvCxnSpPr>
              <a:stCxn id="7" idx="2"/>
              <a:endCxn id="15" idx="0"/>
            </p:cNvCxnSpPr>
            <p:nvPr/>
          </p:nvCxnSpPr>
          <p:spPr>
            <a:xfrm>
              <a:off x="4591050" y="3573463"/>
              <a:ext cx="2519363" cy="4270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말풍선: 사각형 15">
            <a:extLst>
              <a:ext uri="{FF2B5EF4-FFF2-40B4-BE49-F238E27FC236}">
                <a16:creationId xmlns:a16="http://schemas.microsoft.com/office/drawing/2014/main" id="{97063B77-6908-4D2E-BCAB-3F4B1CA9BA22}"/>
              </a:ext>
            </a:extLst>
          </p:cNvPr>
          <p:cNvSpPr/>
          <p:nvPr/>
        </p:nvSpPr>
        <p:spPr>
          <a:xfrm>
            <a:off x="5787170" y="2496970"/>
            <a:ext cx="3249325" cy="633412"/>
          </a:xfrm>
          <a:prstGeom prst="wedgeRectCallout">
            <a:avLst>
              <a:gd name="adj1" fmla="val -65017"/>
              <a:gd name="adj2" fmla="val 2328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Helvetica" pitchFamily="2" charset="0"/>
              </a:rPr>
              <a:t>The </a:t>
            </a:r>
            <a:r>
              <a:rPr lang="en-US" sz="1000" dirty="0" err="1">
                <a:latin typeface="Consolas" panose="020B0609020204030204" pitchFamily="49" charset="0"/>
              </a:rPr>
              <a:t>HillClimbing</a:t>
            </a:r>
            <a:r>
              <a:rPr lang="en-US" sz="1000" dirty="0">
                <a:latin typeface="Helvetica" pitchFamily="2" charset="0"/>
              </a:rPr>
              <a:t> class that integrates the Search algorithms into one (For reference, the </a:t>
            </a:r>
            <a:r>
              <a:rPr lang="en-US" sz="1000" dirty="0">
                <a:latin typeface="Consolas" panose="020B0609020204030204" pitchFamily="49" charset="0"/>
              </a:rPr>
              <a:t>Problem</a:t>
            </a:r>
            <a:r>
              <a:rPr lang="en-US" sz="1000" dirty="0">
                <a:latin typeface="Helvetica" pitchFamily="2" charset="0"/>
              </a:rPr>
              <a:t> class stores information about what problem is being solved).</a:t>
            </a:r>
            <a:endParaRPr lang="ko-KR" altLang="en-US" sz="1000" dirty="0">
              <a:latin typeface="Helvetica" pitchFamily="2" charset="0"/>
              <a:ea typeface="나눔스퀘어_ac" panose="020B0600000101010101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2B9C1007-FDAC-5C5E-971A-56F83669A7EF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dirty="0">
                <a:cs typeface="Courier New" panose="02070309020205020404" pitchFamily="49" charset="0"/>
              </a:rPr>
              <a:t>To have a single main program, we need a </a:t>
            </a:r>
            <a:r>
              <a:rPr lang="en-US" altLang="ko-KR" sz="1800" u="sng" dirty="0">
                <a:cs typeface="Courier New" panose="02070309020205020404" pitchFamily="49" charset="0"/>
              </a:rPr>
              <a:t>new user interface </a:t>
            </a:r>
            <a:r>
              <a:rPr lang="en-US" altLang="ko-KR" sz="1800" dirty="0">
                <a:cs typeface="Courier New" panose="02070309020205020404" pitchFamily="49" charset="0"/>
              </a:rPr>
              <a:t>to ask the user the </a:t>
            </a:r>
            <a:r>
              <a:rPr lang="en-US" altLang="ko-KR" sz="1800" u="sng" dirty="0">
                <a:cs typeface="Courier New" panose="02070309020205020404" pitchFamily="49" charset="0"/>
              </a:rPr>
              <a:t>type of problem to be solved (</a:t>
            </a:r>
            <a:r>
              <a:rPr lang="en-US" altLang="ko-KR" sz="1600" b="1" u="sng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pType</a:t>
            </a:r>
            <a:r>
              <a:rPr lang="en-US" altLang="ko-KR" sz="1800" u="sng" dirty="0">
                <a:cs typeface="Courier New" panose="02070309020205020404" pitchFamily="49" charset="0"/>
              </a:rPr>
              <a:t>) </a:t>
            </a:r>
            <a:r>
              <a:rPr lang="en-US" altLang="ko-KR" sz="1800" dirty="0">
                <a:cs typeface="Courier New" panose="02070309020205020404" pitchFamily="49" charset="0"/>
              </a:rPr>
              <a:t>and the </a:t>
            </a:r>
            <a:r>
              <a:rPr lang="en-US" altLang="ko-KR" sz="1800" u="sng" dirty="0">
                <a:cs typeface="Courier New" panose="02070309020205020404" pitchFamily="49" charset="0"/>
              </a:rPr>
              <a:t>type of algorithm to be used (</a:t>
            </a:r>
            <a:r>
              <a:rPr lang="en-US" altLang="ko-KR" sz="1600" b="1" u="sng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aType</a:t>
            </a:r>
            <a:r>
              <a:rPr lang="en-US" altLang="ko-KR" sz="1800" u="sng" dirty="0">
                <a:cs typeface="Courier New" panose="02070309020205020404" pitchFamily="49" charset="0"/>
              </a:rPr>
              <a:t>)</a:t>
            </a:r>
            <a:r>
              <a:rPr lang="en-US" altLang="ko-KR" sz="1800" dirty="0">
                <a:cs typeface="Courier New" panose="02070309020205020404" pitchFamily="49" charset="0"/>
              </a:rPr>
              <a:t> </a:t>
            </a:r>
            <a:r>
              <a:rPr lang="en-US" altLang="ko-KR" sz="1200" b="1" dirty="0">
                <a:latin typeface="나눔스퀘어_ac" panose="020B0600000101010101" pitchFamily="50" charset="-127"/>
                <a:ea typeface="나눔스퀘어_ac" panose="020B0600000101010101" pitchFamily="50" charset="-127"/>
                <a:cs typeface="Courier New" panose="02070309020205020404" pitchFamily="49" charset="0"/>
              </a:rPr>
              <a:t>[</a:t>
            </a:r>
            <a:r>
              <a:rPr lang="en-US" altLang="ko-KR" sz="1200" b="1" dirty="0" err="1">
                <a:latin typeface="Consolas" panose="020B06090202040302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pType</a:t>
            </a:r>
            <a:r>
              <a:rPr lang="en-US" altLang="ko-KR" sz="1200" b="1" dirty="0">
                <a:latin typeface="나눔스퀘어_ac" panose="020B0600000101010101" pitchFamily="50" charset="-127"/>
                <a:ea typeface="나눔스퀘어_ac" panose="020B0600000101010101" pitchFamily="50" charset="-127"/>
                <a:cs typeface="Courier New" panose="02070309020205020404" pitchFamily="49" charset="0"/>
              </a:rPr>
              <a:t>, </a:t>
            </a:r>
            <a:r>
              <a:rPr lang="en-US" altLang="ko-KR" sz="1200" b="1" dirty="0" err="1">
                <a:latin typeface="Consolas" panose="020B06090202040302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aType</a:t>
            </a:r>
            <a:r>
              <a:rPr lang="en-US" altLang="ko-KR" sz="1200" b="1" dirty="0">
                <a:latin typeface="나눔스퀘어_ac" panose="020B0600000101010101" pitchFamily="50" charset="-127"/>
                <a:ea typeface="나눔스퀘어_ac" panose="020B0600000101010101" pitchFamily="50" charset="-127"/>
                <a:cs typeface="Courier New" panose="02070309020205020404" pitchFamily="49" charset="0"/>
              </a:rPr>
              <a:t> is </a:t>
            </a:r>
            <a:r>
              <a:rPr lang="en-US" altLang="ko-KR" sz="1200" b="1" dirty="0">
                <a:latin typeface="Consolas" panose="020B06090202040302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int</a:t>
            </a:r>
            <a:r>
              <a:rPr lang="en-US" altLang="ko-KR" sz="1200" b="1" dirty="0">
                <a:latin typeface="나눔스퀘어_ac" panose="020B0600000101010101" pitchFamily="50" charset="-127"/>
                <a:ea typeface="나눔스퀘어_ac" panose="020B0600000101010101" pitchFamily="50" charset="-127"/>
                <a:cs typeface="Courier New" panose="02070309020205020404" pitchFamily="49" charset="0"/>
              </a:rPr>
              <a:t> datatype]</a:t>
            </a:r>
            <a:endParaRPr lang="en-US" altLang="ko-KR" sz="1800" b="1" dirty="0">
              <a:latin typeface="나눔스퀘어_ac" panose="020B0600000101010101" pitchFamily="50" charset="-127"/>
              <a:ea typeface="나눔스퀘어_ac" panose="020B0600000101010101" pitchFamily="50" charset="-127"/>
              <a:cs typeface="Courier New" panose="02070309020205020404" pitchFamily="49" charset="0"/>
            </a:endParaRPr>
          </a:p>
          <a:p>
            <a:pPr marL="611188" lvl="1" indent="-287338" eaLnBrk="1" hangingPunct="1"/>
            <a:r>
              <a:rPr lang="en-US" altLang="ko-KR" sz="1800" dirty="0">
                <a:cs typeface="Courier New" panose="02070309020205020404" pitchFamily="49" charset="0"/>
              </a:rPr>
              <a:t>These information will be used to create the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Problem</a:t>
            </a:r>
            <a:r>
              <a:rPr lang="en-US" altLang="ko-KR" sz="1800" dirty="0"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cs typeface="Courier New" panose="02070309020205020404" pitchFamily="49" charset="0"/>
              </a:rPr>
              <a:t>(= Numeric</a:t>
            </a:r>
            <a:r>
              <a:rPr lang="ko-KR" altLang="en-US" sz="1400" dirty="0"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cs typeface="Courier New" panose="02070309020205020404" pitchFamily="49" charset="0"/>
              </a:rPr>
              <a:t>or</a:t>
            </a:r>
            <a:r>
              <a:rPr lang="ko-KR" altLang="en-US" sz="1400" dirty="0"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cs typeface="Courier New" panose="02070309020205020404" pitchFamily="49" charset="0"/>
              </a:rPr>
              <a:t>Tsp)</a:t>
            </a:r>
            <a:r>
              <a:rPr lang="en-US" altLang="ko-KR" sz="1800" dirty="0">
                <a:cs typeface="Courier New" panose="02070309020205020404" pitchFamily="49" charset="0"/>
              </a:rPr>
              <a:t> and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HillClimbing</a:t>
            </a:r>
            <a:r>
              <a:rPr lang="en-US" altLang="ko-KR" sz="1800" dirty="0"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cs typeface="Courier New" panose="02070309020205020404" pitchFamily="49" charset="0"/>
              </a:rPr>
              <a:t>(= </a:t>
            </a:r>
            <a:r>
              <a:rPr lang="en-US" altLang="ko-KR" sz="1400" dirty="0" err="1">
                <a:cs typeface="Courier New" panose="02070309020205020404" pitchFamily="49" charset="0"/>
              </a:rPr>
              <a:t>SteepestAscent</a:t>
            </a:r>
            <a:r>
              <a:rPr lang="en-US" altLang="ko-KR" sz="1400" dirty="0">
                <a:cs typeface="Courier New" panose="02070309020205020404" pitchFamily="49" charset="0"/>
              </a:rPr>
              <a:t>, FirstChoice or </a:t>
            </a:r>
            <a:r>
              <a:rPr lang="en-US" altLang="ko-KR" sz="1400" dirty="0" err="1">
                <a:cs typeface="Courier New" panose="02070309020205020404" pitchFamily="49" charset="0"/>
              </a:rPr>
              <a:t>GradientDescent</a:t>
            </a:r>
            <a:r>
              <a:rPr lang="en-US" altLang="ko-KR" sz="1400" dirty="0">
                <a:cs typeface="Courier New" panose="02070309020205020404" pitchFamily="49" charset="0"/>
              </a:rPr>
              <a:t>)</a:t>
            </a:r>
            <a:r>
              <a:rPr lang="en-US" altLang="ko-KR" sz="1800" dirty="0">
                <a:cs typeface="Courier New" panose="02070309020205020404" pitchFamily="49" charset="0"/>
              </a:rPr>
              <a:t> objects of the right types</a:t>
            </a:r>
          </a:p>
          <a:p>
            <a:pPr marL="611188" lvl="1" indent="-287338" eaLnBrk="1" hangingPunct="1"/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pType</a:t>
            </a:r>
            <a:r>
              <a:rPr lang="en-US" altLang="ko-KR" sz="1800" dirty="0">
                <a:cs typeface="Courier New" panose="02070309020205020404" pitchFamily="49" charset="0"/>
              </a:rPr>
              <a:t> will also be used when printing out messages about the settings of the search algorithm used</a:t>
            </a:r>
          </a:p>
          <a:p>
            <a:pPr marL="287338" indent="-287338" eaLnBrk="1" hangingPunct="1"/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7338" indent="-287338" eaLnBrk="1" hangingPunct="1"/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displaySetting</a:t>
            </a:r>
            <a:r>
              <a:rPr lang="en-US" altLang="ko-KR" sz="1800" dirty="0">
                <a:cs typeface="Courier New" panose="02070309020205020404" pitchFamily="49" charset="0"/>
              </a:rPr>
              <a:t> that was previously part of the main program is moved to the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HillClimbing</a:t>
            </a:r>
            <a:r>
              <a:rPr lang="en-US" altLang="ko-KR" sz="1800" dirty="0">
                <a:cs typeface="Courier New" panose="02070309020205020404" pitchFamily="49" charset="0"/>
              </a:rPr>
              <a:t> class </a:t>
            </a:r>
          </a:p>
          <a:p>
            <a:pPr marL="611338" lvl="1" indent="-287338" eaLnBrk="1" hangingPunct="1"/>
            <a:r>
              <a:rPr lang="en-US" altLang="ko-KR" sz="1600" dirty="0">
                <a:cs typeface="Courier New" panose="02070309020205020404" pitchFamily="49" charset="0"/>
              </a:rPr>
              <a:t>because what it displays are the information about the settings </a:t>
            </a:r>
            <a:r>
              <a:rPr lang="en-US" altLang="ko-KR" sz="1600" u="sng" dirty="0">
                <a:cs typeface="Courier New" panose="02070309020205020404" pitchFamily="49" charset="0"/>
              </a:rPr>
              <a:t>of the search algorithms</a:t>
            </a:r>
            <a:r>
              <a:rPr lang="en-US" altLang="ko-KR" sz="1600" dirty="0">
                <a:cs typeface="Courier New" panose="02070309020205020404" pitchFamily="49" charset="0"/>
              </a:rPr>
              <a:t> that are now the methods of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HillClimbing</a:t>
            </a:r>
            <a:endParaRPr lang="en-US" altLang="ko-KR" sz="1600" dirty="0">
              <a:cs typeface="Courier New" panose="02070309020205020404" pitchFamily="49" charset="0"/>
            </a:endParaRPr>
          </a:p>
          <a:p>
            <a:pPr marL="287338" indent="-287338" eaLnBrk="1" hangingPunct="1"/>
            <a:endParaRPr lang="en-US" altLang="ko-KR" sz="1800" dirty="0">
              <a:cs typeface="Courier New" panose="02070309020205020404" pitchFamily="49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64D362A8-DDAE-8ADA-89D5-D113EBDF94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>
                <a:solidFill>
                  <a:srgbClr val="99CCFF"/>
                </a:solidFill>
              </a:rPr>
              <a:t>Defining ‘HillClimbing’ Class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B78162AC-07DF-5439-BB5F-70CE0BA78D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D)</a:t>
            </a:r>
            <a:endParaRPr lang="ko-KR" altLang="ko-KR"/>
          </a:p>
        </p:txBody>
      </p:sp>
      <p:sp>
        <p:nvSpPr>
          <p:cNvPr id="11269" name="슬라이드 번호 개체 틀 8">
            <a:extLst>
              <a:ext uri="{FF2B5EF4-FFF2-40B4-BE49-F238E27FC236}">
                <a16:creationId xmlns:a16="http://schemas.microsoft.com/office/drawing/2014/main" id="{D3871381-D839-DD9C-60F1-663B1E19FE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00E8674-3FF1-42A0-810B-E77C0866D86E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9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EB791ABA-C50C-46D1-BF01-226DD7ED967C}"/>
              </a:ext>
            </a:extLst>
          </p:cNvPr>
          <p:cNvCxnSpPr>
            <a:cxnSpLocks/>
          </p:cNvCxnSpPr>
          <p:nvPr/>
        </p:nvCxnSpPr>
        <p:spPr>
          <a:xfrm>
            <a:off x="5272088" y="1645444"/>
            <a:ext cx="1309687" cy="545306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5AFF39D2-5A90-4836-8540-47FC127B83E7}"/>
              </a:ext>
            </a:extLst>
          </p:cNvPr>
          <p:cNvCxnSpPr>
            <a:cxnSpLocks/>
          </p:cNvCxnSpPr>
          <p:nvPr/>
        </p:nvCxnSpPr>
        <p:spPr>
          <a:xfrm>
            <a:off x="2059781" y="1981200"/>
            <a:ext cx="631032" cy="55721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>
            <a:extLst>
              <a:ext uri="{FF2B5EF4-FFF2-40B4-BE49-F238E27FC236}">
                <a16:creationId xmlns:a16="http://schemas.microsoft.com/office/drawing/2014/main" id="{AE7C127F-2149-35BB-7A05-26EC34B5BB08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5750" indent="-287338" eaLnBrk="1" hangingPunct="1">
              <a:defRPr/>
            </a:pPr>
            <a:r>
              <a:rPr lang="en-US" altLang="ko-KR" sz="1800" dirty="0"/>
              <a:t>To store information necessary for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displaySetting</a:t>
            </a:r>
            <a:r>
              <a:rPr lang="en-US" altLang="ko-KR" sz="1800" dirty="0"/>
              <a:t> and the search algorithms, two variables are defined in 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HillClimbing</a:t>
            </a:r>
            <a:endParaRPr lang="en-US" altLang="ko-KR" sz="1800" dirty="0"/>
          </a:p>
          <a:p>
            <a:pPr marL="608938" lvl="1" indent="-287338" eaLnBrk="1" hangingPunct="1">
              <a:defRPr/>
            </a:pPr>
            <a:r>
              <a:rPr lang="en-US" altLang="ko-KR" sz="1400" b="1" dirty="0" err="1">
                <a:latin typeface="Courier New" panose="02070309020205020404" pitchFamily="49" charset="0"/>
              </a:rPr>
              <a:t>pType</a:t>
            </a:r>
            <a:r>
              <a:rPr lang="en-US" altLang="ko-KR" sz="1600" dirty="0"/>
              <a:t>: integer indicating the </a:t>
            </a:r>
            <a:r>
              <a:rPr lang="en-US" altLang="ko-KR" sz="1600" dirty="0">
                <a:solidFill>
                  <a:srgbClr val="0033CC"/>
                </a:solidFill>
              </a:rPr>
              <a:t>type of problem </a:t>
            </a:r>
            <a:r>
              <a:rPr lang="en-US" altLang="ko-KR" sz="1600" dirty="0"/>
              <a:t>to be solved</a:t>
            </a:r>
          </a:p>
          <a:p>
            <a:pPr marL="608938" lvl="1" indent="-287338" eaLnBrk="1" hangingPunct="1">
              <a:defRPr/>
            </a:pPr>
            <a:r>
              <a:rPr lang="en-US" altLang="ko-KR" sz="1400" b="1" dirty="0" err="1">
                <a:latin typeface="Courier New" panose="02070309020205020404" pitchFamily="49" charset="0"/>
              </a:rPr>
              <a:t>limitStuck</a:t>
            </a:r>
            <a:r>
              <a:rPr lang="en-US" altLang="ko-KR" sz="1600" dirty="0"/>
              <a:t>: maximum evaluations allowed without improvement</a:t>
            </a:r>
          </a:p>
          <a:p>
            <a:pPr marL="896938" lvl="2" indent="-287338" eaLnBrk="1" hangingPunct="1">
              <a:defRPr/>
            </a:pPr>
            <a:r>
              <a:rPr lang="en-US" altLang="ko-KR" sz="1600" dirty="0"/>
              <a:t>Previously, it was </a:t>
            </a:r>
            <a:r>
              <a:rPr lang="en-US" altLang="ko-KR" sz="1400" b="1" dirty="0">
                <a:latin typeface="Courier New" panose="02070309020205020404" pitchFamily="49" charset="0"/>
              </a:rPr>
              <a:t>LIMIT_STUCK</a:t>
            </a:r>
            <a:endParaRPr lang="en-US" altLang="ko-KR" sz="1600" dirty="0"/>
          </a:p>
          <a:p>
            <a:pPr marL="899338" lvl="2" indent="-287338" eaLnBrk="1" hangingPunct="1">
              <a:defRPr/>
            </a:pPr>
            <a:r>
              <a:rPr lang="en-US" altLang="ko-KR" sz="1600" dirty="0"/>
              <a:t>Currently, only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firstChoice</a:t>
            </a:r>
            <a:r>
              <a:rPr lang="en-US" altLang="ko-KR" sz="1600" dirty="0"/>
              <a:t> is under the control of this variable</a:t>
            </a:r>
          </a:p>
          <a:p>
            <a:pPr marL="899338" lvl="2" indent="-287338" eaLnBrk="1" hangingPunct="1">
              <a:defRPr/>
            </a:pPr>
            <a:r>
              <a:rPr lang="en-US" altLang="ko-KR" sz="1600" dirty="0"/>
              <a:t>Later, the </a:t>
            </a:r>
            <a:r>
              <a:rPr lang="en-US" altLang="ko-KR" sz="1600" u="sng" dirty="0"/>
              <a:t>stochastic hill-climbing algorithm to be added</a:t>
            </a:r>
            <a:r>
              <a:rPr lang="en-US" altLang="ko-KR" sz="1600" dirty="0"/>
              <a:t> to the search tool will be controlled by this variable</a:t>
            </a:r>
          </a:p>
          <a:p>
            <a:pPr marL="287188" indent="-287338" eaLnBrk="1" hangingPunct="1">
              <a:defRPr/>
            </a:pPr>
            <a:endParaRPr lang="en-US" altLang="ko-KR" sz="1400" b="1" dirty="0">
              <a:latin typeface="Courier New" panose="02070309020205020404" pitchFamily="49" charset="0"/>
            </a:endParaRPr>
          </a:p>
          <a:p>
            <a:pPr marL="287188" indent="-287338" eaLnBrk="1" hangingPunct="1">
              <a:defRPr/>
            </a:pPr>
            <a:r>
              <a:rPr lang="en-US" altLang="ko-KR" sz="1600" b="1" dirty="0" err="1">
                <a:latin typeface="Courier New" panose="02070309020205020404" pitchFamily="49" charset="0"/>
              </a:rPr>
              <a:t>displaySetting</a:t>
            </a:r>
            <a:r>
              <a:rPr lang="en-US" altLang="ko-KR" sz="1800" dirty="0"/>
              <a:t> in 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HillClimbing</a:t>
            </a:r>
            <a:r>
              <a:rPr lang="en-US" altLang="ko-KR" sz="1800" dirty="0"/>
              <a:t> prints out the mutation step size (</a:t>
            </a:r>
            <a:r>
              <a:rPr lang="en-US" altLang="ko-KR" sz="1600" b="1" dirty="0">
                <a:latin typeface="Courier New" panose="02070309020205020404" pitchFamily="49" charset="0"/>
              </a:rPr>
              <a:t>delta</a:t>
            </a:r>
            <a:r>
              <a:rPr lang="en-US" altLang="ko-KR" sz="1800" dirty="0"/>
              <a:t>) when the type of problem is numerical optimization</a:t>
            </a:r>
          </a:p>
          <a:p>
            <a:pPr marL="611188" lvl="1" indent="-287338" eaLnBrk="1" hangingPunct="1">
              <a:defRPr/>
            </a:pPr>
            <a:r>
              <a:rPr lang="en-US" altLang="ko-KR" sz="1600" dirty="0"/>
              <a:t>This method is inherited to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SteepestAscent</a:t>
            </a:r>
            <a:r>
              <a:rPr lang="en-US" altLang="ko-KR" sz="1600" dirty="0"/>
              <a:t> and 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FirstChoice</a:t>
            </a:r>
            <a:r>
              <a:rPr lang="en-US" altLang="ko-KR" sz="1600" dirty="0"/>
              <a:t>, but not to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GradientDescent</a:t>
            </a:r>
            <a:endParaRPr lang="en-US" altLang="ko-KR" sz="1600" dirty="0">
              <a:cs typeface="Courier New" panose="02070309020205020404" pitchFamily="49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B08E47F1-1ECF-6E98-3FE7-08C306C7C3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>
                <a:solidFill>
                  <a:srgbClr val="99CCFF"/>
                </a:solidFill>
              </a:rPr>
              <a:t>Defining ‘HillClimbing’ Class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999A4D70-715B-2C77-A505-B3B01BE93E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D)</a:t>
            </a:r>
            <a:endParaRPr lang="ko-KR" altLang="ko-KR"/>
          </a:p>
        </p:txBody>
      </p:sp>
      <p:sp>
        <p:nvSpPr>
          <p:cNvPr id="13317" name="슬라이드 번호 개체 틀 8">
            <a:extLst>
              <a:ext uri="{FF2B5EF4-FFF2-40B4-BE49-F238E27FC236}">
                <a16:creationId xmlns:a16="http://schemas.microsoft.com/office/drawing/2014/main" id="{E200D644-A21A-444F-6A87-5DB3D007B7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3B690A9D-F8AE-456E-B4B8-482A8F0EA993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10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>
            <a:extLst>
              <a:ext uri="{FF2B5EF4-FFF2-40B4-BE49-F238E27FC236}">
                <a16:creationId xmlns:a16="http://schemas.microsoft.com/office/drawing/2014/main" id="{54C8F355-E6F6-7ACA-2C5C-DBF10AE48825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340500" indent="-342900" eaLnBrk="1" hangingPunct="1">
              <a:defRPr/>
            </a:pP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displaySetting</a:t>
            </a:r>
            <a:r>
              <a:rPr lang="en-US" altLang="ko-KR" sz="1800" dirty="0"/>
              <a:t> in each class of search algorithm prints out the algorithm name and additional setting information specific to that algorithm</a:t>
            </a:r>
          </a:p>
          <a:p>
            <a:pPr marL="664500" lvl="1" indent="-342900" eaLnBrk="1" hangingPunct="1">
              <a:defRPr/>
            </a:pP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displaySetting</a:t>
            </a:r>
            <a:r>
              <a:rPr lang="en-US" altLang="ko-KR" sz="1400" dirty="0"/>
              <a:t> of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FirstChoice</a:t>
            </a:r>
            <a:r>
              <a:rPr lang="en-US" altLang="ko-KR" sz="1600" dirty="0"/>
              <a:t> prints out the maximum evaluations allowed without improvement (</a:t>
            </a:r>
            <a:r>
              <a:rPr lang="en-US" altLang="ko-KR" sz="1400" b="1" dirty="0" err="1">
                <a:latin typeface="Courier New" panose="02070309020205020404" pitchFamily="49" charset="0"/>
              </a:rPr>
              <a:t>limitStuck</a:t>
            </a:r>
            <a:r>
              <a:rPr lang="en-US" altLang="ko-KR" sz="1600" dirty="0"/>
              <a:t>)</a:t>
            </a:r>
            <a:endParaRPr lang="en-US" altLang="ko-KR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4500" lvl="1" indent="-342900" eaLnBrk="1" hangingPunct="1">
              <a:defRPr/>
            </a:pP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displaySetting</a:t>
            </a:r>
            <a:r>
              <a:rPr lang="en-US" altLang="ko-KR" sz="1400" dirty="0"/>
              <a:t> of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GradientDescent</a:t>
            </a:r>
            <a:r>
              <a:rPr lang="en-US" altLang="ko-KR" sz="1600" dirty="0"/>
              <a:t> prints out the values of 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n-US" altLang="ko-KR" sz="1600" dirty="0"/>
              <a:t> and 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dx</a:t>
            </a:r>
            <a:r>
              <a:rPr lang="en-US" altLang="ko-KR" sz="1600" dirty="0"/>
              <a:t> (using accessor methods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getAlpha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/>
              <a:t>/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getDx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/>
              <a:t>or they can be directly accessed via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self._alpha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self._dx</a:t>
            </a:r>
            <a:r>
              <a:rPr lang="en-US" altLang="ko-KR" sz="1600" dirty="0"/>
              <a:t>)</a:t>
            </a: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4938" indent="-287338" eaLnBrk="1" hangingPunct="1">
              <a:defRPr/>
            </a:pPr>
            <a:endParaRPr lang="en-US" altLang="ko-KR" sz="1800" dirty="0"/>
          </a:p>
          <a:p>
            <a:pPr marL="284938" indent="-287338" eaLnBrk="1" hangingPunct="1">
              <a:defRPr/>
            </a:pPr>
            <a:r>
              <a:rPr lang="en-US" altLang="ko-KR" sz="1800" dirty="0"/>
              <a:t>Notice that </a:t>
            </a:r>
            <a:r>
              <a:rPr lang="en-US" altLang="ko-KR" sz="1600" b="1" dirty="0">
                <a:latin typeface="Courier New" panose="02070309020205020404" pitchFamily="49" charset="0"/>
              </a:rPr>
              <a:t>delta</a:t>
            </a:r>
            <a:r>
              <a:rPr lang="en-US" altLang="ko-KR" sz="1800" dirty="0"/>
              <a:t>, </a:t>
            </a:r>
            <a:r>
              <a:rPr lang="en-US" altLang="ko-KR" sz="1600" b="1" dirty="0">
                <a:latin typeface="Courier New" panose="02070309020205020404" pitchFamily="49" charset="0"/>
              </a:rPr>
              <a:t>alpha</a:t>
            </a:r>
            <a:r>
              <a:rPr lang="en-US" altLang="ko-KR" sz="1800" dirty="0"/>
              <a:t>, </a:t>
            </a:r>
            <a:r>
              <a:rPr lang="en-US" altLang="ko-KR" sz="1600" b="1" dirty="0">
                <a:latin typeface="Courier New" panose="02070309020205020404" pitchFamily="49" charset="0"/>
              </a:rPr>
              <a:t>dx</a:t>
            </a:r>
            <a:r>
              <a:rPr lang="en-US" altLang="ko-KR" sz="1800" dirty="0"/>
              <a:t>  </a:t>
            </a:r>
            <a:r>
              <a:rPr lang="en-US" altLang="ko-KR" sz="1800" u="sng" dirty="0"/>
              <a:t>were</a:t>
            </a:r>
            <a:r>
              <a:rPr lang="en-US" altLang="ko-KR" sz="1800" dirty="0"/>
              <a:t> variables of </a:t>
            </a:r>
            <a:r>
              <a:rPr lang="en-US" altLang="ko-KR" sz="1600" b="1" dirty="0">
                <a:latin typeface="Courier New" panose="02070309020205020404" pitchFamily="49" charset="0"/>
              </a:rPr>
              <a:t>Numeric</a:t>
            </a:r>
            <a:r>
              <a:rPr lang="en-US" altLang="ko-KR" sz="1800" dirty="0"/>
              <a:t> subclass (under </a:t>
            </a:r>
            <a:r>
              <a:rPr lang="en-US" altLang="ko-KR" sz="1600" b="1" dirty="0">
                <a:latin typeface="Courier New" panose="02070309020205020404" pitchFamily="49" charset="0"/>
              </a:rPr>
              <a:t>Problem</a:t>
            </a:r>
            <a:r>
              <a:rPr lang="en-US" altLang="ko-KR" sz="1800" dirty="0"/>
              <a:t>), and 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getDelta</a:t>
            </a:r>
            <a:r>
              <a:rPr lang="en-US" altLang="ko-KR" sz="1600" dirty="0"/>
              <a:t>,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getAlpha</a:t>
            </a:r>
            <a:r>
              <a:rPr lang="en-US" altLang="ko-KR" sz="1800" dirty="0"/>
              <a:t>,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getDx</a:t>
            </a:r>
            <a:r>
              <a:rPr lang="en-US" altLang="ko-KR" sz="1800" dirty="0"/>
              <a:t> </a:t>
            </a:r>
            <a:r>
              <a:rPr lang="en-US" altLang="ko-KR" sz="1800" u="sng" dirty="0"/>
              <a:t>were</a:t>
            </a:r>
            <a:r>
              <a:rPr lang="en-US" altLang="ko-KR" sz="1800" dirty="0"/>
              <a:t> methods of </a:t>
            </a:r>
            <a:r>
              <a:rPr lang="en-US" altLang="ko-KR" sz="1600" b="1" dirty="0">
                <a:latin typeface="Courier New" panose="02070309020205020404" pitchFamily="49" charset="0"/>
              </a:rPr>
              <a:t>Numeric</a:t>
            </a:r>
          </a:p>
          <a:p>
            <a:pPr marL="608938" lvl="1" indent="-287338" eaLnBrk="1" hangingPunct="1">
              <a:defRPr/>
            </a:pPr>
            <a:r>
              <a:rPr lang="en-US" altLang="ko-KR" sz="1600" dirty="0"/>
              <a:t>For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displaySetting</a:t>
            </a:r>
            <a:r>
              <a:rPr lang="en-US" altLang="ko-KR" sz="1600" dirty="0"/>
              <a:t> to refer to 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n-US" altLang="ko-KR" sz="1600" dirty="0"/>
              <a:t> and 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dx</a:t>
            </a:r>
            <a:r>
              <a:rPr lang="en-US" altLang="ko-KR" sz="1600" dirty="0"/>
              <a:t>, it needs as its argument the problem instance being solved (so that it can use the statement such as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p.getAlpha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sz="1600" dirty="0"/>
              <a:t>)</a:t>
            </a:r>
          </a:p>
          <a:p>
            <a:pPr marL="608938" lvl="1" indent="-287338" eaLnBrk="1" hangingPunct="1">
              <a:defRPr/>
            </a:pPr>
            <a:endParaRPr lang="en-US" altLang="ko-KR" sz="1600" dirty="0"/>
          </a:p>
          <a:p>
            <a:pPr marL="608938" lvl="1" indent="-287338" eaLnBrk="1" hangingPunct="1">
              <a:defRPr/>
            </a:pP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다음 페이지 계속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...</a:t>
            </a: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4BF5FAAD-86AD-AA20-3B89-22F12CD2AA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>
                <a:solidFill>
                  <a:srgbClr val="99CCFF"/>
                </a:solidFill>
              </a:rPr>
              <a:t>Defining ‘HillClimbing’ Class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5978E2ED-16E1-2D0F-E976-38B70A628B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Search Algorithms: Object-Oriented Implementation (Part D)</a:t>
            </a:r>
            <a:endParaRPr lang="ko-KR" altLang="ko-KR" dirty="0"/>
          </a:p>
        </p:txBody>
      </p:sp>
      <p:sp>
        <p:nvSpPr>
          <p:cNvPr id="15365" name="슬라이드 번호 개체 틀 8">
            <a:extLst>
              <a:ext uri="{FF2B5EF4-FFF2-40B4-BE49-F238E27FC236}">
                <a16:creationId xmlns:a16="http://schemas.microsoft.com/office/drawing/2014/main" id="{7C232AC8-72A5-B3A1-3F8F-DDA6CB5902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DD49D56-DC68-4C85-B9C1-1FF4673CA0FF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11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D27A3404-21DD-59CB-F864-DBE78BC3E921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4938" indent="-287338" eaLnBrk="1" hangingPunct="1">
              <a:defRPr/>
            </a:pPr>
            <a:r>
              <a:rPr lang="en-US" altLang="ko-KR" sz="1800" dirty="0"/>
              <a:t>What if we make </a:t>
            </a:r>
            <a:r>
              <a:rPr lang="en-US" altLang="ko-KR" sz="1600" b="1" dirty="0">
                <a:latin typeface="Courier New" panose="02070309020205020404" pitchFamily="49" charset="0"/>
              </a:rPr>
              <a:t>alpha</a:t>
            </a:r>
            <a:r>
              <a:rPr lang="en-US" altLang="ko-KR" sz="1800" dirty="0"/>
              <a:t> and </a:t>
            </a:r>
            <a:r>
              <a:rPr lang="en-US" altLang="ko-KR" sz="1600" b="1" dirty="0">
                <a:latin typeface="Courier New" panose="02070309020205020404" pitchFamily="49" charset="0"/>
              </a:rPr>
              <a:t>dx</a:t>
            </a:r>
            <a:r>
              <a:rPr lang="en-US" altLang="ko-KR" sz="1800" dirty="0"/>
              <a:t> variables of 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GradientDescent</a:t>
            </a:r>
            <a:r>
              <a:rPr lang="en-US" altLang="ko-KR" sz="1600" dirty="0"/>
              <a:t>, and</a:t>
            </a:r>
            <a:r>
              <a:rPr lang="en-US" altLang="ko-KR" sz="1600" b="1" dirty="0">
                <a:latin typeface="Courier New" panose="02070309020205020404" pitchFamily="49" charset="0"/>
              </a:rPr>
              <a:t> delta</a:t>
            </a:r>
            <a:r>
              <a:rPr lang="en-US" altLang="ko-KR" sz="1800" dirty="0"/>
              <a:t> a variable of 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HillClimbing</a:t>
            </a:r>
            <a:r>
              <a:rPr lang="en-US" altLang="ko-KR" sz="1800" dirty="0"/>
              <a:t>?</a:t>
            </a:r>
          </a:p>
          <a:p>
            <a:pPr marL="608938" lvl="1" indent="-287338" eaLnBrk="1" hangingPunct="1">
              <a:defRPr/>
            </a:pPr>
            <a:r>
              <a:rPr lang="en-US" altLang="ko-KR" sz="1600" u="sng" dirty="0"/>
              <a:t>Not a good idea </a:t>
            </a:r>
            <a:r>
              <a:rPr lang="en-US" altLang="ko-KR" sz="1600" dirty="0"/>
              <a:t>because they are already variables of the subclass </a:t>
            </a:r>
            <a:r>
              <a:rPr lang="en-US" altLang="ko-KR" sz="1400" b="1" dirty="0">
                <a:latin typeface="Courier New" panose="02070309020205020404" pitchFamily="49" charset="0"/>
              </a:rPr>
              <a:t>Numeric</a:t>
            </a:r>
            <a:endParaRPr lang="en-US" altLang="ko-KR" sz="1600" dirty="0"/>
          </a:p>
          <a:p>
            <a:pPr marL="285750" indent="-287338" eaLnBrk="1" hangingPunct="1">
              <a:defRPr/>
            </a:pPr>
            <a:endParaRPr lang="en-US" altLang="ko-KR" sz="1800" dirty="0"/>
          </a:p>
          <a:p>
            <a:pPr marL="285750" indent="-287338" eaLnBrk="1" hangingPunct="1">
              <a:defRPr/>
            </a:pPr>
            <a:r>
              <a:rPr lang="en-US" altLang="ko-KR" sz="1800" dirty="0"/>
              <a:t>We better create a superclass of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Numeric</a:t>
            </a:r>
            <a:r>
              <a:rPr lang="en-US" altLang="ko-KR" sz="1800" dirty="0"/>
              <a:t> and 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HillClimbing</a:t>
            </a:r>
            <a:r>
              <a:rPr lang="en-US" altLang="ko-KR" sz="1800" dirty="0"/>
              <a:t>, and have those variables belong to that superclass</a:t>
            </a:r>
          </a:p>
          <a:p>
            <a:pPr marL="609600" lvl="1" indent="-287338" eaLnBrk="1" hangingPunct="1">
              <a:defRPr/>
            </a:pPr>
            <a:r>
              <a:rPr lang="en-US" altLang="ko-KR" sz="1600" dirty="0"/>
              <a:t>Once this is done, the three accessors, </a:t>
            </a:r>
            <a:r>
              <a:rPr lang="en-US" altLang="ko-KR" sz="1400" b="1" dirty="0" err="1">
                <a:latin typeface="Courier New" panose="02070309020205020404" pitchFamily="49" charset="0"/>
              </a:rPr>
              <a:t>getDelta</a:t>
            </a:r>
            <a:r>
              <a:rPr lang="en-US" altLang="ko-KR" sz="1600" dirty="0"/>
              <a:t>, </a:t>
            </a:r>
            <a:r>
              <a:rPr lang="en-US" altLang="ko-KR" sz="1400" b="1" dirty="0" err="1">
                <a:latin typeface="Courier New" panose="02070309020205020404" pitchFamily="49" charset="0"/>
              </a:rPr>
              <a:t>getAlpha</a:t>
            </a:r>
            <a:r>
              <a:rPr lang="en-US" altLang="ko-KR" sz="1600" dirty="0"/>
              <a:t>, and </a:t>
            </a:r>
            <a:r>
              <a:rPr lang="en-US" altLang="ko-KR" sz="1400" b="1" dirty="0" err="1">
                <a:latin typeface="Courier New" panose="02070309020205020404" pitchFamily="49" charset="0"/>
              </a:rPr>
              <a:t>getDx</a:t>
            </a:r>
            <a:r>
              <a:rPr lang="en-US" altLang="ko-KR" sz="1600" dirty="0"/>
              <a:t> of the </a:t>
            </a:r>
            <a:r>
              <a:rPr lang="en-US" altLang="ko-KR" sz="1400" b="1" dirty="0">
                <a:latin typeface="Courier New" panose="02070309020205020404" pitchFamily="49" charset="0"/>
              </a:rPr>
              <a:t>Problem</a:t>
            </a:r>
            <a:r>
              <a:rPr lang="en-US" altLang="ko-KR" sz="1600" dirty="0"/>
              <a:t> class are no longer necessary because </a:t>
            </a:r>
            <a:r>
              <a:rPr lang="en-US" altLang="ko-KR" sz="1400" b="1" dirty="0" err="1">
                <a:latin typeface="Courier New" panose="02070309020205020404" pitchFamily="49" charset="0"/>
              </a:rPr>
              <a:t>displaySetting</a:t>
            </a:r>
            <a:r>
              <a:rPr lang="en-US" altLang="ko-KR" sz="1600" dirty="0"/>
              <a:t> that deals with these information will belong to </a:t>
            </a:r>
            <a:r>
              <a:rPr lang="en-US" altLang="ko-KR" sz="1400" b="1" dirty="0" err="1">
                <a:latin typeface="Courier New" panose="02070309020205020404" pitchFamily="49" charset="0"/>
              </a:rPr>
              <a:t>HillClimbing</a:t>
            </a:r>
            <a:r>
              <a:rPr lang="en-US" altLang="ko-KR" sz="1600" dirty="0"/>
              <a:t> and thus can access those variables directly</a:t>
            </a:r>
          </a:p>
          <a:p>
            <a:pPr marL="609600" lvl="1" indent="-287338" eaLnBrk="1" hangingPunct="1">
              <a:defRPr/>
            </a:pPr>
            <a:endParaRPr lang="en-US" altLang="ko-KR" sz="1600" dirty="0"/>
          </a:p>
          <a:p>
            <a:pPr marL="609600" lvl="1" indent="-287338" eaLnBrk="1" hangingPunct="1">
              <a:defRPr/>
            </a:pP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다음 페이지 계속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...</a:t>
            </a: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C533C090-33E2-78F2-8078-BEB9CAF7A9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>
                <a:solidFill>
                  <a:srgbClr val="99CCFF"/>
                </a:solidFill>
              </a:rPr>
              <a:t>Defining ‘HillClimbing’ Class</a:t>
            </a:r>
            <a:endParaRPr lang="en-US" altLang="ko-KR">
              <a:solidFill>
                <a:srgbClr val="800080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0E4F6CF5-3F67-07F0-32C8-9B41864B7D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D)</a:t>
            </a:r>
            <a:endParaRPr lang="ko-KR" altLang="ko-KR"/>
          </a:p>
        </p:txBody>
      </p:sp>
      <p:sp>
        <p:nvSpPr>
          <p:cNvPr id="17413" name="슬라이드 번호 개체 틀 8">
            <a:extLst>
              <a:ext uri="{FF2B5EF4-FFF2-40B4-BE49-F238E27FC236}">
                <a16:creationId xmlns:a16="http://schemas.microsoft.com/office/drawing/2014/main" id="{ECC5DA1E-83A6-157D-49FD-613256DD6E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13154D9-A96A-4617-A83B-965379F46BF7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12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>
            <a:extLst>
              <a:ext uri="{FF2B5EF4-FFF2-40B4-BE49-F238E27FC236}">
                <a16:creationId xmlns:a16="http://schemas.microsoft.com/office/drawing/2014/main" id="{18DFA3AD-70AF-6340-9F28-532F85D9DA82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5750" indent="-287338" eaLnBrk="1" hangingPunct="1"/>
            <a:r>
              <a:rPr lang="en-US" altLang="ko-KR" sz="1800" dirty="0"/>
              <a:t>Since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delta</a:t>
            </a:r>
            <a:r>
              <a:rPr lang="en-US" altLang="ko-KR" sz="1800" dirty="0">
                <a:cs typeface="Courier New" panose="02070309020205020404" pitchFamily="49" charset="0"/>
              </a:rPr>
              <a:t>, </a:t>
            </a:r>
            <a:r>
              <a:rPr lang="en-US" altLang="ko-KR" sz="1600" b="1" dirty="0">
                <a:latin typeface="Courier New" panose="02070309020205020404" pitchFamily="49" charset="0"/>
              </a:rPr>
              <a:t>alpha</a:t>
            </a:r>
            <a:r>
              <a:rPr lang="en-US" altLang="ko-KR" sz="1800" dirty="0"/>
              <a:t>, and </a:t>
            </a:r>
            <a:r>
              <a:rPr lang="en-US" altLang="ko-KR" sz="1600" b="1" dirty="0">
                <a:latin typeface="Courier New" panose="02070309020205020404" pitchFamily="49" charset="0"/>
              </a:rPr>
              <a:t>dx</a:t>
            </a:r>
            <a:r>
              <a:rPr lang="en-US" altLang="ko-KR" sz="1800" dirty="0"/>
              <a:t> are needed by both the classes 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HillClimbing</a:t>
            </a:r>
            <a:r>
              <a:rPr lang="en-US" altLang="ko-KR" sz="1800" dirty="0"/>
              <a:t> and </a:t>
            </a:r>
            <a:r>
              <a:rPr lang="en-US" altLang="ko-KR" sz="1600" b="1" dirty="0">
                <a:latin typeface="Courier New" panose="02070309020205020404" pitchFamily="49" charset="0"/>
              </a:rPr>
              <a:t>Problem</a:t>
            </a:r>
            <a:r>
              <a:rPr lang="en-US" altLang="ko-KR" sz="1800" dirty="0"/>
              <a:t>, we define a new class named 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</a:rPr>
              <a:t>Setup</a:t>
            </a:r>
            <a:r>
              <a:rPr lang="en-US" altLang="ko-KR" sz="1800" dirty="0"/>
              <a:t> to hold those variables and </a:t>
            </a:r>
            <a:r>
              <a:rPr lang="en-US" altLang="ko-KR" sz="1800" u="sng" dirty="0"/>
              <a:t>make it a parent class of both</a:t>
            </a:r>
          </a:p>
          <a:p>
            <a:pPr marL="285750" indent="-287338" eaLnBrk="1" hangingPunct="1"/>
            <a:r>
              <a:rPr lang="en-US" altLang="ko-KR" sz="1800" dirty="0"/>
              <a:t>We store </a:t>
            </a:r>
            <a:r>
              <a:rPr lang="en-US" altLang="ko-KR" sz="1600" b="1" dirty="0">
                <a:latin typeface="Courier New" panose="02070309020205020404" pitchFamily="49" charset="0"/>
              </a:rPr>
              <a:t>Setup</a:t>
            </a:r>
            <a:r>
              <a:rPr lang="en-US" altLang="ko-KR" sz="1800" dirty="0"/>
              <a:t> in a separate file named </a:t>
            </a:r>
            <a:r>
              <a:rPr lang="en-US" altLang="ko-KR" sz="1800" dirty="0">
                <a:latin typeface="consolas" panose="020B0609020204030204" pitchFamily="49" charset="0"/>
              </a:rPr>
              <a:t>‘setup.py’</a:t>
            </a:r>
            <a:r>
              <a:rPr lang="en-US" altLang="ko-KR" sz="1800" dirty="0"/>
              <a:t> and let the </a:t>
            </a:r>
            <a:r>
              <a:rPr lang="en-US" altLang="ko-KR" sz="1800" dirty="0">
                <a:latin typeface="consolas" panose="020B0609020204030204" pitchFamily="49" charset="0"/>
              </a:rPr>
              <a:t>‘problem.py’ </a:t>
            </a:r>
            <a:r>
              <a:rPr lang="en-US" altLang="ko-KR" sz="1800" dirty="0"/>
              <a:t>and </a:t>
            </a:r>
            <a:r>
              <a:rPr lang="en-US" altLang="ko-KR" sz="1800" dirty="0">
                <a:latin typeface="consolas" panose="020B0609020204030204" pitchFamily="49" charset="0"/>
              </a:rPr>
              <a:t>‘optimizer.py’ </a:t>
            </a:r>
            <a:r>
              <a:rPr lang="en-US" altLang="ko-KR" sz="1800" dirty="0"/>
              <a:t>files import it from that file</a:t>
            </a:r>
          </a:p>
          <a:p>
            <a:pPr marL="285750" indent="-287338" eaLnBrk="1" hangingPunct="1"/>
            <a:endParaRPr lang="en-US" altLang="ko-KR" sz="1800" dirty="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EAFEF9A3-C56C-1FD5-747F-5D65646DAC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800080"/>
                </a:solidFill>
              </a:rPr>
              <a:t>Adding a Superclass ‘Setup’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0A91621B-797F-DC1C-1AEF-2314E17A12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D)</a:t>
            </a:r>
            <a:endParaRPr lang="ko-KR" altLang="ko-KR"/>
          </a:p>
        </p:txBody>
      </p:sp>
      <p:sp>
        <p:nvSpPr>
          <p:cNvPr id="19461" name="슬라이드 번호 개체 틀 8">
            <a:extLst>
              <a:ext uri="{FF2B5EF4-FFF2-40B4-BE49-F238E27FC236}">
                <a16:creationId xmlns:a16="http://schemas.microsoft.com/office/drawing/2014/main" id="{0920A446-DD50-1D87-0AF0-263AC74971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2EA9DBB-5AA1-4D62-ACB6-8AB289F34044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13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A6094E6-1143-4B86-A62E-9E7D16263964}"/>
              </a:ext>
            </a:extLst>
          </p:cNvPr>
          <p:cNvGrpSpPr/>
          <p:nvPr/>
        </p:nvGrpSpPr>
        <p:grpSpPr>
          <a:xfrm>
            <a:off x="1080467" y="2914074"/>
            <a:ext cx="7541494" cy="3107214"/>
            <a:chOff x="1080467" y="2780928"/>
            <a:chExt cx="7541494" cy="3107214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B122E90B-0C53-45E4-9AC1-F5A49FECCADC}"/>
                </a:ext>
              </a:extLst>
            </p:cNvPr>
            <p:cNvGrpSpPr/>
            <p:nvPr/>
          </p:nvGrpSpPr>
          <p:grpSpPr>
            <a:xfrm>
              <a:off x="1080467" y="2780928"/>
              <a:ext cx="7019925" cy="3107214"/>
              <a:chOff x="1081088" y="3022600"/>
              <a:chExt cx="7019925" cy="3107214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F670A98B-8A27-129F-99F7-7F0394E65AE4}"/>
                  </a:ext>
                </a:extLst>
              </p:cNvPr>
              <p:cNvSpPr/>
              <p:nvPr/>
            </p:nvSpPr>
            <p:spPr>
              <a:xfrm>
                <a:off x="4213225" y="3022600"/>
                <a:ext cx="1871663" cy="36036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ko-KR" sz="1600" b="1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Setup</a:t>
                </a:r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2A417CDC-6893-A59B-EBC2-AE14814BB1E4}"/>
                  </a:ext>
                </a:extLst>
              </p:cNvPr>
              <p:cNvSpPr/>
              <p:nvPr/>
            </p:nvSpPr>
            <p:spPr>
              <a:xfrm>
                <a:off x="2376488" y="4454525"/>
                <a:ext cx="1871662" cy="36036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ko-KR" sz="1600" b="1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Problem</a:t>
                </a: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EAD70FCB-902A-DAE6-2971-C7AC79A15079}"/>
                  </a:ext>
                </a:extLst>
              </p:cNvPr>
              <p:cNvSpPr/>
              <p:nvPr/>
            </p:nvSpPr>
            <p:spPr>
              <a:xfrm>
                <a:off x="6229350" y="4454525"/>
                <a:ext cx="1871663" cy="36036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ko-KR" sz="1600" b="1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HillClimbing</a:t>
                </a:r>
                <a:endParaRPr lang="en-US" altLang="ko-KR" sz="16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F4BB0E2D-8D16-0D5F-951D-65DA9F1BF354}"/>
                  </a:ext>
                </a:extLst>
              </p:cNvPr>
              <p:cNvCxnSpPr>
                <a:stCxn id="18" idx="2"/>
                <a:endCxn id="9" idx="0"/>
              </p:cNvCxnSpPr>
              <p:nvPr/>
            </p:nvCxnSpPr>
            <p:spPr>
              <a:xfrm flipH="1">
                <a:off x="3312319" y="4147027"/>
                <a:ext cx="1836738" cy="30749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932F2676-4B4C-C559-1434-170B6A05D5C4}"/>
                  </a:ext>
                </a:extLst>
              </p:cNvPr>
              <p:cNvCxnSpPr>
                <a:stCxn id="18" idx="2"/>
                <a:endCxn id="13" idx="0"/>
              </p:cNvCxnSpPr>
              <p:nvPr/>
            </p:nvCxnSpPr>
            <p:spPr>
              <a:xfrm>
                <a:off x="5149057" y="4147027"/>
                <a:ext cx="2016125" cy="30749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DB543DE-0BCB-E87B-12FE-6B0EEFA711B7}"/>
                  </a:ext>
                </a:extLst>
              </p:cNvPr>
              <p:cNvSpPr txBox="1"/>
              <p:nvPr/>
            </p:nvSpPr>
            <p:spPr>
              <a:xfrm>
                <a:off x="4213225" y="3408363"/>
                <a:ext cx="1871663" cy="73866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ko-KR" sz="14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delta</a:t>
                </a:r>
              </a:p>
              <a:p>
                <a:pPr>
                  <a:defRPr/>
                </a:pPr>
                <a:r>
                  <a:rPr lang="en-US" altLang="ko-KR" sz="14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alpha</a:t>
                </a:r>
              </a:p>
              <a:p>
                <a:pPr>
                  <a:defRPr/>
                </a:pPr>
                <a:r>
                  <a:rPr lang="en-US" altLang="ko-KR" sz="14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dx</a:t>
                </a: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070000B7-3EF4-4797-4D5A-09D8EDAB12DA}"/>
                  </a:ext>
                </a:extLst>
              </p:cNvPr>
              <p:cNvSpPr/>
              <p:nvPr/>
            </p:nvSpPr>
            <p:spPr>
              <a:xfrm>
                <a:off x="1081088" y="5000625"/>
                <a:ext cx="1871662" cy="36036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ko-KR" sz="1600" b="1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Numeric</a:t>
                </a:r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643C69F0-5CB8-52D7-A8D9-FC9290DD7B62}"/>
                  </a:ext>
                </a:extLst>
              </p:cNvPr>
              <p:cNvSpPr/>
              <p:nvPr/>
            </p:nvSpPr>
            <p:spPr>
              <a:xfrm>
                <a:off x="3636963" y="5000625"/>
                <a:ext cx="1871662" cy="36036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ko-KR" sz="1600" b="1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Tsp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C4CA4BC-D94A-F56D-8FAE-61B9831599E2}"/>
                  </a:ext>
                </a:extLst>
              </p:cNvPr>
              <p:cNvSpPr txBox="1"/>
              <p:nvPr/>
            </p:nvSpPr>
            <p:spPr>
              <a:xfrm>
                <a:off x="1081088" y="5394325"/>
                <a:ext cx="1871662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ko-KR" sz="14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expression</a:t>
                </a:r>
              </a:p>
              <a:p>
                <a:pPr>
                  <a:defRPr/>
                </a:pPr>
                <a:r>
                  <a:rPr lang="en-US" altLang="ko-KR" sz="14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domain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8F28751-AB1B-8187-38DA-DE2D46BA04DE}"/>
                  </a:ext>
                </a:extLst>
              </p:cNvPr>
              <p:cNvSpPr txBox="1"/>
              <p:nvPr/>
            </p:nvSpPr>
            <p:spPr>
              <a:xfrm>
                <a:off x="3636963" y="5391150"/>
                <a:ext cx="1871662" cy="73866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ko-KR" sz="14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numCities</a:t>
                </a:r>
                <a:endParaRPr lang="en-US" altLang="ko-KR" sz="14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defRPr/>
                </a:pPr>
                <a:r>
                  <a:rPr lang="en-US" altLang="ko-KR" sz="14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locations</a:t>
                </a:r>
              </a:p>
              <a:p>
                <a:pPr>
                  <a:defRPr/>
                </a:pPr>
                <a:r>
                  <a:rPr lang="en-US" altLang="ko-KR" sz="14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distanceTable</a:t>
                </a:r>
                <a:endParaRPr lang="en-US" altLang="ko-KR" sz="14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0CF0433-7D9B-934F-4422-8AB5CE882F64}"/>
                  </a:ext>
                </a:extLst>
              </p:cNvPr>
              <p:cNvSpPr txBox="1"/>
              <p:nvPr/>
            </p:nvSpPr>
            <p:spPr>
              <a:xfrm>
                <a:off x="6229350" y="4838700"/>
                <a:ext cx="1871663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ko-KR" sz="14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pType</a:t>
                </a:r>
                <a:endParaRPr lang="en-US" altLang="ko-KR" sz="14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defRPr/>
                </a:pPr>
                <a:r>
                  <a:rPr lang="en-US" altLang="ko-KR" sz="14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limitStuck</a:t>
                </a:r>
                <a:endParaRPr lang="en-US" altLang="ko-KR" sz="14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2C48BC92-66C5-F645-B774-1EEFF86005BC}"/>
                  </a:ext>
                </a:extLst>
              </p:cNvPr>
              <p:cNvCxnSpPr>
                <a:stCxn id="9" idx="2"/>
                <a:endCxn id="19" idx="0"/>
              </p:cNvCxnSpPr>
              <p:nvPr/>
            </p:nvCxnSpPr>
            <p:spPr>
              <a:xfrm flipH="1">
                <a:off x="2016125" y="4814888"/>
                <a:ext cx="1295400" cy="18573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00B55A63-B2F5-83AC-F416-96C137A5C0CC}"/>
                  </a:ext>
                </a:extLst>
              </p:cNvPr>
              <p:cNvCxnSpPr>
                <a:stCxn id="20" idx="0"/>
                <a:endCxn id="9" idx="2"/>
              </p:cNvCxnSpPr>
              <p:nvPr/>
            </p:nvCxnSpPr>
            <p:spPr>
              <a:xfrm flipH="1" flipV="1">
                <a:off x="3311525" y="4814888"/>
                <a:ext cx="1260475" cy="18573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말풍선: 사각형 24">
              <a:extLst>
                <a:ext uri="{FF2B5EF4-FFF2-40B4-BE49-F238E27FC236}">
                  <a16:creationId xmlns:a16="http://schemas.microsoft.com/office/drawing/2014/main" id="{C37847BC-9F81-4311-9586-2AD476AC7996}"/>
                </a:ext>
              </a:extLst>
            </p:cNvPr>
            <p:cNvSpPr/>
            <p:nvPr/>
          </p:nvSpPr>
          <p:spPr>
            <a:xfrm>
              <a:off x="6381165" y="2798858"/>
              <a:ext cx="2240796" cy="617371"/>
            </a:xfrm>
            <a:prstGeom prst="wedgeRectCallout">
              <a:avLst>
                <a:gd name="adj1" fmla="val -60292"/>
                <a:gd name="adj2" fmla="val -23063"/>
              </a:avLst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Also, the </a:t>
              </a:r>
              <a:r>
                <a:rPr lang="en-US" sz="1000" dirty="0" err="1">
                  <a:latin typeface="Consolas" panose="020B0609020204030204" pitchFamily="49" charset="0"/>
                  <a:cs typeface="Arial" panose="020B0604020202020204" pitchFamily="34" charset="0"/>
                </a:rPr>
                <a:t>getDelta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000" dirty="0" err="1">
                  <a:latin typeface="Consolas" panose="020B0609020204030204" pitchFamily="49" charset="0"/>
                  <a:cs typeface="Arial" panose="020B0604020202020204" pitchFamily="34" charset="0"/>
                </a:rPr>
                <a:t>getAlpha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, and </a:t>
              </a:r>
              <a:r>
                <a:rPr lang="en-US" sz="1000" dirty="0" err="1">
                  <a:latin typeface="Consolas" panose="020B0609020204030204" pitchFamily="49" charset="0"/>
                  <a:cs typeface="Arial" panose="020B0604020202020204" pitchFamily="34" charset="0"/>
                </a:rPr>
                <a:t>getDx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 methods that were previously in </a:t>
              </a:r>
              <a:r>
                <a:rPr lang="en-US" sz="1000" dirty="0">
                  <a:latin typeface="Consolas" panose="020B0609020204030204" pitchFamily="49" charset="0"/>
                  <a:cs typeface="Arial" panose="020B0604020202020204" pitchFamily="34" charset="0"/>
                </a:rPr>
                <a:t>problem.py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 are moved to the </a:t>
              </a:r>
              <a:r>
                <a:rPr lang="en-US" sz="1000" b="1" dirty="0">
                  <a:latin typeface="Consolas" panose="020B0609020204030204" pitchFamily="49" charset="0"/>
                  <a:cs typeface="Arial" panose="020B0604020202020204" pitchFamily="34" charset="0"/>
                </a:rPr>
                <a:t>Setup</a:t>
              </a:r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 class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ko-KR" altLang="en-US" sz="1000" dirty="0">
                <a:latin typeface="Arial" panose="020B0604020202020204" pitchFamily="34" charset="0"/>
                <a:ea typeface="나눔스퀘어_ac" panose="020B0600000101010101" pitchFamily="50" charset="-127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>
            <a:extLst>
              <a:ext uri="{FF2B5EF4-FFF2-40B4-BE49-F238E27FC236}">
                <a16:creationId xmlns:a16="http://schemas.microsoft.com/office/drawing/2014/main" id="{5B2019C2-8040-E1F8-62C7-A4973525DFFF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dirty="0"/>
              <a:t>The main program is stored in a file named ‘main.py’</a:t>
            </a:r>
          </a:p>
          <a:p>
            <a:pPr marL="611188" lvl="1" indent="-287338" eaLnBrk="1" hangingPunct="1"/>
            <a:r>
              <a:rPr lang="en-US" altLang="ko-KR" sz="1800" dirty="0"/>
              <a:t>The ‘main.py’ file should import everything from ‘problem.py’ and ‘optimizer.py’</a:t>
            </a:r>
          </a:p>
          <a:p>
            <a:pPr marL="287338" indent="-287338" eaLnBrk="1" hangingPunct="1"/>
            <a:endParaRPr lang="en-US" altLang="ko-KR" dirty="0"/>
          </a:p>
          <a:p>
            <a:pPr marL="287338" indent="-287338" eaLnBrk="1" hangingPunct="1"/>
            <a:r>
              <a:rPr lang="en-US" altLang="ko-KR" dirty="0"/>
              <a:t>The main program includes a few functions for a new </a:t>
            </a:r>
            <a:r>
              <a:rPr lang="en-US" altLang="ko-KR" dirty="0">
                <a:solidFill>
                  <a:srgbClr val="0033CC"/>
                </a:solidFill>
              </a:rPr>
              <a:t>user interface </a:t>
            </a:r>
            <a:r>
              <a:rPr lang="en-US" altLang="ko-KR" dirty="0"/>
              <a:t>to ask the user to </a:t>
            </a:r>
            <a:r>
              <a:rPr lang="en-US" altLang="ko-KR" u="sng" dirty="0"/>
              <a:t>choose the problem to be solved </a:t>
            </a:r>
            <a:r>
              <a:rPr lang="en-US" altLang="ko-KR" dirty="0"/>
              <a:t>and the </a:t>
            </a:r>
            <a:r>
              <a:rPr lang="en-US" altLang="ko-KR" u="sng" dirty="0"/>
              <a:t>optimization algorithm to be used</a:t>
            </a: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A94387B5-9F9F-0C18-432F-F0AECCCDA2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800080"/>
                </a:solidFill>
              </a:rPr>
              <a:t>The Main Program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DF1C1022-7414-E1DE-4510-EF083D58C6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D)</a:t>
            </a:r>
            <a:endParaRPr lang="ko-KR" altLang="ko-KR"/>
          </a:p>
        </p:txBody>
      </p:sp>
      <p:sp>
        <p:nvSpPr>
          <p:cNvPr id="21509" name="슬라이드 번호 개체 틀 8">
            <a:extLst>
              <a:ext uri="{FF2B5EF4-FFF2-40B4-BE49-F238E27FC236}">
                <a16:creationId xmlns:a16="http://schemas.microsoft.com/office/drawing/2014/main" id="{7BF53F70-9C8B-29C0-C9FF-7469C8D280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2779EC7A-0488-4716-B22C-B1A23EE53D7B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14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말풍선: 사각형 5">
            <a:extLst>
              <a:ext uri="{FF2B5EF4-FFF2-40B4-BE49-F238E27FC236}">
                <a16:creationId xmlns:a16="http://schemas.microsoft.com/office/drawing/2014/main" id="{4A7319B6-1A55-4330-8279-9D0902B27B7E}"/>
              </a:ext>
            </a:extLst>
          </p:cNvPr>
          <p:cNvSpPr/>
          <p:nvPr/>
        </p:nvSpPr>
        <p:spPr>
          <a:xfrm>
            <a:off x="5761912" y="3573016"/>
            <a:ext cx="2889285" cy="720080"/>
          </a:xfrm>
          <a:prstGeom prst="wedgeRectCallout">
            <a:avLst>
              <a:gd name="adj1" fmla="val -36701"/>
              <a:gd name="adj2" fmla="val -7779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Helvetica" pitchFamily="2" charset="0"/>
              </a:rPr>
              <a:t>Receive </a:t>
            </a:r>
            <a:r>
              <a:rPr lang="en-US" sz="1200" dirty="0" err="1">
                <a:latin typeface="Consolas" panose="020B0609020204030204" pitchFamily="49" charset="0"/>
              </a:rPr>
              <a:t>pType</a:t>
            </a:r>
            <a:r>
              <a:rPr lang="en-US" sz="1200" dirty="0">
                <a:latin typeface="Helvetica" pitchFamily="2" charset="0"/>
              </a:rPr>
              <a:t> information as input to determine which type of </a:t>
            </a:r>
            <a:r>
              <a:rPr lang="en-US" sz="1200" b="1" dirty="0">
                <a:latin typeface="Helvetica" pitchFamily="2" charset="0"/>
              </a:rPr>
              <a:t>problem</a:t>
            </a:r>
            <a:r>
              <a:rPr lang="en-US" sz="1200" dirty="0">
                <a:latin typeface="Helvetica" pitchFamily="2" charset="0"/>
              </a:rPr>
              <a:t> to solve (Numeric </a:t>
            </a:r>
            <a:r>
              <a:rPr lang="en-US" sz="1200" dirty="0" err="1">
                <a:latin typeface="Helvetica" pitchFamily="2" charset="0"/>
              </a:rPr>
              <a:t>Opt</a:t>
            </a:r>
            <a:r>
              <a:rPr lang="en-US" sz="1200" dirty="0">
                <a:latin typeface="Helvetica" pitchFamily="2" charset="0"/>
              </a:rPr>
              <a:t> or TSP).</a:t>
            </a:r>
            <a:endParaRPr lang="ko-KR" altLang="en-US" sz="1200" dirty="0">
              <a:latin typeface="Helvetica" pitchFamily="2" charset="0"/>
              <a:ea typeface="나눔스퀘어_ac" panose="020B0600000101010101" pitchFamily="50" charset="-127"/>
            </a:endParaRPr>
          </a:p>
        </p:txBody>
      </p:sp>
      <p:sp>
        <p:nvSpPr>
          <p:cNvPr id="7" name="말풍선: 사각형 6">
            <a:extLst>
              <a:ext uri="{FF2B5EF4-FFF2-40B4-BE49-F238E27FC236}">
                <a16:creationId xmlns:a16="http://schemas.microsoft.com/office/drawing/2014/main" id="{37B9763A-81BD-4133-972F-6269B0CEE60C}"/>
              </a:ext>
            </a:extLst>
          </p:cNvPr>
          <p:cNvSpPr/>
          <p:nvPr/>
        </p:nvSpPr>
        <p:spPr>
          <a:xfrm>
            <a:off x="827584" y="3933056"/>
            <a:ext cx="3168352" cy="720080"/>
          </a:xfrm>
          <a:prstGeom prst="wedgeRectCallout">
            <a:avLst>
              <a:gd name="adj1" fmla="val -7324"/>
              <a:gd name="adj2" fmla="val -7738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Helvetica" pitchFamily="2" charset="0"/>
              </a:rPr>
              <a:t>Receive </a:t>
            </a:r>
            <a:r>
              <a:rPr lang="en-US" sz="1200" dirty="0" err="1">
                <a:latin typeface="Consolas" panose="020B0609020204030204" pitchFamily="49" charset="0"/>
              </a:rPr>
              <a:t>aType</a:t>
            </a:r>
            <a:r>
              <a:rPr lang="en-US" sz="1200" dirty="0">
                <a:latin typeface="Helvetica" pitchFamily="2" charset="0"/>
              </a:rPr>
              <a:t> information as input to determine which </a:t>
            </a:r>
            <a:r>
              <a:rPr lang="en-US" sz="1200" b="1" dirty="0">
                <a:latin typeface="Helvetica" pitchFamily="2" charset="0"/>
              </a:rPr>
              <a:t>algorithm</a:t>
            </a:r>
            <a:r>
              <a:rPr lang="en-US" sz="1200" dirty="0">
                <a:latin typeface="Helvetica" pitchFamily="2" charset="0"/>
              </a:rPr>
              <a:t> to use (Steepest Ascent or First Choice or Gradient Descent).</a:t>
            </a:r>
            <a:endParaRPr lang="ko-KR" altLang="en-US" sz="1200" dirty="0">
              <a:latin typeface="Helvetica" pitchFamily="2" charset="0"/>
              <a:ea typeface="나눔스퀘어_ac" panose="020B0600000101010101" pitchFamily="50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>
            <a:extLst>
              <a:ext uri="{FF2B5EF4-FFF2-40B4-BE49-F238E27FC236}">
                <a16:creationId xmlns:a16="http://schemas.microsoft.com/office/drawing/2014/main" id="{12CB3658-FADA-A432-E21C-F8A292BB60A7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5750" indent="-287338" eaLnBrk="1" hangingPunct="1"/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r>
              <a:rPr lang="en-US" sz="1600" dirty="0"/>
              <a:t> is comprised of the following </a:t>
            </a:r>
            <a:r>
              <a:rPr lang="en-US" sz="1600" u="sng" dirty="0"/>
              <a:t>four functions:</a:t>
            </a:r>
            <a:endParaRPr lang="en-US" altLang="ko-KR" sz="16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7338" eaLnBrk="1" hangingPunct="1"/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7338" eaLnBrk="1" hangingPunct="1"/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1. main()</a:t>
            </a:r>
            <a:r>
              <a:rPr lang="en-US" altLang="ko-KR" sz="1800" dirty="0">
                <a:cs typeface="Courier New" panose="02070309020205020404" pitchFamily="49" charset="0"/>
              </a:rPr>
              <a:t>:</a:t>
            </a:r>
          </a:p>
          <a:p>
            <a:pPr marL="609600" lvl="1" indent="-287338" eaLnBrk="1" hangingPunct="1"/>
            <a:r>
              <a:rPr lang="en-US" altLang="ko-KR" sz="1600" dirty="0">
                <a:cs typeface="Courier New" panose="02070309020205020404" pitchFamily="49" charset="0"/>
              </a:rPr>
              <a:t>Creates a 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Problem</a:t>
            </a:r>
            <a:r>
              <a:rPr lang="en-US" altLang="ko-KR" sz="1600" dirty="0"/>
              <a:t> object </a:t>
            </a:r>
            <a:r>
              <a:rPr lang="en-US" altLang="ko-KR" sz="1400" b="1" dirty="0">
                <a:latin typeface="Courier New" panose="02070309020205020404" pitchFamily="49" charset="0"/>
              </a:rPr>
              <a:t>p</a:t>
            </a:r>
            <a:r>
              <a:rPr lang="en-US" altLang="ko-KR" sz="1600" dirty="0"/>
              <a:t> of the right type </a:t>
            </a:r>
            <a:r>
              <a:rPr lang="en-US" altLang="ko-KR" sz="1600" u="sng" dirty="0"/>
              <a:t>by querying to the user </a:t>
            </a:r>
            <a:r>
              <a:rPr lang="en-US" altLang="ko-KR" sz="1600" dirty="0"/>
              <a:t>(</a:t>
            </a:r>
            <a:r>
              <a:rPr lang="en-US" altLang="ko-KR" sz="1400" b="1" dirty="0" err="1">
                <a:latin typeface="Courier New" panose="02070309020205020404" pitchFamily="49" charset="0"/>
              </a:rPr>
              <a:t>selectProblem</a:t>
            </a:r>
            <a:r>
              <a:rPr lang="en-US" altLang="ko-KR" sz="1600" dirty="0"/>
              <a:t>)</a:t>
            </a:r>
          </a:p>
          <a:p>
            <a:pPr marL="609600" lvl="1" indent="-287338" eaLnBrk="1" hangingPunct="1"/>
            <a:r>
              <a:rPr lang="en-US" altLang="ko-KR" sz="1600" dirty="0"/>
              <a:t>Creates a </a:t>
            </a:r>
            <a:r>
              <a:rPr lang="en-US" altLang="ko-KR" sz="1400" b="1" dirty="0" err="1">
                <a:latin typeface="Courier New" panose="02070309020205020404" pitchFamily="49" charset="0"/>
              </a:rPr>
              <a:t>HillClimbing</a:t>
            </a:r>
            <a:r>
              <a:rPr lang="en-US" altLang="ko-KR" sz="1600" dirty="0"/>
              <a:t> object </a:t>
            </a:r>
            <a:r>
              <a:rPr lang="en-US" altLang="ko-KR" sz="1400" b="1" dirty="0" err="1">
                <a:latin typeface="Courier New" panose="02070309020205020404" pitchFamily="49" charset="0"/>
              </a:rPr>
              <a:t>alg</a:t>
            </a:r>
            <a:r>
              <a:rPr lang="en-US" altLang="ko-KR" sz="1600" dirty="0"/>
              <a:t> (search algorithm) </a:t>
            </a:r>
            <a:r>
              <a:rPr lang="en-US" altLang="ko-KR" sz="1600" u="sng" dirty="0"/>
              <a:t>by querying to the user </a:t>
            </a:r>
            <a:r>
              <a:rPr lang="en-US" altLang="ko-KR" sz="1600" dirty="0"/>
              <a:t>(</a:t>
            </a:r>
            <a:r>
              <a:rPr lang="en-US" altLang="ko-KR" sz="1400" b="1" dirty="0" err="1">
                <a:latin typeface="Courier New" panose="02070309020205020404" pitchFamily="49" charset="0"/>
              </a:rPr>
              <a:t>selectAlgorithm</a:t>
            </a:r>
            <a:r>
              <a:rPr lang="en-US" altLang="ko-KR" sz="1600" dirty="0"/>
              <a:t>)</a:t>
            </a:r>
          </a:p>
          <a:p>
            <a:pPr marL="609600" lvl="1" indent="-287338" eaLnBrk="1" hangingPunct="1"/>
            <a:r>
              <a:rPr lang="en-US" altLang="ko-KR" sz="1600" dirty="0"/>
              <a:t>Runs the search algorithm by calling the </a:t>
            </a:r>
            <a:r>
              <a:rPr lang="en-US" altLang="ko-KR" sz="1400" b="1" dirty="0">
                <a:latin typeface="Courier New" panose="02070309020205020404" pitchFamily="49" charset="0"/>
              </a:rPr>
              <a:t>run</a:t>
            </a:r>
            <a:r>
              <a:rPr lang="en-US" altLang="ko-KR" sz="1600" dirty="0"/>
              <a:t> method of the </a:t>
            </a:r>
            <a:r>
              <a:rPr lang="en-US" altLang="ko-KR" sz="1400" b="1" dirty="0" err="1">
                <a:latin typeface="Courier New" panose="02070309020205020404" pitchFamily="49" charset="0"/>
              </a:rPr>
              <a:t>HillClimbing</a:t>
            </a:r>
            <a:r>
              <a:rPr lang="en-US" altLang="ko-KR" sz="1600" dirty="0"/>
              <a:t> class (</a:t>
            </a:r>
            <a:r>
              <a:rPr lang="en-US" altLang="ko-KR" sz="1400" b="1" dirty="0" err="1">
                <a:latin typeface="Courier New" panose="02070309020205020404" pitchFamily="49" charset="0"/>
              </a:rPr>
              <a:t>alg.run</a:t>
            </a:r>
            <a:r>
              <a:rPr lang="en-US" altLang="ko-KR" sz="1600" dirty="0"/>
              <a:t>)</a:t>
            </a:r>
          </a:p>
          <a:p>
            <a:pPr marL="609600" lvl="1" indent="-287338" eaLnBrk="1" hangingPunct="1"/>
            <a:r>
              <a:rPr lang="en-US" altLang="ko-KR" sz="1600" dirty="0"/>
              <a:t>Shows the specifics of the problem just solved (</a:t>
            </a:r>
            <a:r>
              <a:rPr lang="en-US" altLang="ko-KR" sz="1400" b="1" dirty="0" err="1">
                <a:latin typeface="Courier New" panose="02070309020205020404" pitchFamily="49" charset="0"/>
              </a:rPr>
              <a:t>p.describe</a:t>
            </a:r>
            <a:r>
              <a:rPr lang="en-US" altLang="ko-KR" sz="1600" dirty="0"/>
              <a:t>)</a:t>
            </a:r>
          </a:p>
          <a:p>
            <a:pPr marL="609600" lvl="1" indent="-287338" eaLnBrk="1" hangingPunct="1"/>
            <a:r>
              <a:rPr lang="en-US" altLang="ko-KR" sz="1600" dirty="0"/>
              <a:t>Shows the settings of the search algorithm (</a:t>
            </a:r>
            <a:r>
              <a:rPr lang="en-US" altLang="ko-KR" sz="1400" b="1" dirty="0" err="1">
                <a:latin typeface="Courier New" panose="02070309020205020404" pitchFamily="49" charset="0"/>
              </a:rPr>
              <a:t>alg.displaySettings</a:t>
            </a:r>
            <a:r>
              <a:rPr lang="en-US" altLang="ko-KR" sz="1600" dirty="0"/>
              <a:t>)</a:t>
            </a:r>
          </a:p>
          <a:p>
            <a:pPr marL="609600" lvl="1" indent="-287338" eaLnBrk="1" hangingPunct="1"/>
            <a:r>
              <a:rPr lang="en-US" altLang="ko-KR" sz="1600" dirty="0"/>
              <a:t>Displays the result of search (</a:t>
            </a:r>
            <a:r>
              <a:rPr lang="en-US" altLang="ko-KR" sz="1400" b="1" dirty="0" err="1">
                <a:latin typeface="Courier New" panose="02070309020205020404" pitchFamily="49" charset="0"/>
              </a:rPr>
              <a:t>p.report</a:t>
            </a:r>
            <a:r>
              <a:rPr lang="en-US" altLang="ko-KR" sz="1600" dirty="0"/>
              <a:t>)</a:t>
            </a: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7FDBB378-2D8F-D1E7-9A82-1C6F12CD66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dirty="0">
                <a:solidFill>
                  <a:srgbClr val="D7ADD9"/>
                </a:solidFill>
              </a:rPr>
              <a:t>The Main Program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69BB5340-115B-967C-4348-585FA47831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D)</a:t>
            </a:r>
            <a:endParaRPr lang="ko-KR" altLang="ko-KR"/>
          </a:p>
        </p:txBody>
      </p:sp>
      <p:sp>
        <p:nvSpPr>
          <p:cNvPr id="23557" name="슬라이드 번호 개체 틀 8">
            <a:extLst>
              <a:ext uri="{FF2B5EF4-FFF2-40B4-BE49-F238E27FC236}">
                <a16:creationId xmlns:a16="http://schemas.microsoft.com/office/drawing/2014/main" id="{1CD521E9-CF08-5FA1-8235-6B321F4E50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EC4E422-A1BF-4FF4-AA35-9570D93E89AB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15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:a16="http://schemas.microsoft.com/office/drawing/2014/main" id="{ECDAC060-E264-EEE9-3AA1-62CD91A797C2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2.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selectProblem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sz="1800" dirty="0">
                <a:cs typeface="Courier New" panose="02070309020205020404" pitchFamily="49" charset="0"/>
              </a:rPr>
              <a:t>:</a:t>
            </a:r>
          </a:p>
          <a:p>
            <a:pPr marL="611188" lvl="1" indent="-287338" eaLnBrk="1" hangingPunct="1"/>
            <a:r>
              <a:rPr lang="en-US" altLang="ko-KR" sz="1400" dirty="0">
                <a:cs typeface="Courier New" panose="02070309020205020404" pitchFamily="49" charset="0"/>
              </a:rPr>
              <a:t>Asks the user to choose </a:t>
            </a:r>
            <a:r>
              <a:rPr lang="en-US" altLang="ko-KR" sz="1400" dirty="0">
                <a:solidFill>
                  <a:srgbClr val="0033CC"/>
                </a:solidFill>
                <a:cs typeface="Courier New" panose="02070309020205020404" pitchFamily="49" charset="0"/>
              </a:rPr>
              <a:t>the type of problem to be solved</a:t>
            </a:r>
          </a:p>
          <a:p>
            <a:pPr marL="611188" lvl="1" indent="-287338" eaLnBrk="1" hangingPunct="1"/>
            <a:r>
              <a:rPr lang="en-US" altLang="ko-KR" sz="1400" dirty="0">
                <a:cs typeface="Courier New" panose="02070309020205020404" pitchFamily="49" charset="0"/>
              </a:rPr>
              <a:t>Creates a 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Problem</a:t>
            </a:r>
            <a:r>
              <a:rPr lang="en-US" altLang="ko-KR" sz="1400" dirty="0">
                <a:cs typeface="Courier New" panose="02070309020205020404" pitchFamily="49" charset="0"/>
              </a:rPr>
              <a:t> object 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altLang="ko-KR" sz="1400" dirty="0">
                <a:cs typeface="Courier New" panose="02070309020205020404" pitchFamily="49" charset="0"/>
              </a:rPr>
              <a:t> of the right type</a:t>
            </a:r>
          </a:p>
          <a:p>
            <a:pPr marL="611188" lvl="1" indent="-287338" eaLnBrk="1" hangingPunct="1"/>
            <a:r>
              <a:rPr lang="en-US" altLang="ko-KR" sz="1400" dirty="0">
                <a:cs typeface="Courier New" panose="02070309020205020404" pitchFamily="49" charset="0"/>
              </a:rPr>
              <a:t>Sets the variables of the corresponding subclasses of 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Problem</a:t>
            </a:r>
            <a:endParaRPr lang="en-US" altLang="ko-KR" sz="1400" dirty="0">
              <a:cs typeface="Courier New" panose="02070309020205020404" pitchFamily="49" charset="0"/>
            </a:endParaRPr>
          </a:p>
          <a:p>
            <a:pPr marL="611188" lvl="1" indent="-287338" eaLnBrk="1" hangingPunct="1"/>
            <a:r>
              <a:rPr lang="en-US" altLang="ko-KR" sz="1400" dirty="0">
                <a:cs typeface="Courier New" panose="02070309020205020404" pitchFamily="49" charset="0"/>
              </a:rPr>
              <a:t>Returns 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altLang="ko-KR" sz="1400" dirty="0">
                <a:cs typeface="Courier New" panose="02070309020205020404" pitchFamily="49" charset="0"/>
              </a:rPr>
              <a:t> and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pType</a:t>
            </a:r>
            <a:r>
              <a:rPr lang="en-US" altLang="ko-KR" sz="1400" dirty="0">
                <a:cs typeface="Courier New" panose="02070309020205020404" pitchFamily="49" charset="0"/>
              </a:rPr>
              <a:t> (an integer indicating the problem type)</a:t>
            </a:r>
          </a:p>
          <a:p>
            <a:pPr marL="611188" lvl="1" indent="-287338" eaLnBrk="1" hangingPunct="1"/>
            <a:endParaRPr lang="en-US" altLang="ko-KR" sz="1400" dirty="0">
              <a:cs typeface="Courier New" panose="02070309020205020404" pitchFamily="49" charset="0"/>
            </a:endParaRPr>
          </a:p>
          <a:p>
            <a:pPr marL="287338" indent="-287338" eaLnBrk="1" hangingPunct="1"/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3.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selectAlgorithm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pType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ko-KR" sz="1800" dirty="0">
                <a:cs typeface="Courier New" panose="02070309020205020404" pitchFamily="49" charset="0"/>
              </a:rPr>
              <a:t>:</a:t>
            </a:r>
          </a:p>
          <a:p>
            <a:pPr marL="611188" lvl="1" indent="-287338" eaLnBrk="1" hangingPunct="1"/>
            <a:r>
              <a:rPr lang="en-US" altLang="ko-KR" sz="1400" dirty="0">
                <a:cs typeface="Courier New" panose="02070309020205020404" pitchFamily="49" charset="0"/>
              </a:rPr>
              <a:t>Asks the user to </a:t>
            </a:r>
            <a:r>
              <a:rPr lang="en-US" altLang="ko-KR" sz="1400" dirty="0">
                <a:solidFill>
                  <a:srgbClr val="0033CC"/>
                </a:solidFill>
                <a:cs typeface="Courier New" panose="02070309020205020404" pitchFamily="49" charset="0"/>
              </a:rPr>
              <a:t>select a search algorithm</a:t>
            </a:r>
          </a:p>
          <a:p>
            <a:pPr marL="611188" lvl="1" indent="-287338" eaLnBrk="1" hangingPunct="1"/>
            <a:r>
              <a:rPr lang="en-US" altLang="ko-KR" sz="1400" dirty="0">
                <a:cs typeface="Courier New" panose="02070309020205020404" pitchFamily="49" charset="0"/>
              </a:rPr>
              <a:t>Asks the user to select again </a:t>
            </a:r>
            <a:r>
              <a:rPr lang="en-US" altLang="ko-KR" sz="1400" u="sng" dirty="0">
                <a:cs typeface="Courier New" panose="02070309020205020404" pitchFamily="49" charset="0"/>
              </a:rPr>
              <a:t>if gradient descent is chosen for a TSP (</a:t>
            </a:r>
            <a:r>
              <a:rPr lang="en-US" altLang="ko-KR" sz="14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invalid</a:t>
            </a:r>
            <a:r>
              <a:rPr lang="en-US" altLang="ko-KR" sz="1400" u="sng" dirty="0">
                <a:cs typeface="Courier New" panose="02070309020205020404" pitchFamily="49" charset="0"/>
              </a:rPr>
              <a:t>)</a:t>
            </a:r>
          </a:p>
          <a:p>
            <a:pPr marL="611188" lvl="1" indent="-287338" eaLnBrk="1" hangingPunct="1"/>
            <a:r>
              <a:rPr lang="en-US" altLang="ko-KR" sz="1400" dirty="0">
                <a:cs typeface="Courier New" panose="02070309020205020404" pitchFamily="49" charset="0"/>
              </a:rPr>
              <a:t>Prepares a </a:t>
            </a:r>
            <a:r>
              <a:rPr lang="en-US" altLang="ko-KR" sz="1400" dirty="0">
                <a:solidFill>
                  <a:srgbClr val="0033CC"/>
                </a:solidFill>
                <a:cs typeface="Courier New" panose="02070309020205020404" pitchFamily="49" charset="0"/>
              </a:rPr>
              <a:t>dictionary</a:t>
            </a:r>
            <a:r>
              <a:rPr lang="en-US" altLang="ko-KR" sz="1400" dirty="0">
                <a:cs typeface="Courier New" panose="02070309020205020404" pitchFamily="49" charset="0"/>
              </a:rPr>
              <a:t> whose </a:t>
            </a:r>
            <a:r>
              <a:rPr lang="en-US" altLang="ko-KR" sz="1400" u="sng" dirty="0">
                <a:cs typeface="Courier New" panose="02070309020205020404" pitchFamily="49" charset="0"/>
              </a:rPr>
              <a:t>keys</a:t>
            </a:r>
            <a:r>
              <a:rPr lang="en-US" altLang="ko-KR" sz="1400" dirty="0">
                <a:cs typeface="Courier New" panose="02070309020205020404" pitchFamily="49" charset="0"/>
              </a:rPr>
              <a:t> are integers corresponding to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aType</a:t>
            </a:r>
            <a:r>
              <a:rPr lang="en-US" altLang="ko-KR" sz="1400" dirty="0">
                <a:cs typeface="Courier New" panose="02070309020205020404" pitchFamily="49" charset="0"/>
              </a:rPr>
              <a:t>, and </a:t>
            </a:r>
            <a:r>
              <a:rPr lang="en-US" altLang="ko-KR" sz="1400" u="sng" dirty="0">
                <a:cs typeface="Courier New" panose="02070309020205020404" pitchFamily="49" charset="0"/>
              </a:rPr>
              <a:t>values </a:t>
            </a:r>
            <a:r>
              <a:rPr lang="en-US" altLang="ko-KR" sz="1400" dirty="0">
                <a:cs typeface="Courier New" panose="02070309020205020404" pitchFamily="49" charset="0"/>
              </a:rPr>
              <a:t>are the names of the subclasses of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HillClimbing</a:t>
            </a:r>
            <a:r>
              <a:rPr lang="en-US" altLang="ko-KR" sz="1400" dirty="0"/>
              <a:t> (i.e., search algorithms)</a:t>
            </a:r>
          </a:p>
          <a:p>
            <a:pPr marL="611338" lvl="1" indent="-287338" eaLnBrk="1" hangingPunct="1">
              <a:defRPr/>
            </a:pPr>
            <a:r>
              <a:rPr lang="en-US" altLang="ko-KR" sz="1400" dirty="0">
                <a:cs typeface="Courier New" panose="02070309020205020404" pitchFamily="49" charset="0"/>
              </a:rPr>
              <a:t>Creates an object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alg</a:t>
            </a:r>
            <a:r>
              <a:rPr lang="en-US" altLang="ko-KR" sz="1400" dirty="0">
                <a:cs typeface="Courier New" panose="02070309020205020404" pitchFamily="49" charset="0"/>
              </a:rPr>
              <a:t> of the targeted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HillClimbing</a:t>
            </a:r>
            <a:r>
              <a:rPr lang="en-US" altLang="ko-KR" sz="1400" dirty="0">
                <a:cs typeface="Courier New" panose="02070309020205020404" pitchFamily="49" charset="0"/>
              </a:rPr>
              <a:t> subclass using the dictionary (</a:t>
            </a:r>
            <a:r>
              <a:rPr lang="en-US" altLang="ko-KR" sz="14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alg</a:t>
            </a:r>
            <a:r>
              <a:rPr lang="en-US" altLang="ko-KR" sz="14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eval(optimizers[</a:t>
            </a:r>
            <a:r>
              <a:rPr lang="en-US" altLang="ko-KR" sz="14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aType</a:t>
            </a:r>
            <a:r>
              <a:rPr lang="en-US" altLang="ko-KR" sz="14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  <a:r>
              <a:rPr lang="en-US" altLang="ko-KR" sz="1400" dirty="0">
                <a:cs typeface="Courier New" panose="02070309020205020404" pitchFamily="49" charset="0"/>
              </a:rPr>
              <a:t>)</a:t>
            </a:r>
          </a:p>
          <a:p>
            <a:pPr marL="611338" lvl="1" indent="-287338" eaLnBrk="1" hangingPunct="1">
              <a:defRPr/>
            </a:pPr>
            <a:r>
              <a:rPr lang="en-US" altLang="ko-KR" sz="1400" dirty="0">
                <a:cs typeface="Courier New" panose="02070309020205020404" pitchFamily="49" charset="0"/>
              </a:rPr>
              <a:t>Sets the variables of the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HillClimbing</a:t>
            </a:r>
            <a:r>
              <a:rPr lang="en-US" altLang="ko-KR" sz="1400" dirty="0">
                <a:cs typeface="Courier New" panose="02070309020205020404" pitchFamily="49" charset="0"/>
              </a:rPr>
              <a:t> class </a:t>
            </a:r>
          </a:p>
          <a:p>
            <a:pPr marL="611338" lvl="1" indent="-287338" eaLnBrk="1" hangingPunct="1">
              <a:defRPr/>
            </a:pPr>
            <a:r>
              <a:rPr lang="en-US" altLang="ko-KR" sz="1400" dirty="0">
                <a:cs typeface="Courier New" panose="02070309020205020404" pitchFamily="49" charset="0"/>
              </a:rPr>
              <a:t>Returns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alg</a:t>
            </a:r>
            <a:endParaRPr lang="en-US" altLang="ko-KR" sz="1400" dirty="0">
              <a:cs typeface="Courier New" panose="02070309020205020404" pitchFamily="49" charset="0"/>
            </a:endParaRPr>
          </a:p>
          <a:p>
            <a:pPr marL="611188" lvl="1" indent="-287338" eaLnBrk="1" hangingPunct="1"/>
            <a:endParaRPr lang="en-US" altLang="ko-KR" sz="1600" dirty="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4D8BAA02-56B2-8C8D-9720-C7BA6CE326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D7ADD9"/>
                </a:solidFill>
              </a:rPr>
              <a:t>The Main Program</a:t>
            </a:r>
            <a:endParaRPr lang="en-US" altLang="ko-KR" sz="240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A0E958A6-6171-B359-3626-EB72742B51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D)</a:t>
            </a:r>
            <a:endParaRPr lang="ko-KR" altLang="ko-KR"/>
          </a:p>
        </p:txBody>
      </p:sp>
      <p:sp>
        <p:nvSpPr>
          <p:cNvPr id="25605" name="슬라이드 번호 개체 틀 8">
            <a:extLst>
              <a:ext uri="{FF2B5EF4-FFF2-40B4-BE49-F238E27FC236}">
                <a16:creationId xmlns:a16="http://schemas.microsoft.com/office/drawing/2014/main" id="{C96D8435-C5E7-911E-826A-29796FE30F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8E595E4D-B374-4427-8A7A-A0E98890FA99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16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3">
            <a:extLst>
              <a:ext uri="{FF2B5EF4-FFF2-40B4-BE49-F238E27FC236}">
                <a16:creationId xmlns:a16="http://schemas.microsoft.com/office/drawing/2014/main" id="{4BE1D11C-ACCF-D8D9-DBE6-3640A96219CC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>
              <a:defRPr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4. invalid(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pType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aType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ko-KR" sz="1800" dirty="0">
                <a:cs typeface="Courier New" panose="02070309020205020404" pitchFamily="49" charset="0"/>
              </a:rPr>
              <a:t>:</a:t>
            </a:r>
          </a:p>
          <a:p>
            <a:pPr marL="611188" lvl="1" indent="-287338" eaLnBrk="1" hangingPunct="1">
              <a:defRPr/>
            </a:pPr>
            <a:r>
              <a:rPr lang="en-US" altLang="ko-KR" sz="1600" dirty="0">
                <a:cs typeface="Courier New" panose="02070309020205020404" pitchFamily="49" charset="0"/>
              </a:rPr>
              <a:t>If gradient descent is chosen for a TSP</a:t>
            </a:r>
            <a:r>
              <a:rPr lang="en-US" altLang="ko-KR" sz="1200" dirty="0">
                <a:cs typeface="Courier New" panose="02070309020205020404" pitchFamily="49" charset="0"/>
              </a:rPr>
              <a:t> (= </a:t>
            </a:r>
            <a:r>
              <a:rPr lang="ko-KR" altLang="en-US" sz="1200" dirty="0">
                <a:cs typeface="Courier New" panose="02070309020205020404" pitchFamily="49" charset="0"/>
              </a:rPr>
              <a:t>잘못된 선택</a:t>
            </a:r>
            <a:r>
              <a:rPr lang="en-US" altLang="ko-KR" sz="1200" dirty="0">
                <a:cs typeface="Courier New" panose="02070309020205020404" pitchFamily="49" charset="0"/>
              </a:rPr>
              <a:t>)</a:t>
            </a:r>
            <a:r>
              <a:rPr lang="en-US" altLang="ko-KR" sz="1600" dirty="0">
                <a:cs typeface="Courier New" panose="02070309020205020404" pitchFamily="49" charset="0"/>
              </a:rPr>
              <a:t>, informs the fact to the user and returns 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11188" lvl="1" indent="-287338" eaLnBrk="1" hangingPunct="1">
              <a:defRPr/>
            </a:pPr>
            <a:r>
              <a:rPr lang="en-US" altLang="ko-KR" sz="1600" dirty="0">
                <a:cs typeface="Courier New" panose="02070309020205020404" pitchFamily="49" charset="0"/>
              </a:rPr>
              <a:t>Otherwise, returns 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 marL="611188" lvl="1" indent="-287338" eaLnBrk="1" hangingPunct="1">
              <a:defRPr/>
            </a:pP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B1E5405C-950B-0A69-2294-7735DCB702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D7ADD9"/>
                </a:solidFill>
              </a:rPr>
              <a:t>The Main Program</a:t>
            </a:r>
            <a:endParaRPr lang="en-US" altLang="ko-KR" sz="240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8EEEDF56-8326-EEA2-46F1-6C601F8EA6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D)</a:t>
            </a:r>
            <a:endParaRPr lang="ko-KR" altLang="ko-KR"/>
          </a:p>
        </p:txBody>
      </p:sp>
      <p:sp>
        <p:nvSpPr>
          <p:cNvPr id="27653" name="슬라이드 번호 개체 틀 8">
            <a:extLst>
              <a:ext uri="{FF2B5EF4-FFF2-40B4-BE49-F238E27FC236}">
                <a16:creationId xmlns:a16="http://schemas.microsoft.com/office/drawing/2014/main" id="{60F211D7-F1FF-B292-BBA7-7F8A8AADE5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5D099E3-BE3D-487A-917F-6CD1D1DD31FB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17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말풍선: 사각형 5">
            <a:extLst>
              <a:ext uri="{FF2B5EF4-FFF2-40B4-BE49-F238E27FC236}">
                <a16:creationId xmlns:a16="http://schemas.microsoft.com/office/drawing/2014/main" id="{8CB203F3-F0CD-4421-8D0C-16CDAFDC5BC3}"/>
              </a:ext>
            </a:extLst>
          </p:cNvPr>
          <p:cNvSpPr/>
          <p:nvPr/>
        </p:nvSpPr>
        <p:spPr>
          <a:xfrm>
            <a:off x="457201" y="2457325"/>
            <a:ext cx="8229600" cy="504056"/>
          </a:xfrm>
          <a:prstGeom prst="wedgeRectCallout">
            <a:avLst>
              <a:gd name="adj1" fmla="val -23099"/>
              <a:gd name="adj2" fmla="val -2806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Helvetica" pitchFamily="2" charset="0"/>
              </a:rPr>
              <a:t>The </a:t>
            </a:r>
            <a:r>
              <a:rPr lang="en-US" sz="1200" b="1" dirty="0">
                <a:latin typeface="Helvetica" pitchFamily="2" charset="0"/>
              </a:rPr>
              <a:t>Gradient Descent</a:t>
            </a:r>
            <a:r>
              <a:rPr lang="en-US" sz="1200" dirty="0">
                <a:latin typeface="Helvetica" pitchFamily="2" charset="0"/>
              </a:rPr>
              <a:t> algorithm can only solve problems of the </a:t>
            </a:r>
            <a:r>
              <a:rPr lang="en-US" sz="1200" u="sng" dirty="0">
                <a:latin typeface="Helvetica" pitchFamily="2" charset="0"/>
              </a:rPr>
              <a:t>Continuous Space</a:t>
            </a:r>
            <a:r>
              <a:rPr lang="en-US" sz="1200" dirty="0">
                <a:latin typeface="Helvetica" pitchFamily="2" charset="0"/>
              </a:rPr>
              <a:t> type and </a:t>
            </a:r>
            <a:r>
              <a:rPr lang="en-US" sz="1200" b="1" dirty="0">
                <a:latin typeface="Helvetica" pitchFamily="2" charset="0"/>
              </a:rPr>
              <a:t>cannot be used</a:t>
            </a:r>
            <a:r>
              <a:rPr lang="en-US" sz="1200" dirty="0">
                <a:latin typeface="Helvetica" pitchFamily="2" charset="0"/>
              </a:rPr>
              <a:t> for Discrete type </a:t>
            </a:r>
            <a:r>
              <a:rPr lang="en-US" sz="1200" dirty="0">
                <a:latin typeface="Consolas" panose="020B0609020204030204" pitchFamily="49" charset="0"/>
              </a:rPr>
              <a:t>TSP</a:t>
            </a:r>
            <a:r>
              <a:rPr lang="en-US" sz="1200" dirty="0">
                <a:latin typeface="Helvetica" pitchFamily="2" charset="0"/>
              </a:rPr>
              <a:t> problems.</a:t>
            </a:r>
            <a:endParaRPr lang="ko-KR" altLang="en-US" sz="1200" dirty="0">
              <a:latin typeface="Helvetica" pitchFamily="2" charset="0"/>
              <a:ea typeface="나눔스퀘어_ac" panose="020B0600000101010101" pitchFamily="50" charset="-127"/>
            </a:endParaRPr>
          </a:p>
        </p:txBody>
      </p:sp>
      <p:pic>
        <p:nvPicPr>
          <p:cNvPr id="1028" name="Picture 4" descr="http://www.cse.chalmers.se/edu/year/2011/course/TDA206_Discrete_Optimization/index_files/linear_programming-2.gif">
            <a:extLst>
              <a:ext uri="{FF2B5EF4-FFF2-40B4-BE49-F238E27FC236}">
                <a16:creationId xmlns:a16="http://schemas.microsoft.com/office/drawing/2014/main" id="{AD10AF6C-54A8-4EEE-BC89-940CF0B6D8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6"/>
          <a:stretch/>
        </p:blipFill>
        <p:spPr bwMode="auto">
          <a:xfrm>
            <a:off x="823283" y="3207148"/>
            <a:ext cx="2961293" cy="3029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375B0414-13B5-4E59-A5D8-748186ADF61A}"/>
              </a:ext>
            </a:extLst>
          </p:cNvPr>
          <p:cNvSpPr/>
          <p:nvPr/>
        </p:nvSpPr>
        <p:spPr>
          <a:xfrm>
            <a:off x="17930" y="6625578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dirty="0"/>
              <a:t>http://www.cse.chalmers.se/edu/year/2011/course/TDA206_Discrete_Optimization/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말풍선: 사각형 9">
                <a:extLst>
                  <a:ext uri="{FF2B5EF4-FFF2-40B4-BE49-F238E27FC236}">
                    <a16:creationId xmlns:a16="http://schemas.microsoft.com/office/drawing/2014/main" id="{FDA9D065-E31F-456E-B1A3-D0089EFB273A}"/>
                  </a:ext>
                </a:extLst>
              </p:cNvPr>
              <p:cNvSpPr/>
              <p:nvPr/>
            </p:nvSpPr>
            <p:spPr>
              <a:xfrm>
                <a:off x="3995936" y="3068960"/>
                <a:ext cx="4690864" cy="3025329"/>
              </a:xfrm>
              <a:prstGeom prst="wedgeRectCallout">
                <a:avLst>
                  <a:gd name="adj1" fmla="val -23099"/>
                  <a:gd name="adj2" fmla="val -28067"/>
                </a:avLst>
              </a:prstGeom>
              <a:ln w="12700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 dirty="0">
                    <a:latin typeface="Arial" panose="020B0604020202020204" pitchFamily="34" charset="0"/>
                    <a:ea typeface="나눔스퀘어_ac" panose="020B0600000101010101" pitchFamily="50" charset="-127"/>
                    <a:cs typeface="Arial" panose="020B0604020202020204" pitchFamily="34" charset="0"/>
                  </a:rPr>
                  <a:t>Continuous Space problem</a:t>
                </a:r>
              </a:p>
              <a:p>
                <a:pPr marL="628650" lvl="1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Every solution within a certain range can be a solution.</a:t>
                </a:r>
                <a:endParaRPr lang="en-US" altLang="ko-KR" sz="1100" dirty="0">
                  <a:latin typeface="Arial" panose="020B0604020202020204" pitchFamily="34" charset="0"/>
                  <a:ea typeface="나눔스퀘어_ac" panose="020B0600000101010101" pitchFamily="50" charset="-127"/>
                  <a:cs typeface="Arial" panose="020B0604020202020204" pitchFamily="34" charset="0"/>
                </a:endParaRPr>
              </a:p>
              <a:p>
                <a:pPr marL="628650" lvl="1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Ex: In a problem that minimizes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1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1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1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, the following ranges of values are valid and can be used as solutions: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−1 ≤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≤1, −3 ≤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≤7</m:t>
                    </m:r>
                  </m:oMath>
                </a14:m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altLang="ko-KR" sz="1100" dirty="0">
                  <a:latin typeface="Arial" panose="020B0604020202020204" pitchFamily="34" charset="0"/>
                  <a:ea typeface="나눔스퀘어_ac" panose="020B0600000101010101" pitchFamily="50" charset="-127"/>
                  <a:cs typeface="Arial" panose="020B0604020202020204" pitchFamily="34" charset="0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 dirty="0">
                    <a:latin typeface="Arial" panose="020B0604020202020204" pitchFamily="34" charset="0"/>
                    <a:ea typeface="나눔스퀘어_ac" panose="020B0600000101010101" pitchFamily="50" charset="-127"/>
                    <a:cs typeface="Arial" panose="020B0604020202020204" pitchFamily="34" charset="0"/>
                  </a:rPr>
                  <a:t>Discrete Optimization problem</a:t>
                </a:r>
              </a:p>
              <a:p>
                <a:pPr marL="628650" lvl="1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Only specific, distinct values can be solutions.</a:t>
                </a:r>
                <a:endParaRPr lang="en-US" altLang="ko-KR" sz="1100" dirty="0">
                  <a:latin typeface="Arial" panose="020B0604020202020204" pitchFamily="34" charset="0"/>
                  <a:ea typeface="나눔스퀘어_ac" panose="020B0600000101010101" pitchFamily="50" charset="-127"/>
                  <a:cs typeface="Arial" panose="020B0604020202020204" pitchFamily="34" charset="0"/>
                </a:endParaRPr>
              </a:p>
              <a:p>
                <a:pPr marL="628650" lvl="1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 dirty="0">
                    <a:latin typeface="Arial" panose="020B0604020202020204" pitchFamily="34" charset="0"/>
                    <a:ea typeface="나눔스퀘어_ac" panose="020B0600000101010101" pitchFamily="50" charset="-127"/>
                    <a:cs typeface="Arial" panose="020B0604020202020204" pitchFamily="34" charset="0"/>
                  </a:rPr>
                  <a:t>Ex: </a:t>
                </a:r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Which order should we visit Seoul and Busan?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(Seoul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Busan),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(Busan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Seoul)</a:t>
                </a:r>
                <a:endParaRPr lang="en-US" altLang="ko-KR" sz="1100" dirty="0">
                  <a:latin typeface="Arial" panose="020B0604020202020204" pitchFamily="34" charset="0"/>
                  <a:ea typeface="나눔스퀘어_ac" panose="020B0600000101010101" pitchFamily="50" charset="-127"/>
                  <a:cs typeface="Arial" panose="020B0604020202020204" pitchFamily="34" charset="0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When the </a:t>
                </a:r>
                <a:r>
                  <a:rPr lang="en-US" sz="1100" dirty="0">
                    <a:latin typeface="Consolas" panose="020B0609020204030204" pitchFamily="49" charset="0"/>
                    <a:cs typeface="Arial" panose="020B0604020202020204" pitchFamily="34" charset="0"/>
                  </a:rPr>
                  <a:t>Gradient</a:t>
                </a:r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or its opposite direction is used to find the next solution (</a:t>
                </a:r>
                <a:r>
                  <a:rPr lang="en-US" sz="1100" dirty="0">
                    <a:latin typeface="Consolas" panose="020B0609020204030204" pitchFamily="49" charset="0"/>
                    <a:cs typeface="Arial" panose="020B0604020202020204" pitchFamily="34" charset="0"/>
                  </a:rPr>
                  <a:t>next solution</a:t>
                </a:r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) based on the current solution (</a:t>
                </a:r>
                <a:r>
                  <a:rPr lang="en-US" sz="1100" dirty="0">
                    <a:latin typeface="Consolas" panose="020B0609020204030204" pitchFamily="49" charset="0"/>
                    <a:cs typeface="Arial" panose="020B0604020202020204" pitchFamily="34" charset="0"/>
                  </a:rPr>
                  <a:t>current solution</a:t>
                </a:r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), finding a valid solution in this manner for a </a:t>
                </a:r>
                <a:r>
                  <a:rPr lang="en-US" sz="11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Discrete</a:t>
                </a:r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case is </a:t>
                </a:r>
                <a:r>
                  <a:rPr lang="en-US" sz="11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(probabilistically) impossible</a:t>
                </a:r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ko-KR" altLang="en-US" sz="1100" dirty="0">
                  <a:latin typeface="Arial" panose="020B0604020202020204" pitchFamily="34" charset="0"/>
                  <a:ea typeface="나눔스퀘어_ac" panose="020B0600000101010101" pitchFamily="50" charset="-127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" name="말풍선: 사각형 9">
                <a:extLst>
                  <a:ext uri="{FF2B5EF4-FFF2-40B4-BE49-F238E27FC236}">
                    <a16:creationId xmlns:a16="http://schemas.microsoft.com/office/drawing/2014/main" id="{FDA9D065-E31F-456E-B1A3-D0089EFB27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3068960"/>
                <a:ext cx="4690864" cy="3025329"/>
              </a:xfrm>
              <a:prstGeom prst="wedgeRectCallout">
                <a:avLst>
                  <a:gd name="adj1" fmla="val -23099"/>
                  <a:gd name="adj2" fmla="val -28067"/>
                </a:avLst>
              </a:prstGeom>
              <a:blipFill>
                <a:blip r:embed="rId4"/>
                <a:stretch>
                  <a:fillRect b="-11022"/>
                </a:stretch>
              </a:blipFill>
              <a:ln w="127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DD0093-E338-EFCD-4329-4FAA30618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of operation</a:t>
            </a:r>
            <a:endParaRPr lang="ko-KR" altLang="en-US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697EDF-9B70-E9E7-A92C-72198C4E7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26187"/>
            <a:ext cx="8229600" cy="5256584"/>
          </a:xfrm>
        </p:spPr>
        <p:txBody>
          <a:bodyPr/>
          <a:lstStyle/>
          <a:p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main.py &gt; main()</a:t>
            </a:r>
          </a:p>
          <a:p>
            <a:pPr lvl="1"/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Call </a:t>
            </a:r>
            <a:r>
              <a:rPr lang="en-US" altLang="ko-KR" sz="14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selectProblem</a:t>
            </a:r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()</a:t>
            </a:r>
          </a:p>
          <a:p>
            <a:pPr lvl="2"/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Receive Problem Type input form the user (1=Numeric, 2=TSP)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=&gt; store as </a:t>
            </a:r>
            <a:r>
              <a:rPr lang="en-US" altLang="ko-KR" sz="14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pType</a:t>
            </a:r>
            <a:endParaRPr lang="en-US" altLang="ko-KR" sz="1400" b="1" dirty="0">
              <a:latin typeface="Courier New" panose="02070309020205020404" pitchFamily="49" charset="0"/>
              <a:ea typeface="나눔스퀘어_ac" panose="020B0600000101010101" pitchFamily="50" charset="-127"/>
              <a:cs typeface="Courier New" panose="02070309020205020404" pitchFamily="49" charset="0"/>
            </a:endParaRPr>
          </a:p>
          <a:p>
            <a:pPr lvl="2"/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Based on </a:t>
            </a:r>
            <a:r>
              <a:rPr lang="en-US" altLang="ko-KR" sz="14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pType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create Numeric or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TSP class instance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=&gt; store in variable </a:t>
            </a:r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p</a:t>
            </a:r>
          </a:p>
          <a:p>
            <a:pPr lvl="2"/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Call </a:t>
            </a:r>
            <a:r>
              <a:rPr lang="en-US" altLang="ko-KR" sz="14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p.setVariables</a:t>
            </a:r>
            <a:endParaRPr lang="en-US" altLang="ko-KR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3"/>
            <a:r>
              <a:rPr lang="en-US" sz="1200" dirty="0"/>
              <a:t>Receive the file name where the problem is stored from the user.</a:t>
            </a:r>
            <a:endParaRPr lang="en-US" altLang="ko-KR" sz="1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3"/>
            <a:r>
              <a:rPr lang="en-US" sz="1200" dirty="0"/>
              <a:t>Read the stored file, extract the </a:t>
            </a:r>
            <a:r>
              <a:rPr lang="en-US" sz="1200" b="1" dirty="0"/>
              <a:t>problem information</a:t>
            </a:r>
            <a:r>
              <a:rPr lang="en-US" sz="1200" dirty="0"/>
              <a:t>, and store it in the class's instance variables.</a:t>
            </a:r>
            <a:endParaRPr lang="en-US" altLang="ko-KR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/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Call </a:t>
            </a:r>
            <a:r>
              <a:rPr lang="en-US" altLang="ko-KR" sz="14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selectAlgorithm</a:t>
            </a:r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(</a:t>
            </a:r>
            <a:r>
              <a:rPr lang="en-US" altLang="ko-KR" sz="14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pType</a:t>
            </a:r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)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endParaRPr lang="en-US" altLang="ko-KR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2"/>
            <a:r>
              <a:rPr lang="en-US" sz="1400" dirty="0"/>
              <a:t>Receive input from the user for which </a:t>
            </a:r>
            <a:r>
              <a:rPr lang="en-US" sz="1400" b="1" dirty="0"/>
              <a:t>algorithm</a:t>
            </a:r>
            <a:r>
              <a:rPr lang="en-US" sz="1400" dirty="0"/>
              <a:t> to use (1: SA, 2: FC, 3: GD)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=&gt; store as </a:t>
            </a:r>
            <a:r>
              <a:rPr lang="en-US" altLang="ko-KR" sz="14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aType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</a:p>
          <a:p>
            <a:pPr lvl="2"/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Call the </a:t>
            </a:r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invalid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function to check (e.g. TSP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cannot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be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solved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by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GD)</a:t>
            </a:r>
          </a:p>
          <a:p>
            <a:pPr lvl="2"/>
            <a:r>
              <a:rPr lang="en-US" sz="1400" dirty="0"/>
              <a:t>Create a class instance corresponding to the solution algorithm entered by the user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=&gt; store in variable </a:t>
            </a:r>
            <a:r>
              <a:rPr lang="en-US" altLang="ko-KR" sz="14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alg</a:t>
            </a:r>
            <a:endParaRPr lang="en-US" altLang="ko-KR" sz="1400" b="1" dirty="0">
              <a:latin typeface="Courier New" panose="02070309020205020404" pitchFamily="49" charset="0"/>
              <a:ea typeface="나눔스퀘어_ac" panose="020B0600000101010101" pitchFamily="50" charset="-127"/>
              <a:cs typeface="Courier New" panose="02070309020205020404" pitchFamily="49" charset="0"/>
            </a:endParaRPr>
          </a:p>
          <a:p>
            <a:pPr lvl="1"/>
            <a:r>
              <a:rPr lang="en-US" altLang="ko-KR" sz="14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alg.run</a:t>
            </a:r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(p)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to </a:t>
            </a:r>
            <a:r>
              <a:rPr lang="en-US" altLang="ko-KR" sz="14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execture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solution algorithm</a:t>
            </a:r>
          </a:p>
          <a:p>
            <a:pPr lvl="2"/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The implementation of </a:t>
            </a:r>
            <a:r>
              <a:rPr lang="en-US" altLang="ko-KR" sz="14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alg.run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is _identical to the content of the solution algorithm code_ previously implemented in the separate files.</a:t>
            </a:r>
          </a:p>
          <a:p>
            <a:pPr lvl="1"/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Output problem information, parameter information, and execution results (solution, etc.) to the screen by sequentially calling the functions: </a:t>
            </a:r>
            <a:r>
              <a:rPr lang="en-US" altLang="ko-KR" sz="14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p.describe</a:t>
            </a:r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(), </a:t>
            </a:r>
            <a:r>
              <a:rPr lang="en-US" altLang="ko-KR" sz="14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alg.displaySettings</a:t>
            </a:r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(), </a:t>
            </a:r>
            <a:r>
              <a:rPr lang="en-US" altLang="ko-KR" sz="14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p.report</a:t>
            </a:r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()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B2D8765-CBE2-F477-4004-03D56DF5A7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D)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9954FF-4D64-6B5A-5930-4BFCDB8C2F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C6D964-9752-4432-9B3C-BD12E3EA2420}" type="slidenum">
              <a:rPr lang="ko-KR" altLang="en-US" smtClean="0"/>
              <a:pPr/>
              <a:t>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88996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66BBBA-F940-90B2-649D-034AF14FB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나눔스퀘어_ac" panose="020B0600000101010101" pitchFamily="50" charset="-127"/>
              </a:rPr>
              <a:t>Source Code (summary)</a:t>
            </a:r>
            <a:endParaRPr lang="ko-KR" altLang="en-US" dirty="0">
              <a:ea typeface="나눔스퀘어_ac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0D7D7D-E6BD-8A7F-227D-F250B8C04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400" dirty="0">
                <a:ea typeface="나눔스퀘어_ac" panose="020B0600000101010101" pitchFamily="50" charset="-127"/>
              </a:rPr>
              <a:t>Source code structure</a:t>
            </a:r>
          </a:p>
          <a:p>
            <a:pPr lvl="1"/>
            <a:r>
              <a:rPr lang="en-US" altLang="ko-KR" sz="1400" dirty="0">
                <a:ea typeface="나눔스퀘어_ac" panose="020B0600000101010101" pitchFamily="50" charset="-127"/>
              </a:rPr>
              <a:t>main.py : </a:t>
            </a:r>
            <a:r>
              <a:rPr lang="en-US" sz="1400" dirty="0"/>
              <a:t>Receives </a:t>
            </a:r>
            <a:r>
              <a:rPr lang="en-US" sz="1400" b="1" dirty="0"/>
              <a:t>user input</a:t>
            </a:r>
            <a:r>
              <a:rPr lang="en-US" sz="1400" dirty="0"/>
              <a:t>, selects the problem type and solution algorithm, and executes the algorithm.</a:t>
            </a:r>
            <a:endParaRPr lang="en-US" altLang="ko-KR" sz="1400" dirty="0">
              <a:ea typeface="나눔스퀘어_ac" panose="020B0600000101010101" pitchFamily="50" charset="-127"/>
            </a:endParaRPr>
          </a:p>
          <a:p>
            <a:pPr lvl="2"/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main, </a:t>
            </a:r>
            <a:r>
              <a:rPr lang="en-US" altLang="ko-KR" sz="14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selectProblem</a:t>
            </a:r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, </a:t>
            </a:r>
            <a:r>
              <a:rPr lang="en-US" altLang="ko-KR" sz="14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selectAlgorithm</a:t>
            </a:r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, invalid</a:t>
            </a:r>
            <a:r>
              <a:rPr lang="en-US" altLang="ko-KR" sz="1400" dirty="0">
                <a:ea typeface="나눔스퀘어_ac" panose="020B0600000101010101" pitchFamily="50" charset="-127"/>
              </a:rPr>
              <a:t> functions.</a:t>
            </a:r>
          </a:p>
          <a:p>
            <a:pPr lvl="2"/>
            <a:endParaRPr lang="en-US" altLang="ko-KR" sz="1400" dirty="0">
              <a:ea typeface="나눔스퀘어_ac" panose="020B0600000101010101" pitchFamily="50" charset="-127"/>
            </a:endParaRPr>
          </a:p>
          <a:p>
            <a:pPr lvl="1"/>
            <a:r>
              <a:rPr lang="en-US" altLang="ko-KR" sz="1400" dirty="0">
                <a:ea typeface="나눔스퀘어_ac" panose="020B0600000101010101" pitchFamily="50" charset="-127"/>
              </a:rPr>
              <a:t>problem.py : Defines code related to Numeric and TSP problems.</a:t>
            </a:r>
          </a:p>
          <a:p>
            <a:pPr lvl="2"/>
            <a:r>
              <a:rPr lang="en-US" altLang="ko-KR" sz="1400" dirty="0">
                <a:ea typeface="나눔스퀘어_ac" panose="020B0600000101010101" pitchFamily="50" charset="-127"/>
              </a:rPr>
              <a:t>Implementation: </a:t>
            </a:r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Problem</a:t>
            </a:r>
            <a:r>
              <a:rPr lang="en-US" altLang="ko-KR" sz="1400" dirty="0">
                <a:ea typeface="나눔스퀘어_ac" panose="020B0600000101010101" pitchFamily="50" charset="-127"/>
              </a:rPr>
              <a:t> class, </a:t>
            </a:r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Numeric</a:t>
            </a:r>
            <a:r>
              <a:rPr lang="en-US" altLang="ko-KR" sz="1400" dirty="0">
                <a:ea typeface="나눔스퀘어_ac" panose="020B0600000101010101" pitchFamily="50" charset="-127"/>
              </a:rPr>
              <a:t> class, </a:t>
            </a:r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TSP</a:t>
            </a:r>
            <a:r>
              <a:rPr lang="en-US" altLang="ko-KR" sz="1400" dirty="0">
                <a:ea typeface="나눔스퀘어_ac" panose="020B0600000101010101" pitchFamily="50" charset="-127"/>
              </a:rPr>
              <a:t> class.</a:t>
            </a:r>
          </a:p>
          <a:p>
            <a:pPr lvl="2"/>
            <a:endParaRPr lang="en-US" altLang="ko-KR" sz="1400" dirty="0">
              <a:ea typeface="나눔스퀘어_ac" panose="020B0600000101010101" pitchFamily="50" charset="-127"/>
            </a:endParaRPr>
          </a:p>
          <a:p>
            <a:pPr lvl="1"/>
            <a:r>
              <a:rPr lang="en-US" altLang="ko-KR" sz="1400" dirty="0">
                <a:ea typeface="나눔스퀘어_ac" panose="020B0600000101010101" pitchFamily="50" charset="-127"/>
              </a:rPr>
              <a:t>optimizer.py : </a:t>
            </a:r>
            <a:r>
              <a:rPr lang="en-US" sz="1400" dirty="0"/>
              <a:t>Implements classes and methods (functions) for the solution algorithm implementation.</a:t>
            </a:r>
            <a:endParaRPr lang="en-US" altLang="ko-KR" sz="1400" dirty="0">
              <a:ea typeface="나눔스퀘어_ac" panose="020B0600000101010101" pitchFamily="50" charset="-127"/>
            </a:endParaRPr>
          </a:p>
          <a:p>
            <a:pPr lvl="2"/>
            <a:r>
              <a:rPr lang="en-US" altLang="ko-KR" sz="14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HillClimbing</a:t>
            </a:r>
            <a:r>
              <a:rPr lang="en-US" altLang="ko-KR" sz="1400" dirty="0">
                <a:ea typeface="나눔스퀘어_ac" panose="020B0600000101010101" pitchFamily="50" charset="-127"/>
              </a:rPr>
              <a:t> Class: </a:t>
            </a:r>
            <a:r>
              <a:rPr lang="en-US" altLang="ko-KR" sz="14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setVariables</a:t>
            </a:r>
            <a:r>
              <a:rPr lang="en-US" altLang="ko-KR" sz="1400" dirty="0">
                <a:ea typeface="나눔스퀘어_ac" panose="020B0600000101010101" pitchFamily="50" charset="-127"/>
              </a:rPr>
              <a:t>, </a:t>
            </a:r>
            <a:r>
              <a:rPr lang="en-US" altLang="ko-KR" sz="14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displaySetting</a:t>
            </a:r>
            <a:r>
              <a:rPr lang="en-US" altLang="ko-KR" sz="1400" dirty="0">
                <a:ea typeface="나눔스퀘어_ac" panose="020B0600000101010101" pitchFamily="50" charset="-127"/>
              </a:rPr>
              <a:t>, </a:t>
            </a:r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run</a:t>
            </a:r>
            <a:r>
              <a:rPr lang="en-US" altLang="ko-KR" sz="1400" dirty="0">
                <a:ea typeface="나눔스퀘어_ac" panose="020B0600000101010101" pitchFamily="50" charset="-127"/>
              </a:rPr>
              <a:t> (pass) methods</a:t>
            </a:r>
          </a:p>
          <a:p>
            <a:pPr lvl="2"/>
            <a:r>
              <a:rPr lang="en-US" altLang="ko-KR" sz="14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SteepestAscent</a:t>
            </a:r>
            <a:r>
              <a:rPr lang="en-US" altLang="ko-KR" sz="1400" dirty="0">
                <a:ea typeface="나눔스퀘어_ac" panose="020B0600000101010101" pitchFamily="50" charset="-127"/>
              </a:rPr>
              <a:t> Class: </a:t>
            </a:r>
            <a:r>
              <a:rPr lang="en-US" altLang="ko-KR" sz="14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displaySetting</a:t>
            </a:r>
            <a:r>
              <a:rPr lang="en-US" altLang="ko-KR" sz="1400" dirty="0">
                <a:ea typeface="나눔스퀘어_ac" panose="020B0600000101010101" pitchFamily="50" charset="-127"/>
              </a:rPr>
              <a:t>, </a:t>
            </a:r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run</a:t>
            </a:r>
            <a:r>
              <a:rPr lang="en-US" altLang="ko-KR" sz="1400" dirty="0">
                <a:ea typeface="나눔스퀘어_ac" panose="020B0600000101010101" pitchFamily="50" charset="-127"/>
              </a:rPr>
              <a:t>, </a:t>
            </a:r>
            <a:r>
              <a:rPr lang="en-US" altLang="ko-KR" sz="14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bestOf</a:t>
            </a:r>
            <a:r>
              <a:rPr lang="en-US" altLang="ko-KR" sz="1400" dirty="0">
                <a:ea typeface="나눔스퀘어_ac" panose="020B0600000101010101" pitchFamily="50" charset="-127"/>
              </a:rPr>
              <a:t> methods</a:t>
            </a:r>
          </a:p>
          <a:p>
            <a:pPr lvl="2"/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FirstChoice</a:t>
            </a:r>
            <a:r>
              <a:rPr lang="en-US" altLang="ko-KR" sz="1400" dirty="0">
                <a:ea typeface="나눔스퀘어_ac" panose="020B0600000101010101" pitchFamily="50" charset="-127"/>
              </a:rPr>
              <a:t> Class: </a:t>
            </a:r>
            <a:r>
              <a:rPr lang="en-US" altLang="ko-KR" sz="14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displaySetting</a:t>
            </a:r>
            <a:r>
              <a:rPr lang="en-US" altLang="ko-KR" sz="1400" dirty="0">
                <a:ea typeface="나눔스퀘어_ac" panose="020B0600000101010101" pitchFamily="50" charset="-127"/>
              </a:rPr>
              <a:t>, </a:t>
            </a:r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run</a:t>
            </a:r>
            <a:r>
              <a:rPr lang="en-US" altLang="ko-KR" sz="1400" dirty="0">
                <a:ea typeface="나눔스퀘어_ac" panose="020B0600000101010101" pitchFamily="50" charset="-127"/>
              </a:rPr>
              <a:t> methods</a:t>
            </a:r>
          </a:p>
          <a:p>
            <a:pPr lvl="2"/>
            <a:r>
              <a:rPr lang="en-US" altLang="ko-KR" sz="14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GradientDescent</a:t>
            </a:r>
            <a:r>
              <a:rPr lang="en-US" altLang="ko-KR" sz="1400" dirty="0">
                <a:ea typeface="나눔스퀘어_ac" panose="020B0600000101010101" pitchFamily="50" charset="-127"/>
              </a:rPr>
              <a:t> Class: </a:t>
            </a:r>
            <a:r>
              <a:rPr lang="en-US" altLang="ko-KR" sz="14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displaySetting</a:t>
            </a:r>
            <a:r>
              <a:rPr lang="en-US" altLang="ko-KR" sz="1400" dirty="0">
                <a:ea typeface="나눔스퀘어_ac" panose="020B0600000101010101" pitchFamily="50" charset="-127"/>
              </a:rPr>
              <a:t>, </a:t>
            </a:r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run</a:t>
            </a:r>
            <a:r>
              <a:rPr lang="en-US" altLang="ko-KR" sz="1400" dirty="0">
                <a:ea typeface="나눔스퀘어_ac" panose="020B0600000101010101" pitchFamily="50" charset="-127"/>
              </a:rPr>
              <a:t> methods</a:t>
            </a:r>
          </a:p>
          <a:p>
            <a:pPr lvl="2"/>
            <a:r>
              <a:rPr lang="en-US" sz="1400" dirty="0"/>
              <a:t>Implementation is the same as the solution algorithm code previously in separate files.</a:t>
            </a:r>
            <a:endParaRPr lang="en-US" altLang="ko-KR" sz="1400" dirty="0">
              <a:ea typeface="나눔스퀘어_ac" panose="020B0600000101010101" pitchFamily="50" charset="-127"/>
            </a:endParaRPr>
          </a:p>
          <a:p>
            <a:pPr lvl="2"/>
            <a:endParaRPr lang="en-US" altLang="ko-KR" sz="1400" dirty="0">
              <a:ea typeface="나눔스퀘어_ac" panose="020B0600000101010101" pitchFamily="50" charset="-127"/>
            </a:endParaRPr>
          </a:p>
          <a:p>
            <a:pPr lvl="1"/>
            <a:r>
              <a:rPr lang="en-US" altLang="ko-KR" sz="1400" dirty="0">
                <a:ea typeface="나눔스퀘어_ac" panose="020B0600000101010101" pitchFamily="50" charset="-127"/>
              </a:rPr>
              <a:t>setup.py : Defines functions and manages information commonly used by the Problem class and the </a:t>
            </a:r>
            <a:r>
              <a:rPr lang="en-US" altLang="ko-KR" sz="1400" dirty="0" err="1">
                <a:ea typeface="나눔스퀘어_ac" panose="020B0600000101010101" pitchFamily="50" charset="-127"/>
              </a:rPr>
              <a:t>HillClimbing</a:t>
            </a:r>
            <a:r>
              <a:rPr lang="en-US" altLang="ko-KR" sz="1400" dirty="0">
                <a:ea typeface="나눔스퀘어_ac" panose="020B0600000101010101" pitchFamily="50" charset="-127"/>
              </a:rPr>
              <a:t> class.</a:t>
            </a:r>
          </a:p>
          <a:p>
            <a:pPr lvl="2"/>
            <a:r>
              <a:rPr lang="en-US" altLang="ko-KR" sz="1400" dirty="0">
                <a:ea typeface="나눔스퀘어_ac" panose="020B0600000101010101" pitchFamily="50" charset="-127"/>
              </a:rPr>
              <a:t>Implementation: </a:t>
            </a:r>
            <a:r>
              <a:rPr lang="en-US" altLang="ko-KR" sz="14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getDelta</a:t>
            </a:r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, </a:t>
            </a:r>
            <a:r>
              <a:rPr lang="en-US" altLang="ko-KR" sz="14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getAlpha</a:t>
            </a:r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, </a:t>
            </a:r>
            <a:r>
              <a:rPr lang="en-US" altLang="ko-KR" sz="14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getDx</a:t>
            </a:r>
            <a:endParaRPr lang="ko-KR" altLang="en-US" sz="1400" b="1" dirty="0">
              <a:latin typeface="Courier New" panose="02070309020205020404" pitchFamily="49" charset="0"/>
              <a:ea typeface="나눔스퀘어_ac" panose="020B0600000101010101" pitchFamily="50" charset="-127"/>
              <a:cs typeface="Courier New" panose="02070309020205020404" pitchFamily="49" charset="0"/>
            </a:endParaRPr>
          </a:p>
          <a:p>
            <a:endParaRPr lang="ko-KR" altLang="en-US" dirty="0">
              <a:ea typeface="나눔스퀘어_ac" panose="020B060000010101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6111D7-C937-1D10-67A3-430372D171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Search Algorithms: Object-Oriented Implementation (Part D)</a:t>
            </a:r>
            <a:endParaRPr lang="ko-KR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DDCB42-DEE5-D249-CDD0-296E013D8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C6D964-9752-4432-9B3C-BD12E3EA2420}" type="slidenum">
              <a:rPr lang="ko-KR" altLang="en-US" smtClean="0"/>
              <a:pPr/>
              <a:t>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07227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37888</TotalTime>
  <Words>2846</Words>
  <Application>Microsoft Office PowerPoint</Application>
  <PresentationFormat>On-screen Show (4:3)</PresentationFormat>
  <Paragraphs>276</Paragraphs>
  <Slides>19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Gulim</vt:lpstr>
      <vt:lpstr>Malgun Gothic</vt:lpstr>
      <vt:lpstr>나눔스퀘어_ac</vt:lpstr>
      <vt:lpstr>Arial</vt:lpstr>
      <vt:lpstr>Book Antiqua</vt:lpstr>
      <vt:lpstr>Cambria Math</vt:lpstr>
      <vt:lpstr>Consolas</vt:lpstr>
      <vt:lpstr>Consolas</vt:lpstr>
      <vt:lpstr>Courier New</vt:lpstr>
      <vt:lpstr>Helvetica</vt:lpstr>
      <vt:lpstr>Wingdings</vt:lpstr>
      <vt:lpstr>Office 테마</vt:lpstr>
      <vt:lpstr>Search Algorithms: Object-Oriented Implementation (Part D)</vt:lpstr>
      <vt:lpstr>Contents</vt:lpstr>
      <vt:lpstr>Summary of Implementation So Far</vt:lpstr>
      <vt:lpstr>Code Improvement Idea</vt:lpstr>
      <vt:lpstr>Code Improvement Idea</vt:lpstr>
      <vt:lpstr>Search Tool v3</vt:lpstr>
      <vt:lpstr>Search Tool v3</vt:lpstr>
      <vt:lpstr>Defining ‘HillClimbing’ Class</vt:lpstr>
      <vt:lpstr>Defining ‘HillClimbing’ Class</vt:lpstr>
      <vt:lpstr>Defining ‘HillClimbing’ Class</vt:lpstr>
      <vt:lpstr>Defining ‘HillClimbing’ Class</vt:lpstr>
      <vt:lpstr>Defining ‘HillClimbing’ Class</vt:lpstr>
      <vt:lpstr>Adding a Superclass ‘Setup’</vt:lpstr>
      <vt:lpstr>The Main Program</vt:lpstr>
      <vt:lpstr>The Main Program</vt:lpstr>
      <vt:lpstr>The Main Program</vt:lpstr>
      <vt:lpstr>The Main Program</vt:lpstr>
      <vt:lpstr>Order of operation</vt:lpstr>
      <vt:lpstr>Source Code (summary)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krryu</dc:creator>
  <cp:lastModifiedBy>Rian Pratama</cp:lastModifiedBy>
  <cp:revision>1621</cp:revision>
  <dcterms:created xsi:type="dcterms:W3CDTF">1601-01-01T00:00:00Z</dcterms:created>
  <dcterms:modified xsi:type="dcterms:W3CDTF">2025-11-12T05:48:25Z</dcterms:modified>
</cp:coreProperties>
</file>